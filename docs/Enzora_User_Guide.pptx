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977179abddf4964" /><Relationship Type="http://schemas.openxmlformats.org/officeDocument/2006/relationships/extended-properties" Target="/docProps/app.xml" Id="R1757ba1eeb8549b1" /><Relationship Type="http://schemas.openxmlformats.org/officeDocument/2006/relationships/officeDocument" Target="/ppt/presentation.xml" Id="R03daf870ed3b49a3" /></Relationships>
</file>

<file path=ppt/presentation.xml><?xml version="1.0" encoding="utf-8"?>
<p:presentation xmlns:p="http://schemas.openxmlformats.org/presentationml/2006/main">
  <p:sldMasterIdLst>
    <p:sldMasterId xmlns:r="http://schemas.openxmlformats.org/officeDocument/2006/relationships" id="2147483648" r:id="Rebbb3697621442a5"/>
  </p:sldMasterIdLst>
  <p:notesMasterIdLst>
    <p:notesMasterId xmlns:r="http://schemas.openxmlformats.org/officeDocument/2006/relationships" r:id="Rda0b6c41d2c44c77"/>
  </p:notesMasterIdLst>
  <p:sldIdLst>
    <p:sldId xmlns:r="http://schemas.openxmlformats.org/officeDocument/2006/relationships" id="256" r:id="R39dc386694af41b1"/>
    <p:sldId xmlns:r="http://schemas.openxmlformats.org/officeDocument/2006/relationships" id="257" r:id="R08ba758176b543fe"/>
    <p:sldId xmlns:r="http://schemas.openxmlformats.org/officeDocument/2006/relationships" id="258" r:id="R5f3f9009ce6d4d25"/>
    <p:sldId xmlns:r="http://schemas.openxmlformats.org/officeDocument/2006/relationships" id="259" r:id="R91fe7bb43c5342b1"/>
    <p:sldId xmlns:r="http://schemas.openxmlformats.org/officeDocument/2006/relationships" id="260" r:id="R8c011351de0c4b1b"/>
    <p:sldId xmlns:r="http://schemas.openxmlformats.org/officeDocument/2006/relationships" id="261" r:id="Ra9b966494fba4bb9"/>
    <p:sldId xmlns:r="http://schemas.openxmlformats.org/officeDocument/2006/relationships" id="262" r:id="Rae7e722035844fe7"/>
    <p:sldId xmlns:r="http://schemas.openxmlformats.org/officeDocument/2006/relationships" id="263" r:id="R7601cc72085b4675"/>
    <p:sldId xmlns:r="http://schemas.openxmlformats.org/officeDocument/2006/relationships" id="264" r:id="R1a78b19518464cea"/>
    <p:sldId xmlns:r="http://schemas.openxmlformats.org/officeDocument/2006/relationships" id="265" r:id="R0afe24255d8c4d9f"/>
    <p:sldId xmlns:r="http://schemas.openxmlformats.org/officeDocument/2006/relationships" id="266" r:id="Rcb2dad023d8b400d"/>
    <p:sldId xmlns:r="http://schemas.openxmlformats.org/officeDocument/2006/relationships" id="267" r:id="Re01b0c5e8a9d496d"/>
    <p:sldId xmlns:r="http://schemas.openxmlformats.org/officeDocument/2006/relationships" id="268" r:id="Ree197da6db4b4e01"/>
    <p:sldId xmlns:r="http://schemas.openxmlformats.org/officeDocument/2006/relationships" id="269" r:id="R884228e548fa4f61"/>
    <p:sldId xmlns:r="http://schemas.openxmlformats.org/officeDocument/2006/relationships" id="270" r:id="R05794996a8224d18"/>
    <p:sldId xmlns:r="http://schemas.openxmlformats.org/officeDocument/2006/relationships" id="271" r:id="R5ef6f811fc7a4563"/>
    <p:sldId xmlns:r="http://schemas.openxmlformats.org/officeDocument/2006/relationships" id="272" r:id="R3c5e333872f74532"/>
    <p:sldId xmlns:r="http://schemas.openxmlformats.org/officeDocument/2006/relationships" id="273" r:id="Rc12e43cb381148e2"/>
  </p:sldIdLst>
  <p:sldSz cx="15240000" cy="2000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eb2c95406f4d5b" /><Relationship Type="http://schemas.openxmlformats.org/officeDocument/2006/relationships/slideMaster" Target="/ppt/slideMasters/slideMaster1.xml" Id="Rebbb3697621442a5" /><Relationship Type="http://schemas.openxmlformats.org/officeDocument/2006/relationships/notesMaster" Target="/ppt/notesMasters/notesMaster1.xml" Id="Rda0b6c41d2c44c77" /><Relationship Type="http://schemas.openxmlformats.org/officeDocument/2006/relationships/presProps" Target="/ppt/presProps.xml" Id="R2303f5b821f24bfa" /><Relationship Type="http://schemas.openxmlformats.org/officeDocument/2006/relationships/tableStyles" Target="/ppt/tableStyles.xml" Id="R5e163d7d6c9f48c5" /><Relationship Type="http://schemas.openxmlformats.org/officeDocument/2006/relationships/slide" Target="/ppt/slides/slide1.xml" Id="R39dc386694af41b1" /><Relationship Type="http://schemas.openxmlformats.org/officeDocument/2006/relationships/slide" Target="/ppt/slides/slide2.xml" Id="R08ba758176b543fe" /><Relationship Type="http://schemas.openxmlformats.org/officeDocument/2006/relationships/slide" Target="/ppt/slides/slide3.xml" Id="R5f3f9009ce6d4d25" /><Relationship Type="http://schemas.openxmlformats.org/officeDocument/2006/relationships/slide" Target="/ppt/slides/slide4.xml" Id="R91fe7bb43c5342b1" /><Relationship Type="http://schemas.openxmlformats.org/officeDocument/2006/relationships/slide" Target="/ppt/slides/slide5.xml" Id="R8c011351de0c4b1b" /><Relationship Type="http://schemas.openxmlformats.org/officeDocument/2006/relationships/slide" Target="/ppt/slides/slide6.xml" Id="Ra9b966494fba4bb9" /><Relationship Type="http://schemas.openxmlformats.org/officeDocument/2006/relationships/slide" Target="/ppt/slides/slide7.xml" Id="Rae7e722035844fe7" /><Relationship Type="http://schemas.openxmlformats.org/officeDocument/2006/relationships/slide" Target="/ppt/slides/slide8.xml" Id="R7601cc72085b4675" /><Relationship Type="http://schemas.openxmlformats.org/officeDocument/2006/relationships/slide" Target="/ppt/slides/slide9.xml" Id="R1a78b19518464cea" /><Relationship Type="http://schemas.openxmlformats.org/officeDocument/2006/relationships/slide" Target="/ppt/slides/slide10.xml" Id="R0afe24255d8c4d9f" /><Relationship Type="http://schemas.openxmlformats.org/officeDocument/2006/relationships/slide" Target="/ppt/slides/slide11.xml" Id="Rcb2dad023d8b400d" /><Relationship Type="http://schemas.openxmlformats.org/officeDocument/2006/relationships/slide" Target="/ppt/slides/slide12.xml" Id="Re01b0c5e8a9d496d" /><Relationship Type="http://schemas.openxmlformats.org/officeDocument/2006/relationships/slide" Target="/ppt/slides/slide13.xml" Id="Ree197da6db4b4e01" /><Relationship Type="http://schemas.openxmlformats.org/officeDocument/2006/relationships/slide" Target="/ppt/slides/slide14.xml" Id="R884228e548fa4f61" /><Relationship Type="http://schemas.openxmlformats.org/officeDocument/2006/relationships/slide" Target="/ppt/slides/slide15.xml" Id="R05794996a8224d18" /><Relationship Type="http://schemas.openxmlformats.org/officeDocument/2006/relationships/slide" Target="/ppt/slides/slide16.xml" Id="R5ef6f811fc7a4563" /><Relationship Type="http://schemas.openxmlformats.org/officeDocument/2006/relationships/slide" Target="/ppt/slides/slide17.xml" Id="R3c5e333872f74532" /><Relationship Type="http://schemas.openxmlformats.org/officeDocument/2006/relationships/slide" Target="/ppt/slides/slide18.xml" Id="Rc12e43cb381148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0da50e649d40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bb070d6cfc4c03" /><Relationship Type="http://schemas.openxmlformats.org/officeDocument/2006/relationships/notesMaster" Target="/ppt/notesMasters/notesMaster1.xml" Id="Rabd0e8b032d146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34e66c155147ed" /><Relationship Type="http://schemas.openxmlformats.org/officeDocument/2006/relationships/notesMaster" Target="/ppt/notesMasters/notesMaster1.xml" Id="R9e2ec987df394a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5f83ee80b945ec" /><Relationship Type="http://schemas.openxmlformats.org/officeDocument/2006/relationships/notesMaster" Target="/ppt/notesMasters/notesMaster1.xml" Id="Rccb8681fde424a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0a5d0d7b1a4695" /><Relationship Type="http://schemas.openxmlformats.org/officeDocument/2006/relationships/notesMaster" Target="/ppt/notesMasters/notesMaster1.xml" Id="R95dbf61e62e44c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f9c650044242bc" /><Relationship Type="http://schemas.openxmlformats.org/officeDocument/2006/relationships/notesMaster" Target="/ppt/notesMasters/notesMaster1.xml" Id="Re473a02780b644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51b31144254639" /><Relationship Type="http://schemas.openxmlformats.org/officeDocument/2006/relationships/notesMaster" Target="/ppt/notesMasters/notesMaster1.xml" Id="R4c6124d6ed5d41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5f94cc75724dfd" /><Relationship Type="http://schemas.openxmlformats.org/officeDocument/2006/relationships/notesMaster" Target="/ppt/notesMasters/notesMaster1.xml" Id="R7df2a0513db148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38fec74e154b3a" /><Relationship Type="http://schemas.openxmlformats.org/officeDocument/2006/relationships/notesMaster" Target="/ppt/notesMasters/notesMaster1.xml" Id="Rc7b38e167f8841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8db5df43074570" /><Relationship Type="http://schemas.openxmlformats.org/officeDocument/2006/relationships/notesMaster" Target="/ppt/notesMasters/notesMaster1.xml" Id="Rba9d99434872422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d0827d188a4e34" /><Relationship Type="http://schemas.openxmlformats.org/officeDocument/2006/relationships/notesMaster" Target="/ppt/notesMasters/notesMaster1.xml" Id="R5cf21523d75841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29bc9fa701843b0" /><Relationship Type="http://schemas.openxmlformats.org/officeDocument/2006/relationships/notesMaster" Target="/ppt/notesMasters/notesMaster1.xml" Id="R4452462df0494e6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c99ceb55f724906" /><Relationship Type="http://schemas.openxmlformats.org/officeDocument/2006/relationships/notesMaster" Target="/ppt/notesMasters/notesMaster1.xml" Id="R37b41edb025a495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05de3cecab44a7" /><Relationship Type="http://schemas.openxmlformats.org/officeDocument/2006/relationships/notesMaster" Target="/ppt/notesMasters/notesMaster1.xml" Id="Rf8f4e2e8e7ab423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c7e79dcc65c4560" /><Relationship Type="http://schemas.openxmlformats.org/officeDocument/2006/relationships/notesMaster" Target="/ppt/notesMasters/notesMaster1.xml" Id="R9a5177aa6027454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d56f481de9d4fb2" /><Relationship Type="http://schemas.openxmlformats.org/officeDocument/2006/relationships/notesMaster" Target="/ppt/notesMasters/notesMaster1.xml" Id="R635542836ffb4b7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27b8aa0f196429e" /><Relationship Type="http://schemas.openxmlformats.org/officeDocument/2006/relationships/notesMaster" Target="/ppt/notesMasters/notesMaster1.xml" Id="Re6769d374229448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89e168e4083499e" /><Relationship Type="http://schemas.openxmlformats.org/officeDocument/2006/relationships/notesMaster" Target="/ppt/notesMasters/notesMaster1.xml" Id="R409dd39ab4cc4b3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c51e3e6473b401e" /><Relationship Type="http://schemas.openxmlformats.org/officeDocument/2006/relationships/notesMaster" Target="/ppt/notesMasters/notesMaster1.xml" Id="Ra90060e34fe641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Enzora UI and source contracts, 16 October 2026. Screenshots labelled as the verified run use ten real computational candidates. Demo values are simulated. Sources: https://enzora-agent.com/ ; https://github.com/YuzhangLi2281/Enzora ; https://github.com/YuzhangLi2281/PHENOM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Enzora UI and source contracts, 16 October 2026. Screenshots labelled as the verified run use ten real computational candidates. Demo values are simulated. Sources: https://enzora-agent.com/ ; https://github.com/YuzhangLi2281/Enzora ; https://github.com/YuzhangLi2281/PHENOM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Enzora UI and source contracts, 16 October 2026. Screenshots labelled as the verified run use ten real computational candidates. Demo values are simulated. Sources: https://enzora-agent.com/ ; https://github.com/YuzhangLi2281/Enzora ; https://github.com/YuzhangLi2281/PHENOM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Enzora UI and source contracts, 16 October 2026. Screenshots labelled as the verified run use ten real computational candidates. Demo values are simulated. Sources: https://enzora-agent.com/ ; https://github.com/YuzhangLi2281/Enzora ; https://github.com/YuzhangLi2281/PHENOM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Enzora UI and source contracts, 16 October 2026. Screenshots labelled as the verified run use ten real computational candidates. Demo values are simulated. Sources: https://enzora-agent.com/ ; https://github.com/YuzhangLi2281/Enzora ; https://github.com/YuzhangLi2281/PHENOM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Enzora UI and source contracts, 16 October 2026. Screenshots labelled as the verified run use ten real computational candidates. Demo values are simulated. Sources: https://enzora-agent.com/ ; https://github.com/YuzhangLi2281/Enzora ; https://github.com/YuzhangLi2281/PHENOM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Enzora UI and source contracts, 16 October 2026. Screenshots labelled as the verified run use ten real computational candidates. Demo values are simulated. Sources: https://enzora-agent.com/ ; https://github.com/YuzhangLi2281/Enzora ; https://github.com/YuzhangLi2281/PHENOM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Enzora UI and source contracts, 16 October 2026. Screenshots labelled as the verified run use ten real computational candidates. Demo values are simulated. Sources: https://enzora-agent.com/ ; https://github.com/YuzhangLi2281/Enzora ; https://github.com/YuzhangLi2281/PHENOM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Enzora UI and source contracts, 16 October 2026. Screenshots labelled as the verified run use ten real computational candidates. Demo values are simulated. Sources: https://enzora-agent.com/ ; https://github.com/YuzhangLi2281/Enzora ; https://github.com/YuzhangLi2281/PHENOM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Enzora UI and source contracts, 16 October 2026. Screenshots labelled as the verified run use ten real computational candidates. Demo values are simulated. Sources: https://enzora-agent.com/ ; https://github.com/YuzhangLi2281/Enzora ; https://github.com/YuzhangLi2281/PHENOM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Enzora UI and source contracts, 16 October 2026. Screenshots labelled as the verified run use ten real computational candidates. Demo values are simulated. Sources: https://enzora-agent.com/ ; https://github.com/YuzhangLi2281/Enzora ; https://github.com/YuzhangLi2281/PHENOM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Enzora UI and source contracts, 16 October 2026. Screenshots labelled as the verified run use ten real computational candidates. Demo values are simulated. Sources: https://enzora-agent.com/ ; https://github.com/YuzhangLi2281/Enzora ; https://github.com/YuzhangLi2281/PHENOM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Enzora UI and source contracts, 16 October 2026. Screenshots labelled as the verified run use ten real computational candidates. Demo values are simulated. Sources: https://enzora-agent.com/ ; https://github.com/YuzhangLi2281/Enzora ; https://github.com/YuzhangLi2281/PHENOM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Enzora UI and source contracts, 16 October 2026. Screenshots labelled as the verified run use ten real computational candidates. Demo values are simulated. Sources: https://enzora-agent.com/ ; https://github.com/YuzhangLi2281/Enzora ; https://github.com/YuzhangLi2281/PHENOM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Enzora UI and source contracts, 16 October 2026. Screenshots labelled as the verified run use ten real computational candidates. Demo values are simulated. Sources: https://enzora-agent.com/ ; https://github.com/YuzhangLi2281/Enzora ; https://github.com/YuzhangLi2281/PHENOM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Enzora UI and source contracts, 16 October 2026. Screenshots labelled as the verified run use ten real computational candidates. Demo values are simulated. Sources: https://enzora-agent.com/ ; https://github.com/YuzhangLi2281/Enzora ; https://github.com/YuzhangLi2281/PHENOM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Enzora UI and source contracts, 16 October 2026. Screenshots labelled as the verified run use ten real computational candidates. Demo values are simulated. Sources: https://enzora-agent.com/ ; https://github.com/YuzhangLi2281/Enzora ; https://github.com/YuzhangLi2281/PHENOM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Enzora UI and source contracts, 16 October 2026. Screenshots labelled as the verified run use ten real computational candidates. Demo values are simulated. Sources: https://enzora-agent.com/ ; https://github.com/YuzhangLi2281/Enzora ; https://github.com/YuzhangLi2281/PHENOM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5d6763cd5b4df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4eaa434b0f940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fee93881c744c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822675087b41c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721205853a94cd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39cae1885bf48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315BB0-7FE3-4242-BD94-C02A90A44DF6}"/>
              </a:ext>
            </a:extLst>
          </p:cNvPr>
          <p:cNvSpPr>
            <a:spLocks xmlns:a="http://schemas.openxmlformats.org/drawingml/2006/main" noGrp="1"/>
          </p:cNvSpPr>
          <p:nvPr>
            <p:ph type="title" idx="0"/>
          </p:nvPr>
        </p:nvSpPr>
        <p:spPr>
          <a:xfrm xmlns:a="http://schemas.openxmlformats.org/drawingml/2006/main">
            <a:off x="1524000" y="7556500"/>
            <a:ext cx="12192000" cy="2889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C6888FE-32D9-4AB2-9464-6164BF5CD423}"/>
              </a:ext>
            </a:extLst>
          </p:cNvPr>
          <p:cNvSpPr>
            <a:spLocks xmlns:a="http://schemas.openxmlformats.org/drawingml/2006/main" noGrp="1"/>
          </p:cNvSpPr>
          <p:nvPr>
            <p:ph type="subTitle" idx="1"/>
          </p:nvPr>
        </p:nvSpPr>
        <p:spPr>
          <a:xfrm xmlns:a="http://schemas.openxmlformats.org/drawingml/2006/main">
            <a:off x="2286000" y="11001375"/>
            <a:ext cx="10668000" cy="222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378EA28-2850-49D8-B8F0-B0908B9BCE8B}"/>
              </a:ext>
            </a:extLst>
          </p:cNvPr>
          <p:cNvSpPr>
            <a:spLocks xmlns:a="http://schemas.openxmlformats.org/drawingml/2006/main" noGrp="1"/>
          </p:cNvSpPr>
          <p:nvPr>
            <p:ph type="title" idx="0"/>
          </p:nvPr>
        </p:nvSpPr>
        <p:spPr>
          <a:xfrm xmlns:a="http://schemas.openxmlformats.org/drawingml/2006/main">
            <a:off x="1524000" y="8334375"/>
            <a:ext cx="12192000" cy="3333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3B3A61-9901-40DE-A76D-85C9582FBD0E}"/>
              </a:ext>
            </a:extLst>
          </p:cNvPr>
          <p:cNvSpPr>
            <a:spLocks xmlns:a="http://schemas.openxmlformats.org/drawingml/2006/main" noGrp="1"/>
          </p:cNvSpPr>
          <p:nvPr>
            <p:ph type="title" idx="0"/>
          </p:nvPr>
        </p:nvSpPr>
        <p:spPr>
          <a:xfrm xmlns:a="http://schemas.openxmlformats.org/drawingml/2006/main">
            <a:off x="857250" y="1555750"/>
            <a:ext cx="13525500" cy="2444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5467B06-953E-4506-A054-59767CB2DEBF}"/>
              </a:ext>
            </a:extLst>
          </p:cNvPr>
          <p:cNvSpPr>
            <a:spLocks xmlns:a="http://schemas.openxmlformats.org/drawingml/2006/main" noGrp="1"/>
          </p:cNvSpPr>
          <p:nvPr>
            <p:ph type="body" idx="1"/>
          </p:nvPr>
        </p:nvSpPr>
        <p:spPr>
          <a:xfrm xmlns:a="http://schemas.openxmlformats.org/drawingml/2006/main">
            <a:off x="857250" y="5556250"/>
            <a:ext cx="13525500" cy="12446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69AACDE-3A15-4F6C-994D-F78BE2E0FDED}"/>
              </a:ext>
            </a:extLst>
          </p:cNvPr>
          <p:cNvSpPr>
            <a:spLocks xmlns:a="http://schemas.openxmlformats.org/drawingml/2006/main" noGrp="1"/>
          </p:cNvSpPr>
          <p:nvPr>
            <p:ph type="title" idx="0"/>
          </p:nvPr>
        </p:nvSpPr>
        <p:spPr>
          <a:xfrm xmlns:a="http://schemas.openxmlformats.org/drawingml/2006/main">
            <a:off x="857250" y="1555750"/>
            <a:ext cx="13525500" cy="2444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57F867F-28D9-43C7-A529-6922A965E942}"/>
              </a:ext>
            </a:extLst>
          </p:cNvPr>
          <p:cNvSpPr>
            <a:spLocks xmlns:a="http://schemas.openxmlformats.org/drawingml/2006/main" noGrp="1"/>
          </p:cNvSpPr>
          <p:nvPr>
            <p:ph type="body" idx="1"/>
          </p:nvPr>
        </p:nvSpPr>
        <p:spPr>
          <a:xfrm xmlns:a="http://schemas.openxmlformats.org/drawingml/2006/main">
            <a:off x="857250" y="5556250"/>
            <a:ext cx="6286500" cy="12446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F803E03-420B-432D-B9D4-2670AC55D209}"/>
              </a:ext>
            </a:extLst>
          </p:cNvPr>
          <p:cNvSpPr>
            <a:spLocks xmlns:a="http://schemas.openxmlformats.org/drawingml/2006/main" noGrp="1"/>
          </p:cNvSpPr>
          <p:nvPr>
            <p:ph type="body" idx="2"/>
          </p:nvPr>
        </p:nvSpPr>
        <p:spPr>
          <a:xfrm xmlns:a="http://schemas.openxmlformats.org/drawingml/2006/main">
            <a:off x="8096250" y="5556250"/>
            <a:ext cx="6286500" cy="12446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9FAAA2-C0B4-4740-B696-DD9924918EEE}"/>
              </a:ext>
            </a:extLst>
          </p:cNvPr>
          <p:cNvSpPr>
            <a:spLocks xmlns:a="http://schemas.openxmlformats.org/drawingml/2006/main" noGrp="1"/>
          </p:cNvSpPr>
          <p:nvPr>
            <p:ph type="title" idx="0"/>
          </p:nvPr>
        </p:nvSpPr>
        <p:spPr>
          <a:xfrm xmlns:a="http://schemas.openxmlformats.org/drawingml/2006/main">
            <a:off x="857250" y="1555750"/>
            <a:ext cx="13525500" cy="2444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D9FBE1-69A3-47BB-9280-863608936D70}"/>
              </a:ext>
            </a:extLst>
          </p:cNvPr>
          <p:cNvSpPr>
            <a:spLocks xmlns:a="http://schemas.openxmlformats.org/drawingml/2006/main" noGrp="1"/>
          </p:cNvSpPr>
          <p:nvPr>
            <p:ph type="body" idx="1"/>
          </p:nvPr>
        </p:nvSpPr>
        <p:spPr>
          <a:xfrm xmlns:a="http://schemas.openxmlformats.org/drawingml/2006/main">
            <a:off x="857250" y="5556250"/>
            <a:ext cx="6286500" cy="12446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f73358fba949e0" /><Relationship Type="http://schemas.openxmlformats.org/officeDocument/2006/relationships/slideLayout" Target="/ppt/slideLayouts/slideLayout1.xml" Id="Rd6cbef2a419d47ee" /><Relationship Type="http://schemas.openxmlformats.org/officeDocument/2006/relationships/slideLayout" Target="/ppt/slideLayouts/slideLayout2.xml" Id="Rc3abc8b88c154ff7" /><Relationship Type="http://schemas.openxmlformats.org/officeDocument/2006/relationships/slideLayout" Target="/ppt/slideLayouts/slideLayout3.xml" Id="R3ac23dc962054fee" /><Relationship Type="http://schemas.openxmlformats.org/officeDocument/2006/relationships/slideLayout" Target="/ppt/slideLayouts/slideLayout4.xml" Id="R57a3787c853f474b" /><Relationship Type="http://schemas.openxmlformats.org/officeDocument/2006/relationships/slideLayout" Target="/ppt/slideLayouts/slideLayout5.xml" Id="Rc7b2faaf3b0c4272" /><Relationship Type="http://schemas.openxmlformats.org/officeDocument/2006/relationships/slideLayout" Target="/ppt/slideLayouts/slideLayout6.xml" Id="Rfe70ff30301347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cbef2a419d47ee"/>
    <p:sldLayoutId xmlns:r="http://schemas.openxmlformats.org/officeDocument/2006/relationships" id="2147483650" r:id="Rc3abc8b88c154ff7"/>
    <p:sldLayoutId xmlns:r="http://schemas.openxmlformats.org/officeDocument/2006/relationships" id="2147483651" r:id="R3ac23dc962054fee"/>
    <p:sldLayoutId xmlns:r="http://schemas.openxmlformats.org/officeDocument/2006/relationships" id="2147483652" r:id="R57a3787c853f474b"/>
    <p:sldLayoutId xmlns:r="http://schemas.openxmlformats.org/officeDocument/2006/relationships" id="2147483653" r:id="Rc7b2faaf3b0c4272"/>
    <p:sldLayoutId xmlns:r="http://schemas.openxmlformats.org/officeDocument/2006/relationships" id="2147483654" r:id="Rfe70ff30301347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79ca59685dc4a84" /><Relationship Type="http://schemas.openxmlformats.org/officeDocument/2006/relationships/image" Target="/ppt/media/image.png" Id="Rb33c01b09d48465c" /><Relationship Type="http://schemas.openxmlformats.org/officeDocument/2006/relationships/image" Target="/ppt/media/image.svg" Id="R105c5a95f6bf4128" /><Relationship Type="http://schemas.openxmlformats.org/officeDocument/2006/relationships/hyperlink" Target="https://enzora-agent.com" TargetMode="External" Id="Rc255fa6ffc28478d" /><Relationship Type="http://schemas.openxmlformats.org/officeDocument/2006/relationships/notesSlide" Target="/ppt/notesSlides/notesSlide1.xml" Id="R4045244c100444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2d7fa296d3a46a6" /><Relationship Type="http://schemas.openxmlformats.org/officeDocument/2006/relationships/image" Target="/ppt/media/image2.png" Id="R3ede32d0178b4ba5" /><Relationship Type="http://schemas.openxmlformats.org/officeDocument/2006/relationships/notesSlide" Target="/ppt/notesSlides/notesSlide2.xml" Id="R032b1769eee04e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55d3d5051d441a2" /><Relationship Type="http://schemas.openxmlformats.org/officeDocument/2006/relationships/image" Target="/ppt/media/image3.png" Id="R2d8ee5355d4f4735" /><Relationship Type="http://schemas.openxmlformats.org/officeDocument/2006/relationships/notesSlide" Target="/ppt/notesSlides/notesSlide3.xml" Id="R2b4454aeab6a44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dd2ed357d6442c7" /><Relationship Type="http://schemas.openxmlformats.org/officeDocument/2006/relationships/notesSlide" Target="/ppt/notesSlides/notesSlide4.xml" Id="R2adff285a25749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5b025aa30ae4081" /><Relationship Type="http://schemas.openxmlformats.org/officeDocument/2006/relationships/image" Target="/ppt/media/image4.png" Id="R9e949af572214be1" /><Relationship Type="http://schemas.openxmlformats.org/officeDocument/2006/relationships/notesSlide" Target="/ppt/notesSlides/notesSlide5.xml" Id="Rcbadd1987fb944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215dfcf670f437a" /><Relationship Type="http://schemas.openxmlformats.org/officeDocument/2006/relationships/image" Target="/ppt/media/image5.png" Id="R11de17f8fd744fac" /><Relationship Type="http://schemas.openxmlformats.org/officeDocument/2006/relationships/notesSlide" Target="/ppt/notesSlides/notesSlide6.xml" Id="R52b0751c859745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80a4cf31e2a402e" /><Relationship Type="http://schemas.openxmlformats.org/officeDocument/2006/relationships/image" Target="/ppt/media/image6.png" Id="R51093e0e035e4801" /><Relationship Type="http://schemas.openxmlformats.org/officeDocument/2006/relationships/notesSlide" Target="/ppt/notesSlides/notesSlide7.xml" Id="Ra966a6e3ab2a4a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37ef11c57f54a48" /><Relationship Type="http://schemas.openxmlformats.org/officeDocument/2006/relationships/image" Target="/ppt/media/image7.png" Id="Ra9c1e7a58522419c" /><Relationship Type="http://schemas.openxmlformats.org/officeDocument/2006/relationships/notesSlide" Target="/ppt/notesSlides/notesSlide8.xml" Id="Rcc11cd752d574a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07c5ac8ffcd41dc" /><Relationship Type="http://schemas.openxmlformats.org/officeDocument/2006/relationships/image" Target="/ppt/media/image8.png" Id="R9311044e2d9e4689" /><Relationship Type="http://schemas.openxmlformats.org/officeDocument/2006/relationships/notesSlide" Target="/ppt/notesSlides/notesSlide9.xml" Id="Re94cfaaa39b546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533ce6942ec427a" /><Relationship Type="http://schemas.openxmlformats.org/officeDocument/2006/relationships/image" Target="/ppt/media/image9.png" Id="Ra059ab73967f42a7" /><Relationship Type="http://schemas.openxmlformats.org/officeDocument/2006/relationships/notesSlide" Target="/ppt/notesSlides/notesSlide10.xml" Id="Rf96e6bada78d42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379138eb1cb4814" /><Relationship Type="http://schemas.openxmlformats.org/officeDocument/2006/relationships/image" Target="/ppt/media/image10.png" Id="R45eeb282a0a44844" /><Relationship Type="http://schemas.openxmlformats.org/officeDocument/2006/relationships/notesSlide" Target="/ppt/notesSlides/notesSlide11.xml" Id="R5aa8670ec2ee412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af83cecf5354456" /><Relationship Type="http://schemas.openxmlformats.org/officeDocument/2006/relationships/image" Target="/ppt/media/image11.png" Id="R3706afdff328493f" /><Relationship Type="http://schemas.openxmlformats.org/officeDocument/2006/relationships/notesSlide" Target="/ppt/notesSlides/notesSlide12.xml" Id="R6f10a18dd6a942e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228060d92294aec" /><Relationship Type="http://schemas.openxmlformats.org/officeDocument/2006/relationships/notesSlide" Target="/ppt/notesSlides/notesSlide13.xml" Id="Rf58834d6611c49f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0f828931e854968" /><Relationship Type="http://schemas.openxmlformats.org/officeDocument/2006/relationships/image" Target="/ppt/media/image12.png" Id="Rdec16a3c682b4c6e" /><Relationship Type="http://schemas.openxmlformats.org/officeDocument/2006/relationships/notesSlide" Target="/ppt/notesSlides/notesSlide14.xml" Id="R40e0961baa09465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cb2b8f067604655" /><Relationship Type="http://schemas.openxmlformats.org/officeDocument/2006/relationships/notesSlide" Target="/ppt/notesSlides/notesSlide15.xml" Id="Reaf13e29810c4d0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3be1d17822b4bcb" /><Relationship Type="http://schemas.openxmlformats.org/officeDocument/2006/relationships/notesSlide" Target="/ppt/notesSlides/notesSlide16.xml" Id="Raa9a020706054fc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e173ff560314766" /><Relationship Type="http://schemas.openxmlformats.org/officeDocument/2006/relationships/notesSlide" Target="/ppt/notesSlides/notesSlide17.xml" Id="R33417f965f4d49b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39fcc866a2f41e2" /><Relationship Type="http://schemas.openxmlformats.org/officeDocument/2006/relationships/notesSlide" Target="/ppt/notesSlides/notesSlide18.xml" Id="R22ca0a02fb6d443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1EA25DB-F702-4F97-959C-EBD54703AE05}"/>
              </a:ext>
            </a:extLst>
          </p:cNvPr>
          <p:cNvSpPr>
            <a:spLocks xmlns:a="http://schemas.openxmlformats.org/drawingml/2006/main" noGrp="1"/>
          </p:cNvSpPr>
          <p:nvPr/>
        </p:nvSpPr>
        <p:spPr>
          <a:xfrm xmlns:a="http://schemas.openxmlformats.org/drawingml/2006/main">
            <a:off x="762000" y="361950"/>
            <a:ext cx="1323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4B606D"/>
                </a:solidFill>
                <a:latin typeface="Arial"/>
                <a:ea typeface="Arial"/>
                <a:cs typeface="Arial"/>
              </a:defRPr>
            </a:defPPr>
          </a:lstStyle>
          <a:p xmlns:a="http://schemas.openxmlformats.org/drawingml/2006/main">
            <a:pPr>
              <a:defRPr sz="1725" b="1">
                <a:solidFill>
                  <a:srgbClr val="4B606D"/>
                </a:solidFill>
                <a:latin typeface="Arial"/>
                <a:ea typeface="Arial"/>
                <a:cs typeface="Arial"/>
              </a:defRPr>
            </a:pPr>
            <a:r>
              <a:rPr sz="1725" b="1">
                <a:solidFill>
                  <a:srgbClr val="4B606D"/>
                </a:solidFill>
                <a:latin typeface="Arial"/>
                <a:ea typeface="Arial"/>
                <a:cs typeface="Arial"/>
              </a:rPr>
              <a:t>ENZORA  /  USER GUIDE</a:t>
            </a:r>
          </a:p>
        </p:txBody>
      </p:sp>
      <p:sp>
        <p:nvSpPr>
          <p:cNvPr id="2" name="">
            <a:extLst xmlns:a="http://schemas.openxmlformats.org/drawingml/2006/main">
              <a:ext uri="{FF2B5EF4-FFF2-40B4-BE49-F238E27FC236}">
                <a16:creationId xmlns:a16="http://schemas.microsoft.com/office/drawing/2014/main" id="{19CA5EFC-50EC-4986-8EA3-40E7C6092F18}"/>
              </a:ext>
            </a:extLst>
          </p:cNvPr>
          <p:cNvSpPr>
            <a:spLocks xmlns:a="http://schemas.openxmlformats.org/drawingml/2006/main" noGrp="1"/>
          </p:cNvSpPr>
          <p:nvPr/>
        </p:nvSpPr>
        <p:spPr>
          <a:xfrm xmlns:a="http://schemas.openxmlformats.org/drawingml/2006/main">
            <a:off x="762000" y="952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20333D"/>
                </a:solidFill>
                <a:latin typeface="Arial"/>
                <a:ea typeface="Arial"/>
                <a:cs typeface="Arial"/>
              </a:defRPr>
            </a:defPPr>
          </a:lstStyle>
          <a:p xmlns:a="http://schemas.openxmlformats.org/drawingml/2006/main">
            <a:pPr>
              <a:defRPr sz="4875" b="1">
                <a:solidFill>
                  <a:srgbClr val="20333D"/>
                </a:solidFill>
                <a:latin typeface="Arial"/>
                <a:ea typeface="Arial"/>
                <a:cs typeface="Arial"/>
              </a:defRPr>
            </a:pPr>
            <a:r>
              <a:rPr sz="4875" b="1">
                <a:solidFill>
                  <a:srgbClr val="20333D"/>
                </a:solidFill>
                <a:latin typeface="Arial"/>
                <a:ea typeface="Arial"/>
                <a:cs typeface="Arial"/>
              </a:rPr>
              <a:t>Enzora</a:t>
            </a:r>
          </a:p>
          <a:p xmlns:a="http://schemas.openxmlformats.org/drawingml/2006/main">
            <a:pPr>
              <a:defRPr sz="4875" b="1">
                <a:solidFill>
                  <a:srgbClr val="20333D"/>
                </a:solidFill>
                <a:latin typeface="Arial"/>
                <a:ea typeface="Arial"/>
                <a:cs typeface="Arial"/>
              </a:defRPr>
            </a:pPr>
            <a:r>
              <a:rPr sz="4875" b="1">
                <a:solidFill>
                  <a:srgbClr val="20333D"/>
                </a:solidFill>
                <a:latin typeface="Arial"/>
                <a:ea typeface="Arial"/>
                <a:cs typeface="Arial"/>
              </a:rPr>
              <a:t>User Guide</a:t>
            </a:r>
          </a:p>
        </p:txBody>
      </p:sp>
      <p:sp>
        <p:nvSpPr>
          <p:cNvPr id="3" name="">
            <a:extLst xmlns:a="http://schemas.openxmlformats.org/drawingml/2006/main">
              <a:ext uri="{FF2B5EF4-FFF2-40B4-BE49-F238E27FC236}">
                <a16:creationId xmlns:a16="http://schemas.microsoft.com/office/drawing/2014/main" id="{B96D17C8-2D13-4338-B479-F5A6094D216E}"/>
              </a:ext>
            </a:extLst>
          </p:cNvPr>
          <p:cNvSpPr>
            <a:spLocks xmlns:a="http://schemas.openxmlformats.org/drawingml/2006/main" noGrp="1"/>
          </p:cNvSpPr>
          <p:nvPr/>
        </p:nvSpPr>
        <p:spPr>
          <a:xfrm xmlns:a="http://schemas.openxmlformats.org/drawingml/2006/main">
            <a:off x="762000" y="2524125"/>
            <a:ext cx="1371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Mutation-library construction, evidence-informed screening and candidate delivery</a:t>
            </a:r>
          </a:p>
        </p:txBody>
      </p:sp>
      <p:sp>
        <p:nvSpPr>
          <p:cNvPr id="4" name="">
            <a:extLst xmlns:a="http://schemas.openxmlformats.org/drawingml/2006/main">
              <a:ext uri="{FF2B5EF4-FFF2-40B4-BE49-F238E27FC236}">
                <a16:creationId xmlns:a16="http://schemas.microsoft.com/office/drawing/2014/main" id="{02605627-910E-45CC-9135-86689317AA52}"/>
              </a:ext>
            </a:extLst>
          </p:cNvPr>
          <p:cNvSpPr>
            <a:spLocks xmlns:a="http://schemas.openxmlformats.org/drawingml/2006/main" noGrp="1"/>
          </p:cNvSpPr>
          <p:nvPr/>
        </p:nvSpPr>
        <p:spPr>
          <a:xfrm xmlns:a="http://schemas.openxmlformats.org/drawingml/2006/main">
            <a:off x="762000" y="19240500"/>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4B606D"/>
                </a:solidFill>
                <a:latin typeface="Arial"/>
                <a:ea typeface="Arial"/>
                <a:cs typeface="Arial"/>
              </a:defRPr>
            </a:defPPr>
          </a:lstStyle>
          <a:p xmlns:a="http://schemas.openxmlformats.org/drawingml/2006/main">
            <a:pPr>
              <a:defRPr sz="1650" b="1">
                <a:solidFill>
                  <a:srgbClr val="4B606D"/>
                </a:solidFill>
                <a:latin typeface="Arial"/>
                <a:ea typeface="Arial"/>
                <a:cs typeface="Arial"/>
              </a:defRPr>
            </a:pPr>
            <a:r>
              <a:rPr sz="1650" b="1">
                <a:solidFill>
                  <a:srgbClr val="4B606D"/>
                </a:solidFill>
                <a:latin typeface="Arial"/>
                <a:ea typeface="Arial"/>
                <a:cs typeface="Arial"/>
              </a:rPr>
              <a:t>Enzora web platform • 16 October 2026</a:t>
            </a:r>
          </a:p>
        </p:txBody>
      </p:sp>
      <p:sp>
        <p:nvSpPr>
          <p:cNvPr id="5" name="">
            <a:extLst xmlns:a="http://schemas.openxmlformats.org/drawingml/2006/main">
              <a:ext uri="{FF2B5EF4-FFF2-40B4-BE49-F238E27FC236}">
                <a16:creationId xmlns:a16="http://schemas.microsoft.com/office/drawing/2014/main" id="{16A21A99-DB7A-4495-87A5-974EFD33A5F3}"/>
              </a:ext>
            </a:extLst>
          </p:cNvPr>
          <p:cNvSpPr>
            <a:spLocks xmlns:a="http://schemas.openxmlformats.org/drawingml/2006/main" noGrp="1"/>
          </p:cNvSpPr>
          <p:nvPr/>
        </p:nvSpPr>
        <p:spPr>
          <a:xfrm xmlns:a="http://schemas.openxmlformats.org/drawingml/2006/main">
            <a:off x="13811250" y="19240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4B606D"/>
                </a:solidFill>
                <a:latin typeface="Arial"/>
                <a:ea typeface="Arial"/>
                <a:cs typeface="Arial"/>
              </a:defRPr>
            </a:defPPr>
          </a:lstStyle>
          <a:p xmlns:a="http://schemas.openxmlformats.org/drawingml/2006/main">
            <a:pPr>
              <a:defRPr sz="1800" b="1">
                <a:solidFill>
                  <a:srgbClr val="4B606D"/>
                </a:solidFill>
                <a:latin typeface="Arial"/>
                <a:ea typeface="Arial"/>
                <a:cs typeface="Arial"/>
              </a:defRPr>
            </a:pPr>
            <a:r>
              <a:rPr sz="1800" b="1">
                <a:solidFill>
                  <a:srgbClr val="4B606D"/>
                </a:solidFill>
                <a:latin typeface="Arial"/>
                <a:ea typeface="Arial"/>
                <a:cs typeface="Arial"/>
              </a:rPr>
              <a:t>1</a:t>
            </a:r>
          </a:p>
        </p:txBody>
      </p:sp>
      <p:pic>
        <p:nvPicPr>
          <p:cNvPr id="6" name="">
            <a:extLst xmlns:a="http://schemas.openxmlformats.org/drawingml/2006/main">
              <a:ext uri="{FF2B5EF4-FFF2-40B4-BE49-F238E27FC236}">
                <a16:creationId xmlns:a16="http://schemas.microsoft.com/office/drawing/2014/main" id="{2233D2BF-C006-4BE3-B328-6305625E15E2}"/>
              </a:ext>
            </a:extLst>
          </p:cNvPr>
          <p:cNvPicPr>
            <a:picLocks xmlns:a="http://schemas.openxmlformats.org/drawingml/2006/main" noChangeAspect="1"/>
          </p:cNvPicPr>
          <p:nvPr/>
        </p:nvPicPr>
        <p:blipFill>
          <a:blip xmlns:r="http://schemas.openxmlformats.org/officeDocument/2006/relationships" xmlns:a="http://schemas.openxmlformats.org/drawingml/2006/main" r:embed="Rb33c01b09d48465c">
            <a:extLst>
              <a:ext uri="{96DAC541-7B7A-43D3-8B79-37D633B846F1}">
                <asvg:svgBlip xmlns:asvg="http://schemas.microsoft.com/office/drawing/2016/SVG/main" r:embed="R105c5a95f6bf4128"/>
              </a:ext>
            </a:extLst>
          </a:blip>
          <a:stretch xmlns:a="http://schemas.openxmlformats.org/drawingml/2006/main"/>
        </p:blipFill>
        <p:spPr>
          <a:xfrm xmlns:a="http://schemas.openxmlformats.org/drawingml/2006/main">
            <a:off x="6096000" y="4238625"/>
            <a:ext cx="3048000" cy="3048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539E8EF-11BD-46E9-98AE-F998A353F77A}"/>
              </a:ext>
            </a:extLst>
          </p:cNvPr>
          <p:cNvSpPr>
            <a:spLocks xmlns:a="http://schemas.openxmlformats.org/drawingml/2006/main" noGrp="1"/>
          </p:cNvSpPr>
          <p:nvPr/>
        </p:nvSpPr>
        <p:spPr>
          <a:xfrm xmlns:a="http://schemas.openxmlformats.org/drawingml/2006/main">
            <a:off x="762000" y="7429500"/>
            <a:ext cx="1371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20333D"/>
                </a:solidFill>
                <a:latin typeface="Arial"/>
                <a:ea typeface="Arial"/>
                <a:cs typeface="Arial"/>
              </a:defRPr>
            </a:defPPr>
          </a:lstStyle>
          <a:p xmlns:a="http://schemas.openxmlformats.org/drawingml/2006/main">
            <a:pPr>
              <a:defRPr sz="3600" b="1">
                <a:solidFill>
                  <a:srgbClr val="20333D"/>
                </a:solidFill>
                <a:latin typeface="Arial"/>
                <a:ea typeface="Arial"/>
                <a:cs typeface="Arial"/>
              </a:defRPr>
            </a:pPr>
            <a:r>
              <a:rPr sz="3600" b="1">
                <a:solidFill>
                  <a:srgbClr val="20333D"/>
                </a:solidFill>
                <a:latin typeface="Arial"/>
                <a:ea typeface="Arial"/>
                <a:cs typeface="Arial"/>
              </a:rPr>
              <a:t>A practical guide to the current web workspace</a:t>
            </a:r>
          </a:p>
        </p:txBody>
      </p:sp>
      <p:sp>
        <p:nvSpPr>
          <p:cNvPr id="8" name="">
            <a:extLst xmlns:a="http://schemas.openxmlformats.org/drawingml/2006/main">
              <a:ext uri="{FF2B5EF4-FFF2-40B4-BE49-F238E27FC236}">
                <a16:creationId xmlns:a16="http://schemas.microsoft.com/office/drawing/2014/main" id="{F0FFC296-35F3-4500-ABCF-2C562409D8E6}"/>
              </a:ext>
            </a:extLst>
          </p:cNvPr>
          <p:cNvSpPr>
            <a:spLocks xmlns:a="http://schemas.openxmlformats.org/drawingml/2006/main" noGrp="1"/>
          </p:cNvSpPr>
          <p:nvPr/>
        </p:nvSpPr>
        <p:spPr>
          <a:xfrm xmlns:a="http://schemas.openxmlformats.org/drawingml/2006/main">
            <a:off x="762000" y="8953500"/>
            <a:ext cx="13716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0333D"/>
                </a:solidFill>
                <a:latin typeface="Arial"/>
                <a:ea typeface="Arial"/>
                <a:cs typeface="Arial"/>
              </a:defRPr>
            </a:defPPr>
          </a:lstStyle>
          <a:p xmlns:a="http://schemas.openxmlformats.org/drawingml/2006/main">
            <a:pPr>
              <a:defRPr sz="3000" b="1">
                <a:solidFill>
                  <a:srgbClr val="20333D"/>
                </a:solidFill>
                <a:latin typeface="Arial"/>
                <a:ea typeface="Arial"/>
                <a:cs typeface="Arial"/>
              </a:defRPr>
            </a:pPr>
            <a:r>
              <a:rPr sz="3000" b="1">
                <a:solidFill>
                  <a:srgbClr val="20333D"/>
                </a:solidFill>
                <a:latin typeface="Arial"/>
                <a:ea typeface="Arial"/>
                <a:cs typeface="Arial"/>
              </a:rPr>
              <a:t>Start with your enzyme and substrate. Build a candidate library, compare predicted properties, then review a shortlist for the next experiment.</a:t>
            </a:r>
          </a:p>
        </p:txBody>
      </p:sp>
      <p:sp>
        <p:nvSpPr>
          <p:cNvPr id="9" name="">
            <a:extLst xmlns:a="http://schemas.openxmlformats.org/drawingml/2006/main">
              <a:ext uri="{FF2B5EF4-FFF2-40B4-BE49-F238E27FC236}">
                <a16:creationId xmlns:a16="http://schemas.microsoft.com/office/drawing/2014/main" id="{7C2F1510-184F-4D16-8271-59206BBD9A52}"/>
              </a:ext>
            </a:extLst>
          </p:cNvPr>
          <p:cNvSpPr>
            <a:spLocks xmlns:a="http://schemas.openxmlformats.org/drawingml/2006/main" noGrp="1"/>
          </p:cNvSpPr>
          <p:nvPr/>
        </p:nvSpPr>
        <p:spPr>
          <a:xfrm xmlns:a="http://schemas.openxmlformats.org/drawingml/2006/main">
            <a:off x="762000" y="11811000"/>
            <a:ext cx="13716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20333D"/>
                </a:solidFill>
                <a:latin typeface="Arial"/>
                <a:ea typeface="Arial"/>
                <a:cs typeface="Arial"/>
              </a:defRPr>
            </a:defPPr>
          </a:lstStyle>
          <a:p xmlns:a="http://schemas.openxmlformats.org/drawingml/2006/main">
            <a:pPr>
              <a:defRPr sz="2700" b="1">
                <a:solidFill>
                  <a:srgbClr val="20333D"/>
                </a:solidFill>
                <a:latin typeface="Arial"/>
                <a:ea typeface="Arial"/>
                <a:cs typeface="Arial"/>
              </a:defRPr>
            </a:pPr>
            <a:r>
              <a:rPr sz="2700" b="1">
                <a:solidFill>
                  <a:srgbClr val="20333D"/>
                </a:solidFill>
                <a:latin typeface="Arial"/>
                <a:ea typeface="Arial"/>
                <a:cs typeface="Arial"/>
              </a:rPr>
              <a:t>Website</a:t>
            </a:r>
          </a:p>
        </p:txBody>
      </p:sp>
      <p:sp>
        <p:nvSpPr>
          <p:cNvPr id="10" name="">
            <a:extLst xmlns:a="http://schemas.openxmlformats.org/drawingml/2006/main">
              <a:ext uri="{FF2B5EF4-FFF2-40B4-BE49-F238E27FC236}">
                <a16:creationId xmlns:a16="http://schemas.microsoft.com/office/drawing/2014/main" id="{47D57134-140B-42EE-A3E8-FBA41FB75B34}"/>
              </a:ext>
            </a:extLst>
          </p:cNvPr>
          <p:cNvSpPr>
            <a:spLocks xmlns:a="http://schemas.openxmlformats.org/drawingml/2006/main" noGrp="1"/>
          </p:cNvSpPr>
          <p:nvPr/>
        </p:nvSpPr>
        <p:spPr>
          <a:xfrm xmlns:a="http://schemas.openxmlformats.org/drawingml/2006/main">
            <a:off x="762000" y="124777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245E91"/>
                </a:solidFill>
                <a:latin typeface="Arial"/>
                <a:ea typeface="Arial"/>
                <a:cs typeface="Arial"/>
              </a:defRPr>
            </a:defPPr>
          </a:lstStyle>
          <a:p xmlns:a="http://schemas.openxmlformats.org/drawingml/2006/main">
            <a:pPr>
              <a:defRPr sz="3300" b="1">
                <a:solidFill>
                  <a:srgbClr val="245E91"/>
                </a:solidFill>
                <a:latin typeface="Arial"/>
                <a:ea typeface="Arial"/>
                <a:cs typeface="Arial"/>
              </a:defRPr>
            </a:pPr>
            <a:r>
              <a:rPr>
                <a:hlinkClick xmlns:r="http://schemas.openxmlformats.org/officeDocument/2006/relationships" r:id="Rc255fa6ffc28478d"/>
              </a:rPr>
              <a:t>https://enzora-agent.com</a:t>
            </a:r>
          </a:p>
        </p:txBody>
      </p:sp>
      <p:sp>
        <p:nvSpPr>
          <p:cNvPr id="11" name="">
            <a:extLst xmlns:a="http://schemas.openxmlformats.org/drawingml/2006/main">
              <a:ext uri="{FF2B5EF4-FFF2-40B4-BE49-F238E27FC236}">
                <a16:creationId xmlns:a16="http://schemas.microsoft.com/office/drawing/2014/main" id="{C1A8FB51-EC6D-46EC-A351-FB8CB755D9C0}"/>
              </a:ext>
            </a:extLst>
          </p:cNvPr>
          <p:cNvSpPr>
            <a:spLocks xmlns:a="http://schemas.openxmlformats.org/drawingml/2006/main" noGrp="1"/>
          </p:cNvSpPr>
          <p:nvPr/>
        </p:nvSpPr>
        <p:spPr>
          <a:xfrm xmlns:a="http://schemas.openxmlformats.org/drawingml/2006/main">
            <a:off x="762000" y="14287500"/>
            <a:ext cx="13716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4B606D"/>
                </a:solidFill>
                <a:latin typeface="Arial"/>
                <a:ea typeface="Arial"/>
                <a:cs typeface="Arial"/>
              </a:defRPr>
            </a:defPPr>
          </a:lstStyle>
          <a:p xmlns:a="http://schemas.openxmlformats.org/drawingml/2006/main">
            <a:pPr>
              <a:defRPr sz="2625" b="1">
                <a:solidFill>
                  <a:srgbClr val="4B606D"/>
                </a:solidFill>
                <a:latin typeface="Arial"/>
                <a:ea typeface="Arial"/>
                <a:cs typeface="Arial"/>
              </a:defRPr>
            </a:pPr>
            <a:r>
              <a:rPr sz="2625" b="1">
                <a:solidFill>
                  <a:srgbClr val="4B606D"/>
                </a:solidFill>
                <a:latin typeface="Arial"/>
                <a:ea typeface="Arial"/>
                <a:cs typeface="Arial"/>
              </a:rPr>
              <a:t>For researchers using the browser, follow Sections 1–13.</a:t>
            </a:r>
          </a:p>
          <a:p xmlns:a="http://schemas.openxmlformats.org/drawingml/2006/main">
            <a:pPr>
              <a:defRPr sz="2625" b="1">
                <a:solidFill>
                  <a:srgbClr val="4B606D"/>
                </a:solidFill>
                <a:latin typeface="Arial"/>
                <a:ea typeface="Arial"/>
                <a:cs typeface="Arial"/>
              </a:defRPr>
            </a:pPr>
            <a:r>
              <a:rPr sz="2625" b="1">
                <a:solidFill>
                  <a:srgbClr val="4B606D"/>
                </a:solidFill>
                <a:latin typeface="Arial"/>
                <a:ea typeface="Arial"/>
                <a:cs typeface="Arial"/>
              </a:rPr>
              <a:t>For local installation and model resources, see Section 14.</a:t>
            </a:r>
          </a:p>
          <a:p xmlns:a="http://schemas.openxmlformats.org/drawingml/2006/main">
            <a:pPr>
              <a:defRPr sz="2625" b="1">
                <a:solidFill>
                  <a:srgbClr val="4B606D"/>
                </a:solidFill>
                <a:latin typeface="Arial"/>
                <a:ea typeface="Arial"/>
                <a:cs typeface="Arial"/>
              </a:defRPr>
            </a:pPr>
            <a:r>
              <a:rPr sz="2625" b="1">
                <a:solidFill>
                  <a:srgbClr val="4B606D"/>
                </a:solidFill>
                <a:latin typeface="Arial"/>
                <a:ea typeface="Arial"/>
                <a:cs typeface="Arial"/>
              </a:rPr>
              <a:t>For recovery and interpretation checks, see Sections 15–16.</a:t>
            </a:r>
          </a:p>
        </p:txBody>
      </p:sp>
    </p:spTree>
    <p:extLst>
      <p:ext uri="{BB962C8B-B14F-4D97-AF65-F5344CB8AC3E}">
        <p14:creationId xmlns:p14="http://schemas.microsoft.com/office/powerpoint/2010/main" val="13477884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EEB13D0-DD5F-4E4F-B97F-62315FBCF410}"/>
              </a:ext>
            </a:extLst>
          </p:cNvPr>
          <p:cNvSpPr>
            <a:spLocks xmlns:a="http://schemas.openxmlformats.org/drawingml/2006/main" noGrp="1"/>
          </p:cNvSpPr>
          <p:nvPr/>
        </p:nvSpPr>
        <p:spPr>
          <a:xfrm xmlns:a="http://schemas.openxmlformats.org/drawingml/2006/main">
            <a:off x="762000" y="361950"/>
            <a:ext cx="1323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4B606D"/>
                </a:solidFill>
                <a:latin typeface="Arial"/>
                <a:ea typeface="Arial"/>
                <a:cs typeface="Arial"/>
              </a:defRPr>
            </a:defPPr>
          </a:lstStyle>
          <a:p xmlns:a="http://schemas.openxmlformats.org/drawingml/2006/main">
            <a:pPr>
              <a:defRPr sz="1725" b="1">
                <a:solidFill>
                  <a:srgbClr val="4B606D"/>
                </a:solidFill>
                <a:latin typeface="Arial"/>
                <a:ea typeface="Arial"/>
                <a:cs typeface="Arial"/>
              </a:defRPr>
            </a:pPr>
            <a:r>
              <a:rPr sz="1725" b="1">
                <a:solidFill>
                  <a:srgbClr val="4B606D"/>
                </a:solidFill>
                <a:latin typeface="Arial"/>
                <a:ea typeface="Arial"/>
                <a:cs typeface="Arial"/>
              </a:rPr>
              <a:t>ENZORA  /  USER GUIDE</a:t>
            </a:r>
          </a:p>
        </p:txBody>
      </p:sp>
      <p:sp>
        <p:nvSpPr>
          <p:cNvPr id="2" name="">
            <a:extLst xmlns:a="http://schemas.openxmlformats.org/drawingml/2006/main">
              <a:ext uri="{FF2B5EF4-FFF2-40B4-BE49-F238E27FC236}">
                <a16:creationId xmlns:a16="http://schemas.microsoft.com/office/drawing/2014/main" id="{516662F9-2EDB-4972-A5B2-7F22B49C98A0}"/>
              </a:ext>
            </a:extLst>
          </p:cNvPr>
          <p:cNvSpPr>
            <a:spLocks xmlns:a="http://schemas.openxmlformats.org/drawingml/2006/main" noGrp="1"/>
          </p:cNvSpPr>
          <p:nvPr/>
        </p:nvSpPr>
        <p:spPr>
          <a:xfrm xmlns:a="http://schemas.openxmlformats.org/drawingml/2006/main">
            <a:off x="762000" y="952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20333D"/>
                </a:solidFill>
                <a:latin typeface="Arial"/>
                <a:ea typeface="Arial"/>
                <a:cs typeface="Arial"/>
              </a:defRPr>
            </a:defPPr>
          </a:lstStyle>
          <a:p xmlns:a="http://schemas.openxmlformats.org/drawingml/2006/main">
            <a:pPr>
              <a:defRPr sz="4875" b="1">
                <a:solidFill>
                  <a:srgbClr val="20333D"/>
                </a:solidFill>
                <a:latin typeface="Arial"/>
                <a:ea typeface="Arial"/>
                <a:cs typeface="Arial"/>
              </a:defRPr>
            </a:pPr>
            <a:r>
              <a:rPr sz="4875" b="1">
                <a:solidFill>
                  <a:srgbClr val="20333D"/>
                </a:solidFill>
                <a:latin typeface="Arial"/>
                <a:ea typeface="Arial"/>
                <a:cs typeface="Arial"/>
              </a:rPr>
              <a:t>1. The three-stage workflow</a:t>
            </a:r>
          </a:p>
        </p:txBody>
      </p:sp>
      <p:sp>
        <p:nvSpPr>
          <p:cNvPr id="3" name="">
            <a:extLst xmlns:a="http://schemas.openxmlformats.org/drawingml/2006/main">
              <a:ext uri="{FF2B5EF4-FFF2-40B4-BE49-F238E27FC236}">
                <a16:creationId xmlns:a16="http://schemas.microsoft.com/office/drawing/2014/main" id="{04539794-643F-447A-AC05-38B9CB4A3825}"/>
              </a:ext>
            </a:extLst>
          </p:cNvPr>
          <p:cNvSpPr>
            <a:spLocks xmlns:a="http://schemas.openxmlformats.org/drawingml/2006/main" noGrp="1"/>
          </p:cNvSpPr>
          <p:nvPr/>
        </p:nvSpPr>
        <p:spPr>
          <a:xfrm xmlns:a="http://schemas.openxmlformats.org/drawingml/2006/main">
            <a:off x="762000" y="2524125"/>
            <a:ext cx="1371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Each stage has a clear input, action and saved result</a:t>
            </a:r>
          </a:p>
        </p:txBody>
      </p:sp>
      <p:sp>
        <p:nvSpPr>
          <p:cNvPr id="4" name="">
            <a:extLst xmlns:a="http://schemas.openxmlformats.org/drawingml/2006/main">
              <a:ext uri="{FF2B5EF4-FFF2-40B4-BE49-F238E27FC236}">
                <a16:creationId xmlns:a16="http://schemas.microsoft.com/office/drawing/2014/main" id="{AF07A89F-7969-4D5E-ADDF-E378BF4CA798}"/>
              </a:ext>
            </a:extLst>
          </p:cNvPr>
          <p:cNvSpPr>
            <a:spLocks xmlns:a="http://schemas.openxmlformats.org/drawingml/2006/main" noGrp="1"/>
          </p:cNvSpPr>
          <p:nvPr/>
        </p:nvSpPr>
        <p:spPr>
          <a:xfrm xmlns:a="http://schemas.openxmlformats.org/drawingml/2006/main">
            <a:off x="762000" y="19240500"/>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4B606D"/>
                </a:solidFill>
                <a:latin typeface="Arial"/>
                <a:ea typeface="Arial"/>
                <a:cs typeface="Arial"/>
              </a:defRPr>
            </a:defPPr>
          </a:lstStyle>
          <a:p xmlns:a="http://schemas.openxmlformats.org/drawingml/2006/main">
            <a:pPr>
              <a:defRPr sz="1650" b="1">
                <a:solidFill>
                  <a:srgbClr val="4B606D"/>
                </a:solidFill>
                <a:latin typeface="Arial"/>
                <a:ea typeface="Arial"/>
                <a:cs typeface="Arial"/>
              </a:defRPr>
            </a:pPr>
            <a:r>
              <a:rPr sz="1650" b="1">
                <a:solidFill>
                  <a:srgbClr val="4B606D"/>
                </a:solidFill>
                <a:latin typeface="Arial"/>
                <a:ea typeface="Arial"/>
                <a:cs typeface="Arial"/>
              </a:rPr>
              <a:t>Enzora web platform • 16 October 2026</a:t>
            </a:r>
          </a:p>
        </p:txBody>
      </p:sp>
      <p:sp>
        <p:nvSpPr>
          <p:cNvPr id="5" name="">
            <a:extLst xmlns:a="http://schemas.openxmlformats.org/drawingml/2006/main">
              <a:ext uri="{FF2B5EF4-FFF2-40B4-BE49-F238E27FC236}">
                <a16:creationId xmlns:a16="http://schemas.microsoft.com/office/drawing/2014/main" id="{296A08D2-6F10-4853-A3B8-EEA749EDB168}"/>
              </a:ext>
            </a:extLst>
          </p:cNvPr>
          <p:cNvSpPr>
            <a:spLocks xmlns:a="http://schemas.openxmlformats.org/drawingml/2006/main" noGrp="1"/>
          </p:cNvSpPr>
          <p:nvPr/>
        </p:nvSpPr>
        <p:spPr>
          <a:xfrm xmlns:a="http://schemas.openxmlformats.org/drawingml/2006/main">
            <a:off x="13811250" y="19240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4B606D"/>
                </a:solidFill>
                <a:latin typeface="Arial"/>
                <a:ea typeface="Arial"/>
                <a:cs typeface="Arial"/>
              </a:defRPr>
            </a:defPPr>
          </a:lstStyle>
          <a:p xmlns:a="http://schemas.openxmlformats.org/drawingml/2006/main">
            <a:pPr>
              <a:defRPr sz="1800" b="1">
                <a:solidFill>
                  <a:srgbClr val="4B606D"/>
                </a:solidFill>
                <a:latin typeface="Arial"/>
                <a:ea typeface="Arial"/>
                <a:cs typeface="Arial"/>
              </a:defRPr>
            </a:pPr>
            <a:r>
              <a:rPr sz="1800" b="1">
                <a:solidFill>
                  <a:srgbClr val="4B606D"/>
                </a:solidFill>
                <a:latin typeface="Arial"/>
                <a:ea typeface="Arial"/>
                <a:cs typeface="Arial"/>
              </a:rPr>
              <a:t>2</a:t>
            </a:r>
          </a:p>
        </p:txBody>
      </p:sp>
      <p:pic>
        <p:nvPicPr>
          <p:cNvPr id="6" name="">
            <a:extLst xmlns:a="http://schemas.openxmlformats.org/drawingml/2006/main">
              <a:ext uri="{FF2B5EF4-FFF2-40B4-BE49-F238E27FC236}">
                <a16:creationId xmlns:a16="http://schemas.microsoft.com/office/drawing/2014/main" id="{BE89DFBD-4294-4DB3-A0DF-36999F8F3C35}"/>
              </a:ext>
            </a:extLst>
          </p:cNvPr>
          <p:cNvPicPr>
            <a:picLocks xmlns:a="http://schemas.openxmlformats.org/drawingml/2006/main" noChangeAspect="1"/>
          </p:cNvPicPr>
          <p:nvPr/>
        </p:nvPicPr>
        <p:blipFill>
          <a:blip xmlns:r="http://schemas.openxmlformats.org/officeDocument/2006/relationships" xmlns:a="http://schemas.openxmlformats.org/drawingml/2006/main" r:embed="R3ede32d0178b4ba5"/>
          <a:stretch xmlns:a="http://schemas.openxmlformats.org/drawingml/2006/main"/>
        </p:blipFill>
        <p:spPr>
          <a:xfrm xmlns:a="http://schemas.openxmlformats.org/drawingml/2006/main">
            <a:off x="762000" y="3967163"/>
            <a:ext cx="13716000" cy="10115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F46BEA0-E005-4DD8-8600-5DDE7D03E920}"/>
              </a:ext>
            </a:extLst>
          </p:cNvPr>
          <p:cNvSpPr>
            <a:spLocks xmlns:a="http://schemas.openxmlformats.org/drawingml/2006/main" noGrp="1"/>
          </p:cNvSpPr>
          <p:nvPr/>
        </p:nvSpPr>
        <p:spPr>
          <a:xfrm xmlns:a="http://schemas.openxmlformats.org/drawingml/2006/main">
            <a:off x="762000" y="1457325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Library: Build library</a:t>
            </a:r>
          </a:p>
        </p:txBody>
      </p:sp>
      <p:sp>
        <p:nvSpPr>
          <p:cNvPr id="8" name="">
            <a:extLst xmlns:a="http://schemas.openxmlformats.org/drawingml/2006/main">
              <a:ext uri="{FF2B5EF4-FFF2-40B4-BE49-F238E27FC236}">
                <a16:creationId xmlns:a16="http://schemas.microsoft.com/office/drawing/2014/main" id="{7B3EA715-1339-4A67-B635-6A1A1C8D21C3}"/>
              </a:ext>
            </a:extLst>
          </p:cNvPr>
          <p:cNvSpPr>
            <a:spLocks xmlns:a="http://schemas.openxmlformats.org/drawingml/2006/main" noGrp="1"/>
          </p:cNvSpPr>
          <p:nvPr/>
        </p:nvSpPr>
        <p:spPr>
          <a:xfrm xmlns:a="http://schemas.openxmlformats.org/drawingml/2006/main">
            <a:off x="762000" y="15240000"/>
            <a:ext cx="1371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Supply the WT protein and substrate, then choose the mutation budget.</a:t>
            </a:r>
          </a:p>
        </p:txBody>
      </p:sp>
      <p:sp>
        <p:nvSpPr>
          <p:cNvPr id="9" name="">
            <a:extLst xmlns:a="http://schemas.openxmlformats.org/drawingml/2006/main">
              <a:ext uri="{FF2B5EF4-FFF2-40B4-BE49-F238E27FC236}">
                <a16:creationId xmlns:a16="http://schemas.microsoft.com/office/drawing/2014/main" id="{8D348010-D29E-44EB-9331-111DA9022FE4}"/>
              </a:ext>
            </a:extLst>
          </p:cNvPr>
          <p:cNvSpPr>
            <a:spLocks xmlns:a="http://schemas.openxmlformats.org/drawingml/2006/main" noGrp="1"/>
          </p:cNvSpPr>
          <p:nvPr/>
        </p:nvSpPr>
        <p:spPr>
          <a:xfrm xmlns:a="http://schemas.openxmlformats.org/drawingml/2006/main">
            <a:off x="762000" y="1624012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Screening: Start Screening</a:t>
            </a:r>
          </a:p>
        </p:txBody>
      </p:sp>
      <p:sp>
        <p:nvSpPr>
          <p:cNvPr id="10" name="">
            <a:extLst xmlns:a="http://schemas.openxmlformats.org/drawingml/2006/main">
              <a:ext uri="{FF2B5EF4-FFF2-40B4-BE49-F238E27FC236}">
                <a16:creationId xmlns:a16="http://schemas.microsoft.com/office/drawing/2014/main" id="{97A987C9-59D6-4CB6-B06E-881F39B4F0A8}"/>
              </a:ext>
            </a:extLst>
          </p:cNvPr>
          <p:cNvSpPr>
            <a:spLocks xmlns:a="http://schemas.openxmlformats.org/drawingml/2006/main" noGrp="1"/>
          </p:cNvSpPr>
          <p:nvPr/>
        </p:nvSpPr>
        <p:spPr>
          <a:xfrm xmlns:a="http://schemas.openxmlformats.org/drawingml/2006/main">
            <a:off x="762000" y="16906875"/>
            <a:ext cx="1371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Run the three predictors. Review priorities and uncertainty before selection.</a:t>
            </a:r>
          </a:p>
        </p:txBody>
      </p:sp>
      <p:sp>
        <p:nvSpPr>
          <p:cNvPr id="11" name="">
            <a:extLst xmlns:a="http://schemas.openxmlformats.org/drawingml/2006/main">
              <a:ext uri="{FF2B5EF4-FFF2-40B4-BE49-F238E27FC236}">
                <a16:creationId xmlns:a16="http://schemas.microsoft.com/office/drawing/2014/main" id="{2C47BFA5-5676-4885-9F15-1CBC3C36A2A3}"/>
              </a:ext>
            </a:extLst>
          </p:cNvPr>
          <p:cNvSpPr>
            <a:spLocks xmlns:a="http://schemas.openxmlformats.org/drawingml/2006/main" noGrp="1"/>
          </p:cNvSpPr>
          <p:nvPr/>
        </p:nvSpPr>
        <p:spPr>
          <a:xfrm xmlns:a="http://schemas.openxmlformats.org/drawingml/2006/main">
            <a:off x="762000" y="18288000"/>
            <a:ext cx="1371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20333D"/>
                </a:solidFill>
                <a:latin typeface="Arial"/>
                <a:ea typeface="Arial"/>
                <a:cs typeface="Arial"/>
              </a:defRPr>
            </a:defPPr>
          </a:lstStyle>
          <a:p xmlns:a="http://schemas.openxmlformats.org/drawingml/2006/main">
            <a:pPr>
              <a:defRPr sz="2550" b="1">
                <a:solidFill>
                  <a:srgbClr val="20333D"/>
                </a:solidFill>
                <a:latin typeface="Arial"/>
                <a:ea typeface="Arial"/>
                <a:cs typeface="Arial"/>
              </a:defRPr>
            </a:pPr>
            <a:r>
              <a:rPr sz="2550" b="1">
                <a:solidFill>
                  <a:srgbClr val="20333D"/>
                </a:solidFill>
                <a:latin typeface="Arial"/>
                <a:ea typeface="Arial"/>
                <a:cs typeface="Arial"/>
              </a:rPr>
              <a:t>Output: Select Top-K &amp; generate report, then inspect and export.</a:t>
            </a:r>
          </a:p>
        </p:txBody>
      </p:sp>
    </p:spTree>
    <p:extLst>
      <p:ext uri="{BB962C8B-B14F-4D97-AF65-F5344CB8AC3E}">
        <p14:creationId xmlns:p14="http://schemas.microsoft.com/office/powerpoint/2010/main" val="9080135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482C3CC-B366-4953-A075-6644051EC517}"/>
              </a:ext>
            </a:extLst>
          </p:cNvPr>
          <p:cNvSpPr>
            <a:spLocks xmlns:a="http://schemas.openxmlformats.org/drawingml/2006/main" noGrp="1"/>
          </p:cNvSpPr>
          <p:nvPr/>
        </p:nvSpPr>
        <p:spPr>
          <a:xfrm xmlns:a="http://schemas.openxmlformats.org/drawingml/2006/main">
            <a:off x="762000" y="361950"/>
            <a:ext cx="1323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4B606D"/>
                </a:solidFill>
                <a:latin typeface="Arial"/>
                <a:ea typeface="Arial"/>
                <a:cs typeface="Arial"/>
              </a:defRPr>
            </a:defPPr>
          </a:lstStyle>
          <a:p xmlns:a="http://schemas.openxmlformats.org/drawingml/2006/main">
            <a:pPr>
              <a:defRPr sz="1725" b="1">
                <a:solidFill>
                  <a:srgbClr val="4B606D"/>
                </a:solidFill>
                <a:latin typeface="Arial"/>
                <a:ea typeface="Arial"/>
                <a:cs typeface="Arial"/>
              </a:defRPr>
            </a:pPr>
            <a:r>
              <a:rPr sz="1725" b="1">
                <a:solidFill>
                  <a:srgbClr val="4B606D"/>
                </a:solidFill>
                <a:latin typeface="Arial"/>
                <a:ea typeface="Arial"/>
                <a:cs typeface="Arial"/>
              </a:rPr>
              <a:t>ENZORA  /  USER GUIDE</a:t>
            </a:r>
          </a:p>
        </p:txBody>
      </p:sp>
      <p:sp>
        <p:nvSpPr>
          <p:cNvPr id="2" name="">
            <a:extLst xmlns:a="http://schemas.openxmlformats.org/drawingml/2006/main">
              <a:ext uri="{FF2B5EF4-FFF2-40B4-BE49-F238E27FC236}">
                <a16:creationId xmlns:a16="http://schemas.microsoft.com/office/drawing/2014/main" id="{3FB5249F-5424-4E6D-B11C-A0EF7125B082}"/>
              </a:ext>
            </a:extLst>
          </p:cNvPr>
          <p:cNvSpPr>
            <a:spLocks xmlns:a="http://schemas.openxmlformats.org/drawingml/2006/main" noGrp="1"/>
          </p:cNvSpPr>
          <p:nvPr/>
        </p:nvSpPr>
        <p:spPr>
          <a:xfrm xmlns:a="http://schemas.openxmlformats.org/drawingml/2006/main">
            <a:off x="762000" y="952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20333D"/>
                </a:solidFill>
                <a:latin typeface="Arial"/>
                <a:ea typeface="Arial"/>
                <a:cs typeface="Arial"/>
              </a:defRPr>
            </a:defPPr>
          </a:lstStyle>
          <a:p xmlns:a="http://schemas.openxmlformats.org/drawingml/2006/main">
            <a:pPr>
              <a:defRPr sz="4875" b="1">
                <a:solidFill>
                  <a:srgbClr val="20333D"/>
                </a:solidFill>
                <a:latin typeface="Arial"/>
                <a:ea typeface="Arial"/>
                <a:cs typeface="Arial"/>
              </a:defRPr>
            </a:pPr>
            <a:r>
              <a:rPr sz="4875" b="1">
                <a:solidFill>
                  <a:srgbClr val="20333D"/>
                </a:solidFill>
                <a:latin typeface="Arial"/>
                <a:ea typeface="Arial"/>
                <a:cs typeface="Arial"/>
              </a:rPr>
              <a:t>2. Access and Demo mode</a:t>
            </a:r>
          </a:p>
        </p:txBody>
      </p:sp>
      <p:sp>
        <p:nvSpPr>
          <p:cNvPr id="3" name="">
            <a:extLst xmlns:a="http://schemas.openxmlformats.org/drawingml/2006/main">
              <a:ext uri="{FF2B5EF4-FFF2-40B4-BE49-F238E27FC236}">
                <a16:creationId xmlns:a16="http://schemas.microsoft.com/office/drawing/2014/main" id="{D34B30E5-30D6-4990-AC61-43509707F2A5}"/>
              </a:ext>
            </a:extLst>
          </p:cNvPr>
          <p:cNvSpPr>
            <a:spLocks xmlns:a="http://schemas.openxmlformats.org/drawingml/2006/main" noGrp="1"/>
          </p:cNvSpPr>
          <p:nvPr/>
        </p:nvSpPr>
        <p:spPr>
          <a:xfrm xmlns:a="http://schemas.openxmlformats.org/drawingml/2006/main">
            <a:off x="762000" y="2524125"/>
            <a:ext cx="1371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The access code opens the workspace. Provider credentials stay on the server</a:t>
            </a:r>
          </a:p>
        </p:txBody>
      </p:sp>
      <p:sp>
        <p:nvSpPr>
          <p:cNvPr id="4" name="">
            <a:extLst xmlns:a="http://schemas.openxmlformats.org/drawingml/2006/main">
              <a:ext uri="{FF2B5EF4-FFF2-40B4-BE49-F238E27FC236}">
                <a16:creationId xmlns:a16="http://schemas.microsoft.com/office/drawing/2014/main" id="{AB1A633B-CD78-40B0-932E-7EF76A1BAC86}"/>
              </a:ext>
            </a:extLst>
          </p:cNvPr>
          <p:cNvSpPr>
            <a:spLocks xmlns:a="http://schemas.openxmlformats.org/drawingml/2006/main" noGrp="1"/>
          </p:cNvSpPr>
          <p:nvPr/>
        </p:nvSpPr>
        <p:spPr>
          <a:xfrm xmlns:a="http://schemas.openxmlformats.org/drawingml/2006/main">
            <a:off x="762000" y="19240500"/>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4B606D"/>
                </a:solidFill>
                <a:latin typeface="Arial"/>
                <a:ea typeface="Arial"/>
                <a:cs typeface="Arial"/>
              </a:defRPr>
            </a:defPPr>
          </a:lstStyle>
          <a:p xmlns:a="http://schemas.openxmlformats.org/drawingml/2006/main">
            <a:pPr>
              <a:defRPr sz="1650" b="1">
                <a:solidFill>
                  <a:srgbClr val="4B606D"/>
                </a:solidFill>
                <a:latin typeface="Arial"/>
                <a:ea typeface="Arial"/>
                <a:cs typeface="Arial"/>
              </a:defRPr>
            </a:pPr>
            <a:r>
              <a:rPr sz="1650" b="1">
                <a:solidFill>
                  <a:srgbClr val="4B606D"/>
                </a:solidFill>
                <a:latin typeface="Arial"/>
                <a:ea typeface="Arial"/>
                <a:cs typeface="Arial"/>
              </a:rPr>
              <a:t>Enzora web platform • 16 October 2026</a:t>
            </a:r>
          </a:p>
        </p:txBody>
      </p:sp>
      <p:sp>
        <p:nvSpPr>
          <p:cNvPr id="5" name="">
            <a:extLst xmlns:a="http://schemas.openxmlformats.org/drawingml/2006/main">
              <a:ext uri="{FF2B5EF4-FFF2-40B4-BE49-F238E27FC236}">
                <a16:creationId xmlns:a16="http://schemas.microsoft.com/office/drawing/2014/main" id="{9E0B95EC-AF82-4A59-BE4E-018338BB3F53}"/>
              </a:ext>
            </a:extLst>
          </p:cNvPr>
          <p:cNvSpPr>
            <a:spLocks xmlns:a="http://schemas.openxmlformats.org/drawingml/2006/main" noGrp="1"/>
          </p:cNvSpPr>
          <p:nvPr/>
        </p:nvSpPr>
        <p:spPr>
          <a:xfrm xmlns:a="http://schemas.openxmlformats.org/drawingml/2006/main">
            <a:off x="13811250" y="19240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4B606D"/>
                </a:solidFill>
                <a:latin typeface="Arial"/>
                <a:ea typeface="Arial"/>
                <a:cs typeface="Arial"/>
              </a:defRPr>
            </a:defPPr>
          </a:lstStyle>
          <a:p xmlns:a="http://schemas.openxmlformats.org/drawingml/2006/main">
            <a:pPr>
              <a:defRPr sz="1800" b="1">
                <a:solidFill>
                  <a:srgbClr val="4B606D"/>
                </a:solidFill>
                <a:latin typeface="Arial"/>
                <a:ea typeface="Arial"/>
                <a:cs typeface="Arial"/>
              </a:defRPr>
            </a:pPr>
            <a:r>
              <a:rPr sz="1800" b="1">
                <a:solidFill>
                  <a:srgbClr val="4B606D"/>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1937B998-46C4-433E-AA05-D31536F5E35D}"/>
              </a:ext>
            </a:extLst>
          </p:cNvPr>
          <p:cNvSpPr>
            <a:spLocks xmlns:a="http://schemas.openxmlformats.org/drawingml/2006/main" noGrp="1"/>
          </p:cNvSpPr>
          <p:nvPr/>
        </p:nvSpPr>
        <p:spPr>
          <a:xfrm xmlns:a="http://schemas.openxmlformats.org/drawingml/2006/main">
            <a:off x="762000" y="409575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Open the production platform</a:t>
            </a:r>
          </a:p>
        </p:txBody>
      </p:sp>
      <p:sp>
        <p:nvSpPr>
          <p:cNvPr id="7" name="">
            <a:extLst xmlns:a="http://schemas.openxmlformats.org/drawingml/2006/main">
              <a:ext uri="{FF2B5EF4-FFF2-40B4-BE49-F238E27FC236}">
                <a16:creationId xmlns:a16="http://schemas.microsoft.com/office/drawing/2014/main" id="{A2AACA9C-88E6-4262-B22B-B2C6053F6B94}"/>
              </a:ext>
            </a:extLst>
          </p:cNvPr>
          <p:cNvSpPr>
            <a:spLocks xmlns:a="http://schemas.openxmlformats.org/drawingml/2006/main" noGrp="1"/>
          </p:cNvSpPr>
          <p:nvPr/>
        </p:nvSpPr>
        <p:spPr>
          <a:xfrm xmlns:a="http://schemas.openxmlformats.org/drawingml/2006/main">
            <a:off x="762000" y="4762500"/>
            <a:ext cx="1371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Visit enzora-agent.com. Enter the workspace access code when requested. The access code is separate from the MiniMax API credential.</a:t>
            </a:r>
          </a:p>
        </p:txBody>
      </p:sp>
      <p:sp>
        <p:nvSpPr>
          <p:cNvPr id="8" name="">
            <a:extLst xmlns:a="http://schemas.openxmlformats.org/drawingml/2006/main">
              <a:ext uri="{FF2B5EF4-FFF2-40B4-BE49-F238E27FC236}">
                <a16:creationId xmlns:a16="http://schemas.microsoft.com/office/drawing/2014/main" id="{CBF2AAB1-1293-41E9-842E-96578614FA5C}"/>
              </a:ext>
            </a:extLst>
          </p:cNvPr>
          <p:cNvSpPr>
            <a:spLocks xmlns:a="http://schemas.openxmlformats.org/drawingml/2006/main" noGrp="1"/>
          </p:cNvSpPr>
          <p:nvPr/>
        </p:nvSpPr>
        <p:spPr>
          <a:xfrm xmlns:a="http://schemas.openxmlformats.org/drawingml/2006/main">
            <a:off x="762000" y="704850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Try the interface before submitting a real job</a:t>
            </a:r>
          </a:p>
        </p:txBody>
      </p:sp>
      <p:sp>
        <p:nvSpPr>
          <p:cNvPr id="9" name="">
            <a:extLst xmlns:a="http://schemas.openxmlformats.org/drawingml/2006/main">
              <a:ext uri="{FF2B5EF4-FFF2-40B4-BE49-F238E27FC236}">
                <a16:creationId xmlns:a16="http://schemas.microsoft.com/office/drawing/2014/main" id="{928A3407-3012-4FB7-9A8C-1CE744F2AEA9}"/>
              </a:ext>
            </a:extLst>
          </p:cNvPr>
          <p:cNvSpPr>
            <a:spLocks xmlns:a="http://schemas.openxmlformats.org/drawingml/2006/main" noGrp="1"/>
          </p:cNvSpPr>
          <p:nvPr/>
        </p:nvSpPr>
        <p:spPr>
          <a:xfrm xmlns:a="http://schemas.openxmlformats.org/drawingml/2006/main">
            <a:off x="762000" y="77152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The Demo toggle runs local simulated data. Its fixed example is the project’s 544 aa carbonic anhydrase with CO2, entered as O=C=O. Demo predictions and its projection are simulated.</a:t>
            </a:r>
          </a:p>
        </p:txBody>
      </p:sp>
      <p:pic>
        <p:nvPicPr>
          <p:cNvPr id="10" name="">
            <a:extLst xmlns:a="http://schemas.openxmlformats.org/drawingml/2006/main">
              <a:ext uri="{FF2B5EF4-FFF2-40B4-BE49-F238E27FC236}">
                <a16:creationId xmlns:a16="http://schemas.microsoft.com/office/drawing/2014/main" id="{B632A9CD-C547-4A0E-90AD-3A160AA15220}"/>
              </a:ext>
            </a:extLst>
          </p:cNvPr>
          <p:cNvPicPr>
            <a:picLocks xmlns:a="http://schemas.openxmlformats.org/drawingml/2006/main" noChangeAspect="1"/>
          </p:cNvPicPr>
          <p:nvPr/>
        </p:nvPicPr>
        <p:blipFill>
          <a:blip xmlns:r="http://schemas.openxmlformats.org/officeDocument/2006/relationships" xmlns:a="http://schemas.openxmlformats.org/drawingml/2006/main" r:embed="R2d8ee5355d4f4735"/>
          <a:stretch xmlns:a="http://schemas.openxmlformats.org/drawingml/2006/main"/>
        </p:blipFill>
        <p:spPr>
          <a:xfrm xmlns:a="http://schemas.openxmlformats.org/drawingml/2006/main">
            <a:off x="1447800" y="10477500"/>
            <a:ext cx="12344400" cy="77152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CC4CA50-2469-49EA-81F7-D429378DEEDE}"/>
              </a:ext>
            </a:extLst>
          </p:cNvPr>
          <p:cNvSpPr>
            <a:spLocks xmlns:a="http://schemas.openxmlformats.org/drawingml/2006/main" noGrp="1"/>
          </p:cNvSpPr>
          <p:nvPr/>
        </p:nvSpPr>
        <p:spPr>
          <a:xfrm xmlns:a="http://schemas.openxmlformats.org/drawingml/2006/main">
            <a:off x="762000" y="18383250"/>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4B606D"/>
                </a:solidFill>
                <a:latin typeface="Arial"/>
                <a:ea typeface="Arial"/>
                <a:cs typeface="Arial"/>
              </a:defRPr>
            </a:defPPr>
          </a:lstStyle>
          <a:p xmlns:a="http://schemas.openxmlformats.org/drawingml/2006/main">
            <a:pPr>
              <a:defRPr sz="2250" b="1">
                <a:solidFill>
                  <a:srgbClr val="4B606D"/>
                </a:solidFill>
                <a:latin typeface="Arial"/>
                <a:ea typeface="Arial"/>
                <a:cs typeface="Arial"/>
              </a:defRPr>
            </a:pPr>
            <a:r>
              <a:rPr sz="2250" b="1">
                <a:solidFill>
                  <a:srgbClr val="4B606D"/>
                </a:solidFill>
                <a:latin typeface="Arial"/>
                <a:ea typeface="Arial"/>
                <a:cs typeface="Arial"/>
              </a:rPr>
              <a:t>Scrolling changes the view. It does not authorize a new computation.</a:t>
            </a:r>
          </a:p>
        </p:txBody>
      </p:sp>
    </p:spTree>
    <p:extLst>
      <p:ext uri="{BB962C8B-B14F-4D97-AF65-F5344CB8AC3E}">
        <p14:creationId xmlns:p14="http://schemas.microsoft.com/office/powerpoint/2010/main" val="4870837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52A5B5B-E1A9-4EB8-BE1E-2E77CD762C4D}"/>
              </a:ext>
            </a:extLst>
          </p:cNvPr>
          <p:cNvSpPr>
            <a:spLocks xmlns:a="http://schemas.openxmlformats.org/drawingml/2006/main" noGrp="1"/>
          </p:cNvSpPr>
          <p:nvPr/>
        </p:nvSpPr>
        <p:spPr>
          <a:xfrm xmlns:a="http://schemas.openxmlformats.org/drawingml/2006/main">
            <a:off x="762000" y="361950"/>
            <a:ext cx="1323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4B606D"/>
                </a:solidFill>
                <a:latin typeface="Arial"/>
                <a:ea typeface="Arial"/>
                <a:cs typeface="Arial"/>
              </a:defRPr>
            </a:defPPr>
          </a:lstStyle>
          <a:p xmlns:a="http://schemas.openxmlformats.org/drawingml/2006/main">
            <a:pPr>
              <a:defRPr sz="1725" b="1">
                <a:solidFill>
                  <a:srgbClr val="4B606D"/>
                </a:solidFill>
                <a:latin typeface="Arial"/>
                <a:ea typeface="Arial"/>
                <a:cs typeface="Arial"/>
              </a:defRPr>
            </a:pPr>
            <a:r>
              <a:rPr sz="1725" b="1">
                <a:solidFill>
                  <a:srgbClr val="4B606D"/>
                </a:solidFill>
                <a:latin typeface="Arial"/>
                <a:ea typeface="Arial"/>
                <a:cs typeface="Arial"/>
              </a:rPr>
              <a:t>ENZORA  /  USER GUIDE</a:t>
            </a:r>
          </a:p>
        </p:txBody>
      </p:sp>
      <p:sp>
        <p:nvSpPr>
          <p:cNvPr id="2" name="">
            <a:extLst xmlns:a="http://schemas.openxmlformats.org/drawingml/2006/main">
              <a:ext uri="{FF2B5EF4-FFF2-40B4-BE49-F238E27FC236}">
                <a16:creationId xmlns:a16="http://schemas.microsoft.com/office/drawing/2014/main" id="{59967713-7203-4F7B-BE19-A26112387666}"/>
              </a:ext>
            </a:extLst>
          </p:cNvPr>
          <p:cNvSpPr>
            <a:spLocks xmlns:a="http://schemas.openxmlformats.org/drawingml/2006/main" noGrp="1"/>
          </p:cNvSpPr>
          <p:nvPr/>
        </p:nvSpPr>
        <p:spPr>
          <a:xfrm xmlns:a="http://schemas.openxmlformats.org/drawingml/2006/main">
            <a:off x="762000" y="952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20333D"/>
                </a:solidFill>
                <a:latin typeface="Arial"/>
                <a:ea typeface="Arial"/>
                <a:cs typeface="Arial"/>
              </a:defRPr>
            </a:defPPr>
          </a:lstStyle>
          <a:p xmlns:a="http://schemas.openxmlformats.org/drawingml/2006/main">
            <a:pPr>
              <a:defRPr sz="4875" b="1">
                <a:solidFill>
                  <a:srgbClr val="20333D"/>
                </a:solidFill>
                <a:latin typeface="Arial"/>
                <a:ea typeface="Arial"/>
                <a:cs typeface="Arial"/>
              </a:defRPr>
            </a:pPr>
            <a:r>
              <a:rPr sz="4875" b="1">
                <a:solidFill>
                  <a:srgbClr val="20333D"/>
                </a:solidFill>
                <a:latin typeface="Arial"/>
                <a:ea typeface="Arial"/>
                <a:cs typeface="Arial"/>
              </a:rPr>
              <a:t>3. Enzyme and substrate inputs</a:t>
            </a:r>
          </a:p>
        </p:txBody>
      </p:sp>
      <p:sp>
        <p:nvSpPr>
          <p:cNvPr id="3" name="">
            <a:extLst xmlns:a="http://schemas.openxmlformats.org/drawingml/2006/main">
              <a:ext uri="{FF2B5EF4-FFF2-40B4-BE49-F238E27FC236}">
                <a16:creationId xmlns:a16="http://schemas.microsoft.com/office/drawing/2014/main" id="{81D42A51-3C77-4C78-89DF-A8DBF2B5137B}"/>
              </a:ext>
            </a:extLst>
          </p:cNvPr>
          <p:cNvSpPr>
            <a:spLocks xmlns:a="http://schemas.openxmlformats.org/drawingml/2006/main" noGrp="1"/>
          </p:cNvSpPr>
          <p:nvPr/>
        </p:nvSpPr>
        <p:spPr>
          <a:xfrm xmlns:a="http://schemas.openxmlformats.org/drawingml/2006/main">
            <a:off x="762000" y="2524125"/>
            <a:ext cx="1371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Check the protein identity before starting a run</a:t>
            </a:r>
          </a:p>
        </p:txBody>
      </p:sp>
      <p:sp>
        <p:nvSpPr>
          <p:cNvPr id="4" name="">
            <a:extLst xmlns:a="http://schemas.openxmlformats.org/drawingml/2006/main">
              <a:ext uri="{FF2B5EF4-FFF2-40B4-BE49-F238E27FC236}">
                <a16:creationId xmlns:a16="http://schemas.microsoft.com/office/drawing/2014/main" id="{2BE4BA06-9960-4187-A64C-B48FA9745CCF}"/>
              </a:ext>
            </a:extLst>
          </p:cNvPr>
          <p:cNvSpPr>
            <a:spLocks xmlns:a="http://schemas.openxmlformats.org/drawingml/2006/main" noGrp="1"/>
          </p:cNvSpPr>
          <p:nvPr/>
        </p:nvSpPr>
        <p:spPr>
          <a:xfrm xmlns:a="http://schemas.openxmlformats.org/drawingml/2006/main">
            <a:off x="762000" y="19240500"/>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4B606D"/>
                </a:solidFill>
                <a:latin typeface="Arial"/>
                <a:ea typeface="Arial"/>
                <a:cs typeface="Arial"/>
              </a:defRPr>
            </a:defPPr>
          </a:lstStyle>
          <a:p xmlns:a="http://schemas.openxmlformats.org/drawingml/2006/main">
            <a:pPr>
              <a:defRPr sz="1650" b="1">
                <a:solidFill>
                  <a:srgbClr val="4B606D"/>
                </a:solidFill>
                <a:latin typeface="Arial"/>
                <a:ea typeface="Arial"/>
                <a:cs typeface="Arial"/>
              </a:defRPr>
            </a:pPr>
            <a:r>
              <a:rPr sz="1650" b="1">
                <a:solidFill>
                  <a:srgbClr val="4B606D"/>
                </a:solidFill>
                <a:latin typeface="Arial"/>
                <a:ea typeface="Arial"/>
                <a:cs typeface="Arial"/>
              </a:rPr>
              <a:t>Enzora web platform • 16 October 2026</a:t>
            </a:r>
          </a:p>
        </p:txBody>
      </p:sp>
      <p:sp>
        <p:nvSpPr>
          <p:cNvPr id="5" name="">
            <a:extLst xmlns:a="http://schemas.openxmlformats.org/drawingml/2006/main">
              <a:ext uri="{FF2B5EF4-FFF2-40B4-BE49-F238E27FC236}">
                <a16:creationId xmlns:a16="http://schemas.microsoft.com/office/drawing/2014/main" id="{30101679-F816-462B-9276-721DFBF1C127}"/>
              </a:ext>
            </a:extLst>
          </p:cNvPr>
          <p:cNvSpPr>
            <a:spLocks xmlns:a="http://schemas.openxmlformats.org/drawingml/2006/main" noGrp="1"/>
          </p:cNvSpPr>
          <p:nvPr/>
        </p:nvSpPr>
        <p:spPr>
          <a:xfrm xmlns:a="http://schemas.openxmlformats.org/drawingml/2006/main">
            <a:off x="13811250" y="19240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4B606D"/>
                </a:solidFill>
                <a:latin typeface="Arial"/>
                <a:ea typeface="Arial"/>
                <a:cs typeface="Arial"/>
              </a:defRPr>
            </a:defPPr>
          </a:lstStyle>
          <a:p xmlns:a="http://schemas.openxmlformats.org/drawingml/2006/main">
            <a:pPr>
              <a:defRPr sz="1800" b="1">
                <a:solidFill>
                  <a:srgbClr val="4B606D"/>
                </a:solidFill>
                <a:latin typeface="Arial"/>
                <a:ea typeface="Arial"/>
                <a:cs typeface="Arial"/>
              </a:defRPr>
            </a:pPr>
            <a:r>
              <a:rPr sz="1800" b="1">
                <a:solidFill>
                  <a:srgbClr val="4B606D"/>
                </a:solidFill>
                <a:latin typeface="Arial"/>
                <a:ea typeface="Arial"/>
                <a:cs typeface="Arial"/>
              </a:rPr>
              <a:t>4</a:t>
            </a:r>
          </a:p>
        </p:txBody>
      </p:sp>
      <p:sp>
        <p:nvSpPr>
          <p:cNvPr id="6" name="">
            <a:extLst xmlns:a="http://schemas.openxmlformats.org/drawingml/2006/main">
              <a:ext uri="{FF2B5EF4-FFF2-40B4-BE49-F238E27FC236}">
                <a16:creationId xmlns:a16="http://schemas.microsoft.com/office/drawing/2014/main" id="{3E41E61A-B015-4D1C-A736-2987077C65DB}"/>
              </a:ext>
            </a:extLst>
          </p:cNvPr>
          <p:cNvSpPr>
            <a:spLocks xmlns:a="http://schemas.openxmlformats.org/drawingml/2006/main" noGrp="1"/>
          </p:cNvSpPr>
          <p:nvPr/>
        </p:nvSpPr>
        <p:spPr>
          <a:xfrm xmlns:a="http://schemas.openxmlformats.org/drawingml/2006/main">
            <a:off x="762000" y="409575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Protein sequence</a:t>
            </a:r>
          </a:p>
        </p:txBody>
      </p:sp>
      <p:sp>
        <p:nvSpPr>
          <p:cNvPr id="7" name="">
            <a:extLst xmlns:a="http://schemas.openxmlformats.org/drawingml/2006/main">
              <a:ext uri="{FF2B5EF4-FFF2-40B4-BE49-F238E27FC236}">
                <a16:creationId xmlns:a16="http://schemas.microsoft.com/office/drawing/2014/main" id="{E2D75758-E44B-4620-8BB7-BAEA34DDE7E9}"/>
              </a:ext>
            </a:extLst>
          </p:cNvPr>
          <p:cNvSpPr>
            <a:spLocks xmlns:a="http://schemas.openxmlformats.org/drawingml/2006/main" noGrp="1"/>
          </p:cNvSpPr>
          <p:nvPr/>
        </p:nvSpPr>
        <p:spPr>
          <a:xfrm xmlns:a="http://schemas.openxmlformats.org/drawingml/2006/main">
            <a:off x="762000" y="4762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Paste a canonical amino-acid sequence or use FASTA / DNA / Database import. The joint workflow accepts 1–1,000 residues. Translate DNA/RNA and confirm the protein before submission.</a:t>
            </a:r>
          </a:p>
        </p:txBody>
      </p:sp>
      <p:sp>
        <p:nvSpPr>
          <p:cNvPr id="8" name="">
            <a:extLst xmlns:a="http://schemas.openxmlformats.org/drawingml/2006/main">
              <a:ext uri="{FF2B5EF4-FFF2-40B4-BE49-F238E27FC236}">
                <a16:creationId xmlns:a16="http://schemas.microsoft.com/office/drawing/2014/main" id="{384715A1-3B02-474B-828C-8E787DA9E6B0}"/>
              </a:ext>
            </a:extLst>
          </p:cNvPr>
          <p:cNvSpPr>
            <a:spLocks xmlns:a="http://schemas.openxmlformats.org/drawingml/2006/main" noGrp="1"/>
          </p:cNvSpPr>
          <p:nvPr/>
        </p:nvSpPr>
        <p:spPr>
          <a:xfrm xmlns:a="http://schemas.openxmlformats.org/drawingml/2006/main">
            <a:off x="762000" y="733425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Substrate SMILES</a:t>
            </a:r>
          </a:p>
        </p:txBody>
      </p:sp>
      <p:sp>
        <p:nvSpPr>
          <p:cNvPr id="9" name="">
            <a:extLst xmlns:a="http://schemas.openxmlformats.org/drawingml/2006/main">
              <a:ext uri="{FF2B5EF4-FFF2-40B4-BE49-F238E27FC236}">
                <a16:creationId xmlns:a16="http://schemas.microsoft.com/office/drawing/2014/main" id="{DADEB93C-B5D2-427F-97AF-9F163A8590E5}"/>
              </a:ext>
            </a:extLst>
          </p:cNvPr>
          <p:cNvSpPr>
            <a:spLocks xmlns:a="http://schemas.openxmlformats.org/drawingml/2006/main" noGrp="1"/>
          </p:cNvSpPr>
          <p:nvPr/>
        </p:nvSpPr>
        <p:spPr>
          <a:xfrm xmlns:a="http://schemas.openxmlformats.org/drawingml/2006/main">
            <a:off x="762000" y="80010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PHENOM needs an enzyme–substrate pair. For the carbonic anhydrase example, carbon dioxide is O=C=O. A pH target alone does not replace the substrate.</a:t>
            </a:r>
          </a:p>
        </p:txBody>
      </p:sp>
      <p:sp>
        <p:nvSpPr>
          <p:cNvPr id="10" name="">
            <a:extLst xmlns:a="http://schemas.openxmlformats.org/drawingml/2006/main">
              <a:ext uri="{FF2B5EF4-FFF2-40B4-BE49-F238E27FC236}">
                <a16:creationId xmlns:a16="http://schemas.microsoft.com/office/drawing/2014/main" id="{B244CBC8-4262-48DE-9793-1351EC0DF62D}"/>
              </a:ext>
            </a:extLst>
          </p:cNvPr>
          <p:cNvSpPr>
            <a:spLocks xmlns:a="http://schemas.openxmlformats.org/drawingml/2006/main" noGrp="1"/>
          </p:cNvSpPr>
          <p:nvPr/>
        </p:nvSpPr>
        <p:spPr>
          <a:xfrm xmlns:a="http://schemas.openxmlformats.org/drawingml/2006/main">
            <a:off x="762000" y="1057275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Files and the unified object</a:t>
            </a:r>
          </a:p>
        </p:txBody>
      </p:sp>
      <p:sp>
        <p:nvSpPr>
          <p:cNvPr id="11" name="">
            <a:extLst xmlns:a="http://schemas.openxmlformats.org/drawingml/2006/main">
              <a:ext uri="{FF2B5EF4-FFF2-40B4-BE49-F238E27FC236}">
                <a16:creationId xmlns:a16="http://schemas.microsoft.com/office/drawing/2014/main" id="{50B5D98F-C3B4-4C2A-AEB4-C13335662DD6}"/>
              </a:ext>
            </a:extLst>
          </p:cNvPr>
          <p:cNvSpPr>
            <a:spLocks xmlns:a="http://schemas.openxmlformats.org/drawingml/2006/main" noGrp="1"/>
          </p:cNvSpPr>
          <p:nvPr/>
        </p:nvSpPr>
        <p:spPr>
          <a:xfrm xmlns:a="http://schemas.openxmlformats.org/drawingml/2006/main">
            <a:off x="762000" y="11239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The import route accepts FASTA, CSV, BioArtifact JSON, GenBank and sequence-bearing SBOL. Review the parsed records and choose the intended protein. The file-entry limit is 100 records.</a:t>
            </a:r>
          </a:p>
        </p:txBody>
      </p:sp>
      <p:sp>
        <p:nvSpPr>
          <p:cNvPr id="12" name="">
            <a:extLst xmlns:a="http://schemas.openxmlformats.org/drawingml/2006/main">
              <a:ext uri="{FF2B5EF4-FFF2-40B4-BE49-F238E27FC236}">
                <a16:creationId xmlns:a16="http://schemas.microsoft.com/office/drawing/2014/main" id="{B8D7992C-DFE8-40EC-81DE-D37D3E78C4BE}"/>
              </a:ext>
            </a:extLst>
          </p:cNvPr>
          <p:cNvSpPr>
            <a:spLocks xmlns:a="http://schemas.openxmlformats.org/drawingml/2006/main" noGrp="1"/>
          </p:cNvSpPr>
          <p:nvPr/>
        </p:nvSpPr>
        <p:spPr>
          <a:xfrm xmlns:a="http://schemas.openxmlformats.org/drawingml/2006/main">
            <a:off x="762000" y="1381125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Structure correspondence</a:t>
            </a:r>
          </a:p>
        </p:txBody>
      </p:sp>
      <p:sp>
        <p:nvSpPr>
          <p:cNvPr id="13" name="">
            <a:extLst xmlns:a="http://schemas.openxmlformats.org/drawingml/2006/main">
              <a:ext uri="{FF2B5EF4-FFF2-40B4-BE49-F238E27FC236}">
                <a16:creationId xmlns:a16="http://schemas.microsoft.com/office/drawing/2014/main" id="{E3F4798F-A015-42FB-AF91-5232A6E28AAA}"/>
              </a:ext>
            </a:extLst>
          </p:cNvPr>
          <p:cNvSpPr>
            <a:spLocks xmlns:a="http://schemas.openxmlformats.org/drawingml/2006/main" noGrp="1"/>
          </p:cNvSpPr>
          <p:nvPr/>
        </p:nvSpPr>
        <p:spPr>
          <a:xfrm xmlns:a="http://schemas.openxmlformats.org/drawingml/2006/main">
            <a:off x="762000" y="144780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The inverse-folding path needs the configured structure and chain to match the WT. Use a matching structure or ask the administrator to verify the mapping before a new enzyme is run.</a:t>
            </a:r>
          </a:p>
        </p:txBody>
      </p:sp>
      <p:sp>
        <p:nvSpPr>
          <p:cNvPr id="14" name="">
            <a:extLst xmlns:a="http://schemas.openxmlformats.org/drawingml/2006/main">
              <a:ext uri="{FF2B5EF4-FFF2-40B4-BE49-F238E27FC236}">
                <a16:creationId xmlns:a16="http://schemas.microsoft.com/office/drawing/2014/main" id="{9A57EC60-F2C0-40B7-BFA2-62D9A724B31F}"/>
              </a:ext>
            </a:extLst>
          </p:cNvPr>
          <p:cNvSpPr>
            <a:spLocks xmlns:a="http://schemas.openxmlformats.org/drawingml/2006/main" noGrp="1"/>
          </p:cNvSpPr>
          <p:nvPr/>
        </p:nvSpPr>
        <p:spPr>
          <a:xfrm xmlns:a="http://schemas.openxmlformats.org/drawingml/2006/main">
            <a:off x="762000" y="17335500"/>
            <a:ext cx="1371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20333D"/>
                </a:solidFill>
                <a:latin typeface="Arial"/>
                <a:ea typeface="Arial"/>
                <a:cs typeface="Arial"/>
              </a:defRPr>
            </a:defPPr>
          </a:lstStyle>
          <a:p xmlns:a="http://schemas.openxmlformats.org/drawingml/2006/main">
            <a:pPr>
              <a:defRPr sz="2625" b="1">
                <a:solidFill>
                  <a:srgbClr val="20333D"/>
                </a:solidFill>
                <a:latin typeface="Arial"/>
                <a:ea typeface="Arial"/>
                <a:cs typeface="Arial"/>
              </a:defRPr>
            </a:pPr>
            <a:r>
              <a:rPr sz="2625" b="1">
                <a:solidFill>
                  <a:srgbClr val="20333D"/>
                </a:solidFill>
                <a:latin typeface="Arial"/>
                <a:ea typeface="Arial"/>
                <a:cs typeface="Arial"/>
              </a:rPr>
              <a:t>Keep the original protein identifier. It links mutations, model predictions and exported files.</a:t>
            </a:r>
          </a:p>
        </p:txBody>
      </p:sp>
    </p:spTree>
    <p:extLst>
      <p:ext uri="{BB962C8B-B14F-4D97-AF65-F5344CB8AC3E}">
        <p14:creationId xmlns:p14="http://schemas.microsoft.com/office/powerpoint/2010/main" val="1298737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6AFFA3F-26D4-4A79-8A20-C62F6DDED3D3}"/>
              </a:ext>
            </a:extLst>
          </p:cNvPr>
          <p:cNvSpPr>
            <a:spLocks xmlns:a="http://schemas.openxmlformats.org/drawingml/2006/main" noGrp="1"/>
          </p:cNvSpPr>
          <p:nvPr/>
        </p:nvSpPr>
        <p:spPr>
          <a:xfrm xmlns:a="http://schemas.openxmlformats.org/drawingml/2006/main">
            <a:off x="762000" y="361950"/>
            <a:ext cx="1323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4B606D"/>
                </a:solidFill>
                <a:latin typeface="Arial"/>
                <a:ea typeface="Arial"/>
                <a:cs typeface="Arial"/>
              </a:defRPr>
            </a:defPPr>
          </a:lstStyle>
          <a:p xmlns:a="http://schemas.openxmlformats.org/drawingml/2006/main">
            <a:pPr>
              <a:defRPr sz="1725" b="1">
                <a:solidFill>
                  <a:srgbClr val="4B606D"/>
                </a:solidFill>
                <a:latin typeface="Arial"/>
                <a:ea typeface="Arial"/>
                <a:cs typeface="Arial"/>
              </a:defRPr>
            </a:pPr>
            <a:r>
              <a:rPr sz="1725" b="1">
                <a:solidFill>
                  <a:srgbClr val="4B606D"/>
                </a:solidFill>
                <a:latin typeface="Arial"/>
                <a:ea typeface="Arial"/>
                <a:cs typeface="Arial"/>
              </a:rPr>
              <a:t>ENZORA  /  USER GUIDE</a:t>
            </a:r>
          </a:p>
        </p:txBody>
      </p:sp>
      <p:sp>
        <p:nvSpPr>
          <p:cNvPr id="2" name="">
            <a:extLst xmlns:a="http://schemas.openxmlformats.org/drawingml/2006/main">
              <a:ext uri="{FF2B5EF4-FFF2-40B4-BE49-F238E27FC236}">
                <a16:creationId xmlns:a16="http://schemas.microsoft.com/office/drawing/2014/main" id="{23949649-97BA-41C2-9C50-1B87D33FB6B4}"/>
              </a:ext>
            </a:extLst>
          </p:cNvPr>
          <p:cNvSpPr>
            <a:spLocks xmlns:a="http://schemas.openxmlformats.org/drawingml/2006/main" noGrp="1"/>
          </p:cNvSpPr>
          <p:nvPr/>
        </p:nvSpPr>
        <p:spPr>
          <a:xfrm xmlns:a="http://schemas.openxmlformats.org/drawingml/2006/main">
            <a:off x="762000" y="952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20333D"/>
                </a:solidFill>
                <a:latin typeface="Arial"/>
                <a:ea typeface="Arial"/>
                <a:cs typeface="Arial"/>
              </a:defRPr>
            </a:defPPr>
          </a:lstStyle>
          <a:p xmlns:a="http://schemas.openxmlformats.org/drawingml/2006/main">
            <a:pPr>
              <a:defRPr sz="4875" b="1">
                <a:solidFill>
                  <a:srgbClr val="20333D"/>
                </a:solidFill>
                <a:latin typeface="Arial"/>
                <a:ea typeface="Arial"/>
                <a:cs typeface="Arial"/>
              </a:defRPr>
            </a:pPr>
            <a:r>
              <a:rPr sz="4875" b="1">
                <a:solidFill>
                  <a:srgbClr val="20333D"/>
                </a:solidFill>
                <a:latin typeface="Arial"/>
                <a:ea typeface="Arial"/>
                <a:cs typeface="Arial"/>
              </a:rPr>
              <a:t>4. Library settings</a:t>
            </a:r>
          </a:p>
        </p:txBody>
      </p:sp>
      <p:sp>
        <p:nvSpPr>
          <p:cNvPr id="3" name="">
            <a:extLst xmlns:a="http://schemas.openxmlformats.org/drawingml/2006/main">
              <a:ext uri="{FF2B5EF4-FFF2-40B4-BE49-F238E27FC236}">
                <a16:creationId xmlns:a16="http://schemas.microsoft.com/office/drawing/2014/main" id="{A6DD2E6E-533E-46B5-B61E-E1F710BD463A}"/>
              </a:ext>
            </a:extLst>
          </p:cNvPr>
          <p:cNvSpPr>
            <a:spLocks xmlns:a="http://schemas.openxmlformats.org/drawingml/2006/main" noGrp="1"/>
          </p:cNvSpPr>
          <p:nvPr/>
        </p:nvSpPr>
        <p:spPr>
          <a:xfrm xmlns:a="http://schemas.openxmlformats.org/drawingml/2006/main">
            <a:off x="762000" y="2524125"/>
            <a:ext cx="1371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The budget controls how many unique variants enter screening</a:t>
            </a:r>
          </a:p>
        </p:txBody>
      </p:sp>
      <p:sp>
        <p:nvSpPr>
          <p:cNvPr id="4" name="">
            <a:extLst xmlns:a="http://schemas.openxmlformats.org/drawingml/2006/main">
              <a:ext uri="{FF2B5EF4-FFF2-40B4-BE49-F238E27FC236}">
                <a16:creationId xmlns:a16="http://schemas.microsoft.com/office/drawing/2014/main" id="{7354BBBA-B5AC-4847-8530-D75479846304}"/>
              </a:ext>
            </a:extLst>
          </p:cNvPr>
          <p:cNvSpPr>
            <a:spLocks xmlns:a="http://schemas.openxmlformats.org/drawingml/2006/main" noGrp="1"/>
          </p:cNvSpPr>
          <p:nvPr/>
        </p:nvSpPr>
        <p:spPr>
          <a:xfrm xmlns:a="http://schemas.openxmlformats.org/drawingml/2006/main">
            <a:off x="762000" y="19240500"/>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4B606D"/>
                </a:solidFill>
                <a:latin typeface="Arial"/>
                <a:ea typeface="Arial"/>
                <a:cs typeface="Arial"/>
              </a:defRPr>
            </a:defPPr>
          </a:lstStyle>
          <a:p xmlns:a="http://schemas.openxmlformats.org/drawingml/2006/main">
            <a:pPr>
              <a:defRPr sz="1650" b="1">
                <a:solidFill>
                  <a:srgbClr val="4B606D"/>
                </a:solidFill>
                <a:latin typeface="Arial"/>
                <a:ea typeface="Arial"/>
                <a:cs typeface="Arial"/>
              </a:defRPr>
            </a:pPr>
            <a:r>
              <a:rPr sz="1650" b="1">
                <a:solidFill>
                  <a:srgbClr val="4B606D"/>
                </a:solidFill>
                <a:latin typeface="Arial"/>
                <a:ea typeface="Arial"/>
                <a:cs typeface="Arial"/>
              </a:rPr>
              <a:t>Enzora web platform • 16 October 2026</a:t>
            </a:r>
          </a:p>
        </p:txBody>
      </p:sp>
      <p:sp>
        <p:nvSpPr>
          <p:cNvPr id="5" name="">
            <a:extLst xmlns:a="http://schemas.openxmlformats.org/drawingml/2006/main">
              <a:ext uri="{FF2B5EF4-FFF2-40B4-BE49-F238E27FC236}">
                <a16:creationId xmlns:a16="http://schemas.microsoft.com/office/drawing/2014/main" id="{762F1D74-D755-4220-944F-62375CD4D1B6}"/>
              </a:ext>
            </a:extLst>
          </p:cNvPr>
          <p:cNvSpPr>
            <a:spLocks xmlns:a="http://schemas.openxmlformats.org/drawingml/2006/main" noGrp="1"/>
          </p:cNvSpPr>
          <p:nvPr/>
        </p:nvSpPr>
        <p:spPr>
          <a:xfrm xmlns:a="http://schemas.openxmlformats.org/drawingml/2006/main">
            <a:off x="13811250" y="19240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4B606D"/>
                </a:solidFill>
                <a:latin typeface="Arial"/>
                <a:ea typeface="Arial"/>
                <a:cs typeface="Arial"/>
              </a:defRPr>
            </a:defPPr>
          </a:lstStyle>
          <a:p xmlns:a="http://schemas.openxmlformats.org/drawingml/2006/main">
            <a:pPr>
              <a:defRPr sz="1800" b="1">
                <a:solidFill>
                  <a:srgbClr val="4B606D"/>
                </a:solidFill>
                <a:latin typeface="Arial"/>
                <a:ea typeface="Arial"/>
                <a:cs typeface="Arial"/>
              </a:defRPr>
            </a:pPr>
            <a:r>
              <a:rPr sz="1800" b="1">
                <a:solidFill>
                  <a:srgbClr val="4B606D"/>
                </a:solidFill>
                <a:latin typeface="Arial"/>
                <a:ea typeface="Arial"/>
                <a:cs typeface="Arial"/>
              </a:rPr>
              <a:t>5</a:t>
            </a:r>
          </a:p>
        </p:txBody>
      </p:sp>
      <p:sp>
        <p:nvSpPr>
          <p:cNvPr id="6" name="">
            <a:extLst xmlns:a="http://schemas.openxmlformats.org/drawingml/2006/main">
              <a:ext uri="{FF2B5EF4-FFF2-40B4-BE49-F238E27FC236}">
                <a16:creationId xmlns:a16="http://schemas.microsoft.com/office/drawing/2014/main" id="{D0644BF6-7F4B-46C6-935C-9D41D723FED9}"/>
              </a:ext>
            </a:extLst>
          </p:cNvPr>
          <p:cNvSpPr>
            <a:spLocks xmlns:a="http://schemas.openxmlformats.org/drawingml/2006/main" noGrp="1"/>
          </p:cNvSpPr>
          <p:nvPr/>
        </p:nvSpPr>
        <p:spPr>
          <a:xfrm xmlns:a="http://schemas.openxmlformats.org/drawingml/2006/main">
            <a:off x="762000" y="404812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Budget, mutation order and Top-K</a:t>
            </a:r>
          </a:p>
        </p:txBody>
      </p:sp>
      <p:sp>
        <p:nvSpPr>
          <p:cNvPr id="7" name="">
            <a:extLst xmlns:a="http://schemas.openxmlformats.org/drawingml/2006/main">
              <a:ext uri="{FF2B5EF4-FFF2-40B4-BE49-F238E27FC236}">
                <a16:creationId xmlns:a16="http://schemas.microsoft.com/office/drawing/2014/main" id="{244DE85D-FC69-434D-93E2-062E40012AD3}"/>
              </a:ext>
            </a:extLst>
          </p:cNvPr>
          <p:cNvSpPr>
            <a:spLocks xmlns:a="http://schemas.openxmlformats.org/drawingml/2006/main" noGrp="1"/>
          </p:cNvSpPr>
          <p:nvPr/>
        </p:nvSpPr>
        <p:spPr>
          <a:xfrm xmlns:a="http://schemas.openxmlformats.org/drawingml/2006/main">
            <a:off x="762000" y="4714875"/>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The default library contains 1,000 single mutants, with five final candidates. The Settings tab changes library size, mutation order and Top-K. A double mutant changes two distinct residues.</a:t>
            </a:r>
          </a:p>
        </p:txBody>
      </p:sp>
      <p:pic>
        <p:nvPicPr>
          <p:cNvPr id="8" name="">
            <a:extLst xmlns:a="http://schemas.openxmlformats.org/drawingml/2006/main">
              <a:ext uri="{FF2B5EF4-FFF2-40B4-BE49-F238E27FC236}">
                <a16:creationId xmlns:a16="http://schemas.microsoft.com/office/drawing/2014/main" id="{D871AEAE-ADE9-4E35-BD1A-9F4F08ED4303}"/>
              </a:ext>
            </a:extLst>
          </p:cNvPr>
          <p:cNvPicPr>
            <a:picLocks xmlns:a="http://schemas.openxmlformats.org/drawingml/2006/main" noChangeAspect="1"/>
          </p:cNvPicPr>
          <p:nvPr/>
        </p:nvPicPr>
        <p:blipFill>
          <a:blip xmlns:r="http://schemas.openxmlformats.org/officeDocument/2006/relationships" xmlns:a="http://schemas.openxmlformats.org/drawingml/2006/main" r:embed="R9e949af572214be1"/>
          <a:stretch xmlns:a="http://schemas.openxmlformats.org/drawingml/2006/main"/>
        </p:blipFill>
        <p:spPr>
          <a:xfrm xmlns:a="http://schemas.openxmlformats.org/drawingml/2006/main">
            <a:off x="762000" y="7239000"/>
            <a:ext cx="13716000" cy="8572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7926B7A-C435-4AA3-8CF7-3EAFA5A92C61}"/>
              </a:ext>
            </a:extLst>
          </p:cNvPr>
          <p:cNvSpPr>
            <a:spLocks xmlns:a="http://schemas.openxmlformats.org/drawingml/2006/main" noGrp="1"/>
          </p:cNvSpPr>
          <p:nvPr/>
        </p:nvSpPr>
        <p:spPr>
          <a:xfrm xmlns:a="http://schemas.openxmlformats.org/drawingml/2006/main">
            <a:off x="762000" y="1638300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Advanced restrictions</a:t>
            </a:r>
          </a:p>
        </p:txBody>
      </p:sp>
      <p:sp>
        <p:nvSpPr>
          <p:cNvPr id="10" name="">
            <a:extLst xmlns:a="http://schemas.openxmlformats.org/drawingml/2006/main">
              <a:ext uri="{FF2B5EF4-FFF2-40B4-BE49-F238E27FC236}">
                <a16:creationId xmlns:a16="http://schemas.microsoft.com/office/drawing/2014/main" id="{BA02BC1E-F4F4-4B30-9F05-70AB8EB8C76B}"/>
              </a:ext>
            </a:extLst>
          </p:cNvPr>
          <p:cNvSpPr>
            <a:spLocks xmlns:a="http://schemas.openxmlformats.org/drawingml/2006/main" noGrp="1"/>
          </p:cNvSpPr>
          <p:nvPr/>
        </p:nvSpPr>
        <p:spPr>
          <a:xfrm xmlns:a="http://schemas.openxmlformats.org/drawingml/2006/main">
            <a:off x="762000" y="170497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Allowed/excluded positions and mutation-order quotas are request fields. Review them in the preparation/parameter preview when used. Quotas must sum to the library size.</a:t>
            </a:r>
          </a:p>
        </p:txBody>
      </p:sp>
    </p:spTree>
    <p:extLst>
      <p:ext uri="{BB962C8B-B14F-4D97-AF65-F5344CB8AC3E}">
        <p14:creationId xmlns:p14="http://schemas.microsoft.com/office/powerpoint/2010/main" val="6285599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B3F8DF2-7DEA-4183-956B-6F1B914BA505}"/>
              </a:ext>
            </a:extLst>
          </p:cNvPr>
          <p:cNvSpPr>
            <a:spLocks xmlns:a="http://schemas.openxmlformats.org/drawingml/2006/main" noGrp="1"/>
          </p:cNvSpPr>
          <p:nvPr/>
        </p:nvSpPr>
        <p:spPr>
          <a:xfrm xmlns:a="http://schemas.openxmlformats.org/drawingml/2006/main">
            <a:off x="762000" y="361950"/>
            <a:ext cx="1323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4B606D"/>
                </a:solidFill>
                <a:latin typeface="Arial"/>
                <a:ea typeface="Arial"/>
                <a:cs typeface="Arial"/>
              </a:defRPr>
            </a:defPPr>
          </a:lstStyle>
          <a:p xmlns:a="http://schemas.openxmlformats.org/drawingml/2006/main">
            <a:pPr>
              <a:defRPr sz="1725" b="1">
                <a:solidFill>
                  <a:srgbClr val="4B606D"/>
                </a:solidFill>
                <a:latin typeface="Arial"/>
                <a:ea typeface="Arial"/>
                <a:cs typeface="Arial"/>
              </a:defRPr>
            </a:pPr>
            <a:r>
              <a:rPr sz="1725" b="1">
                <a:solidFill>
                  <a:srgbClr val="4B606D"/>
                </a:solidFill>
                <a:latin typeface="Arial"/>
                <a:ea typeface="Arial"/>
                <a:cs typeface="Arial"/>
              </a:rPr>
              <a:t>ENZORA  /  USER GUIDE</a:t>
            </a:r>
          </a:p>
        </p:txBody>
      </p:sp>
      <p:sp>
        <p:nvSpPr>
          <p:cNvPr id="2" name="">
            <a:extLst xmlns:a="http://schemas.openxmlformats.org/drawingml/2006/main">
              <a:ext uri="{FF2B5EF4-FFF2-40B4-BE49-F238E27FC236}">
                <a16:creationId xmlns:a16="http://schemas.microsoft.com/office/drawing/2014/main" id="{8EB980C3-E11C-42CF-9B89-C223EC0EB8B6}"/>
              </a:ext>
            </a:extLst>
          </p:cNvPr>
          <p:cNvSpPr>
            <a:spLocks xmlns:a="http://schemas.openxmlformats.org/drawingml/2006/main" noGrp="1"/>
          </p:cNvSpPr>
          <p:nvPr/>
        </p:nvSpPr>
        <p:spPr>
          <a:xfrm xmlns:a="http://schemas.openxmlformats.org/drawingml/2006/main">
            <a:off x="762000" y="952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20333D"/>
                </a:solidFill>
                <a:latin typeface="Arial"/>
                <a:ea typeface="Arial"/>
                <a:cs typeface="Arial"/>
              </a:defRPr>
            </a:defPPr>
          </a:lstStyle>
          <a:p xmlns:a="http://schemas.openxmlformats.org/drawingml/2006/main">
            <a:pPr>
              <a:defRPr sz="4875" b="1">
                <a:solidFill>
                  <a:srgbClr val="20333D"/>
                </a:solidFill>
                <a:latin typeface="Arial"/>
                <a:ea typeface="Arial"/>
                <a:cs typeface="Arial"/>
              </a:defRPr>
            </a:pPr>
            <a:r>
              <a:rPr sz="4875" b="1">
                <a:solidFill>
                  <a:srgbClr val="20333D"/>
                </a:solidFill>
                <a:latin typeface="Arial"/>
                <a:ea typeface="Arial"/>
                <a:cs typeface="Arial"/>
              </a:rPr>
              <a:t>5. Construction progress and LLR</a:t>
            </a:r>
          </a:p>
        </p:txBody>
      </p:sp>
      <p:sp>
        <p:nvSpPr>
          <p:cNvPr id="3" name="">
            <a:extLst xmlns:a="http://schemas.openxmlformats.org/drawingml/2006/main">
              <a:ext uri="{FF2B5EF4-FFF2-40B4-BE49-F238E27FC236}">
                <a16:creationId xmlns:a16="http://schemas.microsoft.com/office/drawing/2014/main" id="{03005FCE-56E2-4D7C-8568-FC1FA14AB4D1}"/>
              </a:ext>
            </a:extLst>
          </p:cNvPr>
          <p:cNvSpPr>
            <a:spLocks xmlns:a="http://schemas.openxmlformats.org/drawingml/2006/main" noGrp="1"/>
          </p:cNvSpPr>
          <p:nvPr/>
        </p:nvSpPr>
        <p:spPr>
          <a:xfrm xmlns:a="http://schemas.openxmlformats.org/drawingml/2006/main">
            <a:off x="762000" y="2524125"/>
            <a:ext cx="1371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Saved records and model scores answer different questions</a:t>
            </a:r>
          </a:p>
        </p:txBody>
      </p:sp>
      <p:sp>
        <p:nvSpPr>
          <p:cNvPr id="4" name="">
            <a:extLst xmlns:a="http://schemas.openxmlformats.org/drawingml/2006/main">
              <a:ext uri="{FF2B5EF4-FFF2-40B4-BE49-F238E27FC236}">
                <a16:creationId xmlns:a16="http://schemas.microsoft.com/office/drawing/2014/main" id="{E01761BD-BB39-49AE-9F5A-38FDB309FE64}"/>
              </a:ext>
            </a:extLst>
          </p:cNvPr>
          <p:cNvSpPr>
            <a:spLocks xmlns:a="http://schemas.openxmlformats.org/drawingml/2006/main" noGrp="1"/>
          </p:cNvSpPr>
          <p:nvPr/>
        </p:nvSpPr>
        <p:spPr>
          <a:xfrm xmlns:a="http://schemas.openxmlformats.org/drawingml/2006/main">
            <a:off x="762000" y="19240500"/>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4B606D"/>
                </a:solidFill>
                <a:latin typeface="Arial"/>
                <a:ea typeface="Arial"/>
                <a:cs typeface="Arial"/>
              </a:defRPr>
            </a:defPPr>
          </a:lstStyle>
          <a:p xmlns:a="http://schemas.openxmlformats.org/drawingml/2006/main">
            <a:pPr>
              <a:defRPr sz="1650" b="1">
                <a:solidFill>
                  <a:srgbClr val="4B606D"/>
                </a:solidFill>
                <a:latin typeface="Arial"/>
                <a:ea typeface="Arial"/>
                <a:cs typeface="Arial"/>
              </a:defRPr>
            </a:pPr>
            <a:r>
              <a:rPr sz="1650" b="1">
                <a:solidFill>
                  <a:srgbClr val="4B606D"/>
                </a:solidFill>
                <a:latin typeface="Arial"/>
                <a:ea typeface="Arial"/>
                <a:cs typeface="Arial"/>
              </a:rPr>
              <a:t>Enzora web platform • 16 October 2026</a:t>
            </a:r>
          </a:p>
        </p:txBody>
      </p:sp>
      <p:sp>
        <p:nvSpPr>
          <p:cNvPr id="5" name="">
            <a:extLst xmlns:a="http://schemas.openxmlformats.org/drawingml/2006/main">
              <a:ext uri="{FF2B5EF4-FFF2-40B4-BE49-F238E27FC236}">
                <a16:creationId xmlns:a16="http://schemas.microsoft.com/office/drawing/2014/main" id="{E730327A-6817-4E66-82D7-01EF1A2F8E02}"/>
              </a:ext>
            </a:extLst>
          </p:cNvPr>
          <p:cNvSpPr>
            <a:spLocks xmlns:a="http://schemas.openxmlformats.org/drawingml/2006/main" noGrp="1"/>
          </p:cNvSpPr>
          <p:nvPr/>
        </p:nvSpPr>
        <p:spPr>
          <a:xfrm xmlns:a="http://schemas.openxmlformats.org/drawingml/2006/main">
            <a:off x="13811250" y="19240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4B606D"/>
                </a:solidFill>
                <a:latin typeface="Arial"/>
                <a:ea typeface="Arial"/>
                <a:cs typeface="Arial"/>
              </a:defRPr>
            </a:defPPr>
          </a:lstStyle>
          <a:p xmlns:a="http://schemas.openxmlformats.org/drawingml/2006/main">
            <a:pPr>
              <a:defRPr sz="1800" b="1">
                <a:solidFill>
                  <a:srgbClr val="4B606D"/>
                </a:solidFill>
                <a:latin typeface="Arial"/>
                <a:ea typeface="Arial"/>
                <a:cs typeface="Arial"/>
              </a:defRPr>
            </a:pPr>
            <a:r>
              <a:rPr sz="1800" b="1">
                <a:solidFill>
                  <a:srgbClr val="4B606D"/>
                </a:solidFill>
                <a:latin typeface="Arial"/>
                <a:ea typeface="Arial"/>
                <a:cs typeface="Arial"/>
              </a:rPr>
              <a:t>6</a:t>
            </a:r>
          </a:p>
        </p:txBody>
      </p:sp>
      <p:sp>
        <p:nvSpPr>
          <p:cNvPr id="6" name="">
            <a:extLst xmlns:a="http://schemas.openxmlformats.org/drawingml/2006/main">
              <a:ext uri="{FF2B5EF4-FFF2-40B4-BE49-F238E27FC236}">
                <a16:creationId xmlns:a16="http://schemas.microsoft.com/office/drawing/2014/main" id="{298AA8E1-E6A2-4D19-9A3D-44E84F6FA7D4}"/>
              </a:ext>
            </a:extLst>
          </p:cNvPr>
          <p:cNvSpPr>
            <a:spLocks xmlns:a="http://schemas.openxmlformats.org/drawingml/2006/main" noGrp="1"/>
          </p:cNvSpPr>
          <p:nvPr/>
        </p:nvSpPr>
        <p:spPr>
          <a:xfrm xmlns:a="http://schemas.openxmlformats.org/drawingml/2006/main">
            <a:off x="762000" y="404812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The circular counter</a:t>
            </a:r>
          </a:p>
        </p:txBody>
      </p:sp>
      <p:sp>
        <p:nvSpPr>
          <p:cNvPr id="7" name="">
            <a:extLst xmlns:a="http://schemas.openxmlformats.org/drawingml/2006/main">
              <a:ext uri="{FF2B5EF4-FFF2-40B4-BE49-F238E27FC236}">
                <a16:creationId xmlns:a16="http://schemas.microsoft.com/office/drawing/2014/main" id="{4E05CEAA-E058-43F8-83BA-71CE587DCC69}"/>
              </a:ext>
            </a:extLst>
          </p:cNvPr>
          <p:cNvSpPr>
            <a:spLocks xmlns:a="http://schemas.openxmlformats.org/drawingml/2006/main" noGrp="1"/>
          </p:cNvSpPr>
          <p:nvPr/>
        </p:nvSpPr>
        <p:spPr>
          <a:xfrm xmlns:a="http://schemas.openxmlformats.org/drawingml/2006/main">
            <a:off x="762000" y="4714875"/>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The ring tracks saved candidate sequences, not a benchmark of inference speed. Library completion enables Start Screening. Wait for completion before requesting the next computation.</a:t>
            </a:r>
          </a:p>
        </p:txBody>
      </p:sp>
      <p:pic>
        <p:nvPicPr>
          <p:cNvPr id="8" name="">
            <a:extLst xmlns:a="http://schemas.openxmlformats.org/drawingml/2006/main">
              <a:ext uri="{FF2B5EF4-FFF2-40B4-BE49-F238E27FC236}">
                <a16:creationId xmlns:a16="http://schemas.microsoft.com/office/drawing/2014/main" id="{FEE3200E-D3B4-48F8-804B-26C1A8832648}"/>
              </a:ext>
            </a:extLst>
          </p:cNvPr>
          <p:cNvPicPr>
            <a:picLocks xmlns:a="http://schemas.openxmlformats.org/drawingml/2006/main" noChangeAspect="1"/>
          </p:cNvPicPr>
          <p:nvPr/>
        </p:nvPicPr>
        <p:blipFill>
          <a:blip xmlns:r="http://schemas.openxmlformats.org/officeDocument/2006/relationships" xmlns:a="http://schemas.openxmlformats.org/drawingml/2006/main" r:embed="R11de17f8fd744fac"/>
          <a:stretch xmlns:a="http://schemas.openxmlformats.org/drawingml/2006/main"/>
        </p:blipFill>
        <p:spPr>
          <a:xfrm xmlns:a="http://schemas.openxmlformats.org/drawingml/2006/main">
            <a:off x="762000" y="7239000"/>
            <a:ext cx="13716000" cy="8572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D79EA68-3386-4FA8-BECC-6902F180A49E}"/>
              </a:ext>
            </a:extLst>
          </p:cNvPr>
          <p:cNvSpPr>
            <a:spLocks xmlns:a="http://schemas.openxmlformats.org/drawingml/2006/main" noGrp="1"/>
          </p:cNvSpPr>
          <p:nvPr/>
        </p:nvSpPr>
        <p:spPr>
          <a:xfrm xmlns:a="http://schemas.openxmlformats.org/drawingml/2006/main">
            <a:off x="762000" y="1628775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The LLR distribution and attribution bar</a:t>
            </a:r>
          </a:p>
        </p:txBody>
      </p:sp>
      <p:sp>
        <p:nvSpPr>
          <p:cNvPr id="10" name="">
            <a:extLst xmlns:a="http://schemas.openxmlformats.org/drawingml/2006/main">
              <a:ext uri="{FF2B5EF4-FFF2-40B4-BE49-F238E27FC236}">
                <a16:creationId xmlns:a16="http://schemas.microsoft.com/office/drawing/2014/main" id="{B379D331-23ED-45AB-80A4-168408FA3F2C}"/>
              </a:ext>
            </a:extLst>
          </p:cNvPr>
          <p:cNvSpPr>
            <a:spLocks xmlns:a="http://schemas.openxmlformats.org/drawingml/2006/main" noGrp="1"/>
          </p:cNvSpPr>
          <p:nvPr/>
        </p:nvSpPr>
        <p:spPr>
          <a:xfrm xmlns:a="http://schemas.openxmlformats.org/drawingml/2006/main">
            <a:off x="762000" y="16954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The curves show calibrated model scores for saved substitutions. The bar assigns each substitution to its lowest-scoring model; ties share credit. The five-second animation replays saved data.</a:t>
            </a:r>
          </a:p>
        </p:txBody>
      </p:sp>
    </p:spTree>
    <p:extLst>
      <p:ext uri="{BB962C8B-B14F-4D97-AF65-F5344CB8AC3E}">
        <p14:creationId xmlns:p14="http://schemas.microsoft.com/office/powerpoint/2010/main" val="18480091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005D130-5BDE-49BB-92B3-366655673C23}"/>
              </a:ext>
            </a:extLst>
          </p:cNvPr>
          <p:cNvSpPr>
            <a:spLocks xmlns:a="http://schemas.openxmlformats.org/drawingml/2006/main" noGrp="1"/>
          </p:cNvSpPr>
          <p:nvPr/>
        </p:nvSpPr>
        <p:spPr>
          <a:xfrm xmlns:a="http://schemas.openxmlformats.org/drawingml/2006/main">
            <a:off x="762000" y="361950"/>
            <a:ext cx="1323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4B606D"/>
                </a:solidFill>
                <a:latin typeface="Arial"/>
                <a:ea typeface="Arial"/>
                <a:cs typeface="Arial"/>
              </a:defRPr>
            </a:defPPr>
          </a:lstStyle>
          <a:p xmlns:a="http://schemas.openxmlformats.org/drawingml/2006/main">
            <a:pPr>
              <a:defRPr sz="1725" b="1">
                <a:solidFill>
                  <a:srgbClr val="4B606D"/>
                </a:solidFill>
                <a:latin typeface="Arial"/>
                <a:ea typeface="Arial"/>
                <a:cs typeface="Arial"/>
              </a:defRPr>
            </a:pPr>
            <a:r>
              <a:rPr sz="1725" b="1">
                <a:solidFill>
                  <a:srgbClr val="4B606D"/>
                </a:solidFill>
                <a:latin typeface="Arial"/>
                <a:ea typeface="Arial"/>
                <a:cs typeface="Arial"/>
              </a:rPr>
              <a:t>ENZORA  /  USER GUIDE</a:t>
            </a:r>
          </a:p>
        </p:txBody>
      </p:sp>
      <p:sp>
        <p:nvSpPr>
          <p:cNvPr id="2" name="">
            <a:extLst xmlns:a="http://schemas.openxmlformats.org/drawingml/2006/main">
              <a:ext uri="{FF2B5EF4-FFF2-40B4-BE49-F238E27FC236}">
                <a16:creationId xmlns:a16="http://schemas.microsoft.com/office/drawing/2014/main" id="{401A806F-4B08-45BF-8FFF-4DF507E603EC}"/>
              </a:ext>
            </a:extLst>
          </p:cNvPr>
          <p:cNvSpPr>
            <a:spLocks xmlns:a="http://schemas.openxmlformats.org/drawingml/2006/main" noGrp="1"/>
          </p:cNvSpPr>
          <p:nvPr/>
        </p:nvSpPr>
        <p:spPr>
          <a:xfrm xmlns:a="http://schemas.openxmlformats.org/drawingml/2006/main">
            <a:off x="762000" y="952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20333D"/>
                </a:solidFill>
                <a:latin typeface="Arial"/>
                <a:ea typeface="Arial"/>
                <a:cs typeface="Arial"/>
              </a:defRPr>
            </a:defPPr>
          </a:lstStyle>
          <a:p xmlns:a="http://schemas.openxmlformats.org/drawingml/2006/main">
            <a:pPr>
              <a:defRPr sz="4875" b="1">
                <a:solidFill>
                  <a:srgbClr val="20333D"/>
                </a:solidFill>
                <a:latin typeface="Arial"/>
                <a:ea typeface="Arial"/>
                <a:cs typeface="Arial"/>
              </a:defRPr>
            </a:pPr>
            <a:r>
              <a:rPr sz="4875" b="1">
                <a:solidFill>
                  <a:srgbClr val="20333D"/>
                </a:solidFill>
                <a:latin typeface="Arial"/>
                <a:ea typeface="Arial"/>
                <a:cs typeface="Arial"/>
              </a:rPr>
              <a:t>6. Virtual screening</a:t>
            </a:r>
          </a:p>
        </p:txBody>
      </p:sp>
      <p:sp>
        <p:nvSpPr>
          <p:cNvPr id="3" name="">
            <a:extLst xmlns:a="http://schemas.openxmlformats.org/drawingml/2006/main">
              <a:ext uri="{FF2B5EF4-FFF2-40B4-BE49-F238E27FC236}">
                <a16:creationId xmlns:a16="http://schemas.microsoft.com/office/drawing/2014/main" id="{B2FA67F2-7297-46BB-A165-74E0766577F1}"/>
              </a:ext>
            </a:extLst>
          </p:cNvPr>
          <p:cNvSpPr>
            <a:spLocks xmlns:a="http://schemas.openxmlformats.org/drawingml/2006/main" noGrp="1"/>
          </p:cNvSpPr>
          <p:nvPr/>
        </p:nvSpPr>
        <p:spPr>
          <a:xfrm xmlns:a="http://schemas.openxmlformats.org/drawingml/2006/main">
            <a:off x="762000" y="2524125"/>
            <a:ext cx="1371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Three predictors provide distinct biological quantities</a:t>
            </a:r>
          </a:p>
        </p:txBody>
      </p:sp>
      <p:sp>
        <p:nvSpPr>
          <p:cNvPr id="4" name="">
            <a:extLst xmlns:a="http://schemas.openxmlformats.org/drawingml/2006/main">
              <a:ext uri="{FF2B5EF4-FFF2-40B4-BE49-F238E27FC236}">
                <a16:creationId xmlns:a16="http://schemas.microsoft.com/office/drawing/2014/main" id="{89848FD4-6D25-450F-847C-EF87C9D9E826}"/>
              </a:ext>
            </a:extLst>
          </p:cNvPr>
          <p:cNvSpPr>
            <a:spLocks xmlns:a="http://schemas.openxmlformats.org/drawingml/2006/main" noGrp="1"/>
          </p:cNvSpPr>
          <p:nvPr/>
        </p:nvSpPr>
        <p:spPr>
          <a:xfrm xmlns:a="http://schemas.openxmlformats.org/drawingml/2006/main">
            <a:off x="762000" y="19240500"/>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4B606D"/>
                </a:solidFill>
                <a:latin typeface="Arial"/>
                <a:ea typeface="Arial"/>
                <a:cs typeface="Arial"/>
              </a:defRPr>
            </a:defPPr>
          </a:lstStyle>
          <a:p xmlns:a="http://schemas.openxmlformats.org/drawingml/2006/main">
            <a:pPr>
              <a:defRPr sz="1650" b="1">
                <a:solidFill>
                  <a:srgbClr val="4B606D"/>
                </a:solidFill>
                <a:latin typeface="Arial"/>
                <a:ea typeface="Arial"/>
                <a:cs typeface="Arial"/>
              </a:defRPr>
            </a:pPr>
            <a:r>
              <a:rPr sz="1650" b="1">
                <a:solidFill>
                  <a:srgbClr val="4B606D"/>
                </a:solidFill>
                <a:latin typeface="Arial"/>
                <a:ea typeface="Arial"/>
                <a:cs typeface="Arial"/>
              </a:rPr>
              <a:t>Enzora web platform • 16 October 2026</a:t>
            </a:r>
          </a:p>
        </p:txBody>
      </p:sp>
      <p:sp>
        <p:nvSpPr>
          <p:cNvPr id="5" name="">
            <a:extLst xmlns:a="http://schemas.openxmlformats.org/drawingml/2006/main">
              <a:ext uri="{FF2B5EF4-FFF2-40B4-BE49-F238E27FC236}">
                <a16:creationId xmlns:a16="http://schemas.microsoft.com/office/drawing/2014/main" id="{B641F572-14C1-489A-B2EC-440EF0E9891C}"/>
              </a:ext>
            </a:extLst>
          </p:cNvPr>
          <p:cNvSpPr>
            <a:spLocks xmlns:a="http://schemas.openxmlformats.org/drawingml/2006/main" noGrp="1"/>
          </p:cNvSpPr>
          <p:nvPr/>
        </p:nvSpPr>
        <p:spPr>
          <a:xfrm xmlns:a="http://schemas.openxmlformats.org/drawingml/2006/main">
            <a:off x="13811250" y="19240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4B606D"/>
                </a:solidFill>
                <a:latin typeface="Arial"/>
                <a:ea typeface="Arial"/>
                <a:cs typeface="Arial"/>
              </a:defRPr>
            </a:defPPr>
          </a:lstStyle>
          <a:p xmlns:a="http://schemas.openxmlformats.org/drawingml/2006/main">
            <a:pPr>
              <a:defRPr sz="1800" b="1">
                <a:solidFill>
                  <a:srgbClr val="4B606D"/>
                </a:solidFill>
                <a:latin typeface="Arial"/>
                <a:ea typeface="Arial"/>
                <a:cs typeface="Arial"/>
              </a:defRPr>
            </a:pPr>
            <a:r>
              <a:rPr sz="1800" b="1">
                <a:solidFill>
                  <a:srgbClr val="4B606D"/>
                </a:solidFill>
                <a:latin typeface="Arial"/>
                <a:ea typeface="Arial"/>
                <a:cs typeface="Arial"/>
              </a:rPr>
              <a:t>7</a:t>
            </a:r>
          </a:p>
        </p:txBody>
      </p:sp>
      <p:sp>
        <p:nvSpPr>
          <p:cNvPr id="6" name="">
            <a:extLst xmlns:a="http://schemas.openxmlformats.org/drawingml/2006/main">
              <a:ext uri="{FF2B5EF4-FFF2-40B4-BE49-F238E27FC236}">
                <a16:creationId xmlns:a16="http://schemas.microsoft.com/office/drawing/2014/main" id="{2F5165D5-4135-4209-B1F2-FBB273053C97}"/>
              </a:ext>
            </a:extLst>
          </p:cNvPr>
          <p:cNvSpPr>
            <a:spLocks xmlns:a="http://schemas.openxmlformats.org/drawingml/2006/main" noGrp="1"/>
          </p:cNvSpPr>
          <p:nvPr/>
        </p:nvSpPr>
        <p:spPr>
          <a:xfrm xmlns:a="http://schemas.openxmlformats.org/drawingml/2006/main">
            <a:off x="762000" y="404812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PHENOM, EpHod and UniStab</a:t>
            </a:r>
          </a:p>
        </p:txBody>
      </p:sp>
      <p:sp>
        <p:nvSpPr>
          <p:cNvPr id="7" name="">
            <a:extLst xmlns:a="http://schemas.openxmlformats.org/drawingml/2006/main">
              <a:ext uri="{FF2B5EF4-FFF2-40B4-BE49-F238E27FC236}">
                <a16:creationId xmlns:a16="http://schemas.microsoft.com/office/drawing/2014/main" id="{D3A51FC6-297E-4219-B350-921EBFD73EB9}"/>
              </a:ext>
            </a:extLst>
          </p:cNvPr>
          <p:cNvSpPr>
            <a:spLocks xmlns:a="http://schemas.openxmlformats.org/drawingml/2006/main" noGrp="1"/>
          </p:cNvSpPr>
          <p:nvPr/>
        </p:nvSpPr>
        <p:spPr>
          <a:xfrm xmlns:a="http://schemas.openxmlformats.org/drawingml/2006/main">
            <a:off x="762000" y="4714875"/>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PHENOM predicts log10(kcat) and a Gaussian standard deviation. EpHod predicts optimal pH and reports predictor disagreement. UniStab predicts WT-relative stability change and head-dropout variation.</a:t>
            </a:r>
          </a:p>
        </p:txBody>
      </p:sp>
      <p:pic>
        <p:nvPicPr>
          <p:cNvPr id="8" name="">
            <a:extLst xmlns:a="http://schemas.openxmlformats.org/drawingml/2006/main">
              <a:ext uri="{FF2B5EF4-FFF2-40B4-BE49-F238E27FC236}">
                <a16:creationId xmlns:a16="http://schemas.microsoft.com/office/drawing/2014/main" id="{5DC5B8B9-ED3C-4554-9126-450D2B01E3C5}"/>
              </a:ext>
            </a:extLst>
          </p:cNvPr>
          <p:cNvPicPr>
            <a:picLocks xmlns:a="http://schemas.openxmlformats.org/drawingml/2006/main" noChangeAspect="1"/>
          </p:cNvPicPr>
          <p:nvPr/>
        </p:nvPicPr>
        <p:blipFill>
          <a:blip xmlns:r="http://schemas.openxmlformats.org/officeDocument/2006/relationships" xmlns:a="http://schemas.openxmlformats.org/drawingml/2006/main" r:embed="R51093e0e035e4801"/>
          <a:stretch xmlns:a="http://schemas.openxmlformats.org/drawingml/2006/main"/>
        </p:blipFill>
        <p:spPr>
          <a:xfrm xmlns:a="http://schemas.openxmlformats.org/drawingml/2006/main">
            <a:off x="762000" y="7524750"/>
            <a:ext cx="13716000" cy="8572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C5319F5-8939-4D86-9C8D-E0E7E42D7DE2}"/>
              </a:ext>
            </a:extLst>
          </p:cNvPr>
          <p:cNvSpPr>
            <a:spLocks xmlns:a="http://schemas.openxmlformats.org/drawingml/2006/main" noGrp="1"/>
          </p:cNvSpPr>
          <p:nvPr/>
        </p:nvSpPr>
        <p:spPr>
          <a:xfrm xmlns:a="http://schemas.openxmlformats.org/drawingml/2006/main">
            <a:off x="762000" y="1647825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Start Screening is an execution boundary</a:t>
            </a:r>
          </a:p>
        </p:txBody>
      </p:sp>
      <p:sp>
        <p:nvSpPr>
          <p:cNvPr id="10" name="">
            <a:extLst xmlns:a="http://schemas.openxmlformats.org/drawingml/2006/main">
              <a:ext uri="{FF2B5EF4-FFF2-40B4-BE49-F238E27FC236}">
                <a16:creationId xmlns:a16="http://schemas.microsoft.com/office/drawing/2014/main" id="{26263007-1E2A-4683-8F4A-205EBD83A910}"/>
              </a:ext>
            </a:extLst>
          </p:cNvPr>
          <p:cNvSpPr>
            <a:spLocks xmlns:a="http://schemas.openxmlformats.org/drawingml/2006/main" noGrp="1"/>
          </p:cNvSpPr>
          <p:nvPr/>
        </p:nvSpPr>
        <p:spPr>
          <a:xfrm xmlns:a="http://schemas.openxmlformats.org/drawingml/2006/main">
            <a:off x="762000" y="171450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Scroll to Screening and click Start Screening after the library is ready. Queue time and model execution are separate states. Missing outputs are not zero scores.</a:t>
            </a:r>
          </a:p>
        </p:txBody>
      </p:sp>
    </p:spTree>
    <p:extLst>
      <p:ext uri="{BB962C8B-B14F-4D97-AF65-F5344CB8AC3E}">
        <p14:creationId xmlns:p14="http://schemas.microsoft.com/office/powerpoint/2010/main" val="20750249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050EC13-1254-42A4-8361-F16AB17D6F2F}"/>
              </a:ext>
            </a:extLst>
          </p:cNvPr>
          <p:cNvSpPr>
            <a:spLocks xmlns:a="http://schemas.openxmlformats.org/drawingml/2006/main" noGrp="1"/>
          </p:cNvSpPr>
          <p:nvPr/>
        </p:nvSpPr>
        <p:spPr>
          <a:xfrm xmlns:a="http://schemas.openxmlformats.org/drawingml/2006/main">
            <a:off x="762000" y="361950"/>
            <a:ext cx="1323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4B606D"/>
                </a:solidFill>
                <a:latin typeface="Arial"/>
                <a:ea typeface="Arial"/>
                <a:cs typeface="Arial"/>
              </a:defRPr>
            </a:defPPr>
          </a:lstStyle>
          <a:p xmlns:a="http://schemas.openxmlformats.org/drawingml/2006/main">
            <a:pPr>
              <a:defRPr sz="1725" b="1">
                <a:solidFill>
                  <a:srgbClr val="4B606D"/>
                </a:solidFill>
                <a:latin typeface="Arial"/>
                <a:ea typeface="Arial"/>
                <a:cs typeface="Arial"/>
              </a:defRPr>
            </a:pPr>
            <a:r>
              <a:rPr sz="1725" b="1">
                <a:solidFill>
                  <a:srgbClr val="4B606D"/>
                </a:solidFill>
                <a:latin typeface="Arial"/>
                <a:ea typeface="Arial"/>
                <a:cs typeface="Arial"/>
              </a:rPr>
              <a:t>ENZORA  /  USER GUIDE</a:t>
            </a:r>
          </a:p>
        </p:txBody>
      </p:sp>
      <p:sp>
        <p:nvSpPr>
          <p:cNvPr id="2" name="">
            <a:extLst xmlns:a="http://schemas.openxmlformats.org/drawingml/2006/main">
              <a:ext uri="{FF2B5EF4-FFF2-40B4-BE49-F238E27FC236}">
                <a16:creationId xmlns:a16="http://schemas.microsoft.com/office/drawing/2014/main" id="{AFEBFE91-B7F2-4EDC-AEBA-3A075BE6397D}"/>
              </a:ext>
            </a:extLst>
          </p:cNvPr>
          <p:cNvSpPr>
            <a:spLocks xmlns:a="http://schemas.openxmlformats.org/drawingml/2006/main" noGrp="1"/>
          </p:cNvSpPr>
          <p:nvPr/>
        </p:nvSpPr>
        <p:spPr>
          <a:xfrm xmlns:a="http://schemas.openxmlformats.org/drawingml/2006/main">
            <a:off x="762000" y="952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20333D"/>
                </a:solidFill>
                <a:latin typeface="Arial"/>
                <a:ea typeface="Arial"/>
                <a:cs typeface="Arial"/>
              </a:defRPr>
            </a:defPPr>
          </a:lstStyle>
          <a:p xmlns:a="http://schemas.openxmlformats.org/drawingml/2006/main">
            <a:pPr>
              <a:defRPr sz="4875" b="1">
                <a:solidFill>
                  <a:srgbClr val="20333D"/>
                </a:solidFill>
                <a:latin typeface="Arial"/>
                <a:ea typeface="Arial"/>
                <a:cs typeface="Arial"/>
              </a:defRPr>
            </a:pPr>
            <a:r>
              <a:rPr sz="4875" b="1">
                <a:solidFill>
                  <a:srgbClr val="20333D"/>
                </a:solidFill>
                <a:latin typeface="Arial"/>
                <a:ea typeface="Arial"/>
                <a:cs typeface="Arial"/>
              </a:rPr>
              <a:t>7. Candidate score evidence</a:t>
            </a:r>
          </a:p>
        </p:txBody>
      </p:sp>
      <p:sp>
        <p:nvSpPr>
          <p:cNvPr id="3" name="">
            <a:extLst xmlns:a="http://schemas.openxmlformats.org/drawingml/2006/main">
              <a:ext uri="{FF2B5EF4-FFF2-40B4-BE49-F238E27FC236}">
                <a16:creationId xmlns:a16="http://schemas.microsoft.com/office/drawing/2014/main" id="{7B9BB768-8402-45DA-BB90-52889044180F}"/>
              </a:ext>
            </a:extLst>
          </p:cNvPr>
          <p:cNvSpPr>
            <a:spLocks xmlns:a="http://schemas.openxmlformats.org/drawingml/2006/main" noGrp="1"/>
          </p:cNvSpPr>
          <p:nvPr/>
        </p:nvSpPr>
        <p:spPr>
          <a:xfrm xmlns:a="http://schemas.openxmlformats.org/drawingml/2006/main">
            <a:off x="762000" y="2524125"/>
            <a:ext cx="1371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Inspect how uncertainty affects each candidate, without fixed percentage controls</a:t>
            </a:r>
          </a:p>
        </p:txBody>
      </p:sp>
      <p:sp>
        <p:nvSpPr>
          <p:cNvPr id="4" name="">
            <a:extLst xmlns:a="http://schemas.openxmlformats.org/drawingml/2006/main">
              <a:ext uri="{FF2B5EF4-FFF2-40B4-BE49-F238E27FC236}">
                <a16:creationId xmlns:a16="http://schemas.microsoft.com/office/drawing/2014/main" id="{5AD088C5-84DB-4926-BD77-250FF971EE0A}"/>
              </a:ext>
            </a:extLst>
          </p:cNvPr>
          <p:cNvSpPr>
            <a:spLocks xmlns:a="http://schemas.openxmlformats.org/drawingml/2006/main" noGrp="1"/>
          </p:cNvSpPr>
          <p:nvPr/>
        </p:nvSpPr>
        <p:spPr>
          <a:xfrm xmlns:a="http://schemas.openxmlformats.org/drawingml/2006/main">
            <a:off x="762000" y="19240500"/>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4B606D"/>
                </a:solidFill>
                <a:latin typeface="Arial"/>
                <a:ea typeface="Arial"/>
                <a:cs typeface="Arial"/>
              </a:defRPr>
            </a:defPPr>
          </a:lstStyle>
          <a:p xmlns:a="http://schemas.openxmlformats.org/drawingml/2006/main">
            <a:pPr>
              <a:defRPr sz="1650" b="1">
                <a:solidFill>
                  <a:srgbClr val="4B606D"/>
                </a:solidFill>
                <a:latin typeface="Arial"/>
                <a:ea typeface="Arial"/>
                <a:cs typeface="Arial"/>
              </a:defRPr>
            </a:pPr>
            <a:r>
              <a:rPr sz="1650" b="1">
                <a:solidFill>
                  <a:srgbClr val="4B606D"/>
                </a:solidFill>
                <a:latin typeface="Arial"/>
                <a:ea typeface="Arial"/>
                <a:cs typeface="Arial"/>
              </a:rPr>
              <a:t>Enzora web platform • 16 October 2026</a:t>
            </a:r>
          </a:p>
        </p:txBody>
      </p:sp>
      <p:sp>
        <p:nvSpPr>
          <p:cNvPr id="5" name="">
            <a:extLst xmlns:a="http://schemas.openxmlformats.org/drawingml/2006/main">
              <a:ext uri="{FF2B5EF4-FFF2-40B4-BE49-F238E27FC236}">
                <a16:creationId xmlns:a16="http://schemas.microsoft.com/office/drawing/2014/main" id="{E2427C10-5377-4CA1-9CCE-A637F7B7247B}"/>
              </a:ext>
            </a:extLst>
          </p:cNvPr>
          <p:cNvSpPr>
            <a:spLocks xmlns:a="http://schemas.openxmlformats.org/drawingml/2006/main" noGrp="1"/>
          </p:cNvSpPr>
          <p:nvPr/>
        </p:nvSpPr>
        <p:spPr>
          <a:xfrm xmlns:a="http://schemas.openxmlformats.org/drawingml/2006/main">
            <a:off x="13811250" y="19240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4B606D"/>
                </a:solidFill>
                <a:latin typeface="Arial"/>
                <a:ea typeface="Arial"/>
                <a:cs typeface="Arial"/>
              </a:defRPr>
            </a:defPPr>
          </a:lstStyle>
          <a:p xmlns:a="http://schemas.openxmlformats.org/drawingml/2006/main">
            <a:pPr>
              <a:defRPr sz="1800" b="1">
                <a:solidFill>
                  <a:srgbClr val="4B606D"/>
                </a:solidFill>
                <a:latin typeface="Arial"/>
                <a:ea typeface="Arial"/>
                <a:cs typeface="Arial"/>
              </a:defRPr>
            </a:pPr>
            <a:r>
              <a:rPr sz="1800" b="1">
                <a:solidFill>
                  <a:srgbClr val="4B606D"/>
                </a:solidFill>
                <a:latin typeface="Arial"/>
                <a:ea typeface="Arial"/>
                <a:cs typeface="Arial"/>
              </a:rPr>
              <a:t>8</a:t>
            </a:r>
          </a:p>
        </p:txBody>
      </p:sp>
      <p:sp>
        <p:nvSpPr>
          <p:cNvPr id="6" name="">
            <a:extLst xmlns:a="http://schemas.openxmlformats.org/drawingml/2006/main">
              <a:ext uri="{FF2B5EF4-FFF2-40B4-BE49-F238E27FC236}">
                <a16:creationId xmlns:a16="http://schemas.microsoft.com/office/drawing/2014/main" id="{6C0AAF11-B044-4CA5-ADF1-943DC984609C}"/>
              </a:ext>
            </a:extLst>
          </p:cNvPr>
          <p:cNvSpPr>
            <a:spLocks xmlns:a="http://schemas.openxmlformats.org/drawingml/2006/main" noGrp="1"/>
          </p:cNvSpPr>
          <p:nvPr/>
        </p:nvSpPr>
        <p:spPr>
          <a:xfrm xmlns:a="http://schemas.openxmlformats.org/drawingml/2006/main">
            <a:off x="762000" y="404812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The Assistant sets an evidence-informed policy</a:t>
            </a:r>
          </a:p>
        </p:txBody>
      </p:sp>
      <p:sp>
        <p:nvSpPr>
          <p:cNvPr id="7" name="">
            <a:extLst xmlns:a="http://schemas.openxmlformats.org/drawingml/2006/main">
              <a:ext uri="{FF2B5EF4-FFF2-40B4-BE49-F238E27FC236}">
                <a16:creationId xmlns:a16="http://schemas.microsoft.com/office/drawing/2014/main" id="{72497B0F-5CAD-44BE-B31B-9D64381D5F8B}"/>
              </a:ext>
            </a:extLst>
          </p:cNvPr>
          <p:cNvSpPr>
            <a:spLocks xmlns:a="http://schemas.openxmlformats.org/drawingml/2006/main" noGrp="1"/>
          </p:cNvSpPr>
          <p:nvPr/>
        </p:nvSpPr>
        <p:spPr>
          <a:xfrm xmlns:a="http://schemas.openxmlformats.org/drawingml/2006/main">
            <a:off x="762000" y="4714875"/>
            <a:ext cx="137160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Choose a candidate in the right panel. Compare its model predictions, measured uncertainty and actual influence coefficients. The Agent sets a reliability policy; code applies uncertainty using each model’s own scale. Predictions remain unchanged.</a:t>
            </a:r>
          </a:p>
        </p:txBody>
      </p:sp>
      <p:sp>
        <p:nvSpPr>
          <p:cNvPr id="8" name="">
            <a:extLst xmlns:a="http://schemas.openxmlformats.org/drawingml/2006/main">
              <a:ext uri="{FF2B5EF4-FFF2-40B4-BE49-F238E27FC236}">
                <a16:creationId xmlns:a16="http://schemas.microsoft.com/office/drawing/2014/main" id="{3F26870C-10EF-4674-82B1-B45E1DE18A4B}"/>
              </a:ext>
            </a:extLst>
          </p:cNvPr>
          <p:cNvSpPr>
            <a:spLocks xmlns:a="http://schemas.openxmlformats.org/drawingml/2006/main" noGrp="1"/>
          </p:cNvSpPr>
          <p:nvPr/>
        </p:nvSpPr>
        <p:spPr>
          <a:xfrm xmlns:a="http://schemas.openxmlformats.org/drawingml/2006/main">
            <a:off x="762000" y="733425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Review the applied balance</a:t>
            </a:r>
          </a:p>
        </p:txBody>
      </p:sp>
      <p:sp>
        <p:nvSpPr>
          <p:cNvPr id="9" name="">
            <a:extLst xmlns:a="http://schemas.openxmlformats.org/drawingml/2006/main">
              <a:ext uri="{FF2B5EF4-FFF2-40B4-BE49-F238E27FC236}">
                <a16:creationId xmlns:a16="http://schemas.microsoft.com/office/drawing/2014/main" id="{A00FB2B0-B55A-4D0E-BD05-A1995C6E3142}"/>
              </a:ext>
            </a:extLst>
          </p:cNvPr>
          <p:cNvSpPr>
            <a:spLocks xmlns:a="http://schemas.openxmlformats.org/drawingml/2006/main" noGrp="1"/>
          </p:cNvSpPr>
          <p:nvPr/>
        </p:nvSpPr>
        <p:spPr>
          <a:xfrm xmlns:a="http://schemas.openxmlformats.org/drawingml/2006/main">
            <a:off x="762000" y="8001000"/>
            <a:ext cx="137160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Open Assistant policy decision to inspect the recorded tool explanation. The chart separates measured prediction evidence from the neutral baseline retained under uncertainty. Continue to Output when scores are ready.</a:t>
            </a:r>
          </a:p>
        </p:txBody>
      </p:sp>
      <p:pic>
        <p:nvPicPr>
          <p:cNvPr id="10" name="">
            <a:extLst xmlns:a="http://schemas.openxmlformats.org/drawingml/2006/main">
              <a:ext uri="{FF2B5EF4-FFF2-40B4-BE49-F238E27FC236}">
                <a16:creationId xmlns:a16="http://schemas.microsoft.com/office/drawing/2014/main" id="{D7725E3C-0AB8-482A-B19F-3DDF19FE7084}"/>
              </a:ext>
            </a:extLst>
          </p:cNvPr>
          <p:cNvPicPr>
            <a:picLocks xmlns:a="http://schemas.openxmlformats.org/drawingml/2006/main" noChangeAspect="1"/>
          </p:cNvPicPr>
          <p:nvPr/>
        </p:nvPicPr>
        <p:blipFill>
          <a:blip xmlns:r="http://schemas.openxmlformats.org/officeDocument/2006/relationships" xmlns:a="http://schemas.openxmlformats.org/drawingml/2006/main" r:embed="Ra9c1e7a58522419c"/>
          <a:stretch xmlns:a="http://schemas.openxmlformats.org/drawingml/2006/main"/>
        </p:blipFill>
        <p:spPr>
          <a:xfrm xmlns:a="http://schemas.openxmlformats.org/drawingml/2006/main">
            <a:off x="1828800" y="10572750"/>
            <a:ext cx="11582400" cy="7239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682620B-AB34-4C0D-9D10-E08ECD4786A8}"/>
              </a:ext>
            </a:extLst>
          </p:cNvPr>
          <p:cNvSpPr>
            <a:spLocks xmlns:a="http://schemas.openxmlformats.org/drawingml/2006/main" noGrp="1"/>
          </p:cNvSpPr>
          <p:nvPr/>
        </p:nvSpPr>
        <p:spPr>
          <a:xfrm xmlns:a="http://schemas.openxmlformats.org/drawingml/2006/main">
            <a:off x="762000" y="1819275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4B606D"/>
                </a:solidFill>
                <a:latin typeface="Arial"/>
                <a:ea typeface="Arial"/>
                <a:cs typeface="Arial"/>
              </a:defRPr>
            </a:defPPr>
          </a:lstStyle>
          <a:p xmlns:a="http://schemas.openxmlformats.org/drawingml/2006/main">
            <a:pPr>
              <a:defRPr sz="2400" b="1">
                <a:solidFill>
                  <a:srgbClr val="4B606D"/>
                </a:solidFill>
                <a:latin typeface="Arial"/>
                <a:ea typeface="Arial"/>
                <a:cs typeface="Arial"/>
              </a:defRPr>
            </a:pPr>
            <a:r>
              <a:rPr sz="2400" b="1">
                <a:solidFill>
                  <a:srgbClr val="4B606D"/>
                </a:solidFill>
                <a:latin typeface="Arial"/>
                <a:ea typeface="Arial"/>
                <a:cs typeface="Arial"/>
              </a:rPr>
              <a:t>Confidence is a control parameter, not an experimental success probability.</a:t>
            </a:r>
          </a:p>
        </p:txBody>
      </p:sp>
    </p:spTree>
    <p:extLst>
      <p:ext uri="{BB962C8B-B14F-4D97-AF65-F5344CB8AC3E}">
        <p14:creationId xmlns:p14="http://schemas.microsoft.com/office/powerpoint/2010/main" val="12737770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B74112F-5DB1-4B80-899D-05072EAB4E3E}"/>
              </a:ext>
            </a:extLst>
          </p:cNvPr>
          <p:cNvSpPr>
            <a:spLocks xmlns:a="http://schemas.openxmlformats.org/drawingml/2006/main" noGrp="1"/>
          </p:cNvSpPr>
          <p:nvPr/>
        </p:nvSpPr>
        <p:spPr>
          <a:xfrm xmlns:a="http://schemas.openxmlformats.org/drawingml/2006/main">
            <a:off x="762000" y="361950"/>
            <a:ext cx="1323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4B606D"/>
                </a:solidFill>
                <a:latin typeface="Arial"/>
                <a:ea typeface="Arial"/>
                <a:cs typeface="Arial"/>
              </a:defRPr>
            </a:defPPr>
          </a:lstStyle>
          <a:p xmlns:a="http://schemas.openxmlformats.org/drawingml/2006/main">
            <a:pPr>
              <a:defRPr sz="1725" b="1">
                <a:solidFill>
                  <a:srgbClr val="4B606D"/>
                </a:solidFill>
                <a:latin typeface="Arial"/>
                <a:ea typeface="Arial"/>
                <a:cs typeface="Arial"/>
              </a:defRPr>
            </a:pPr>
            <a:r>
              <a:rPr sz="1725" b="1">
                <a:solidFill>
                  <a:srgbClr val="4B606D"/>
                </a:solidFill>
                <a:latin typeface="Arial"/>
                <a:ea typeface="Arial"/>
                <a:cs typeface="Arial"/>
              </a:rPr>
              <a:t>ENZORA  /  USER GUIDE</a:t>
            </a:r>
          </a:p>
        </p:txBody>
      </p:sp>
      <p:sp>
        <p:nvSpPr>
          <p:cNvPr id="2" name="">
            <a:extLst xmlns:a="http://schemas.openxmlformats.org/drawingml/2006/main">
              <a:ext uri="{FF2B5EF4-FFF2-40B4-BE49-F238E27FC236}">
                <a16:creationId xmlns:a16="http://schemas.microsoft.com/office/drawing/2014/main" id="{BEAF7FE2-7905-4A7F-9B48-F013A14B5AE3}"/>
              </a:ext>
            </a:extLst>
          </p:cNvPr>
          <p:cNvSpPr>
            <a:spLocks xmlns:a="http://schemas.openxmlformats.org/drawingml/2006/main" noGrp="1"/>
          </p:cNvSpPr>
          <p:nvPr/>
        </p:nvSpPr>
        <p:spPr>
          <a:xfrm xmlns:a="http://schemas.openxmlformats.org/drawingml/2006/main">
            <a:off x="762000" y="952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20333D"/>
                </a:solidFill>
                <a:latin typeface="Arial"/>
                <a:ea typeface="Arial"/>
                <a:cs typeface="Arial"/>
              </a:defRPr>
            </a:defPPr>
          </a:lstStyle>
          <a:p xmlns:a="http://schemas.openxmlformats.org/drawingml/2006/main">
            <a:pPr>
              <a:defRPr sz="4875" b="1">
                <a:solidFill>
                  <a:srgbClr val="20333D"/>
                </a:solidFill>
                <a:latin typeface="Arial"/>
                <a:ea typeface="Arial"/>
                <a:cs typeface="Arial"/>
              </a:defRPr>
            </a:pPr>
            <a:r>
              <a:rPr sz="4875" b="1">
                <a:solidFill>
                  <a:srgbClr val="20333D"/>
                </a:solidFill>
                <a:latin typeface="Arial"/>
                <a:ea typeface="Arial"/>
                <a:cs typeface="Arial"/>
              </a:rPr>
              <a:t>8. Reading the score</a:t>
            </a:r>
          </a:p>
        </p:txBody>
      </p:sp>
      <p:sp>
        <p:nvSpPr>
          <p:cNvPr id="3" name="">
            <a:extLst xmlns:a="http://schemas.openxmlformats.org/drawingml/2006/main">
              <a:ext uri="{FF2B5EF4-FFF2-40B4-BE49-F238E27FC236}">
                <a16:creationId xmlns:a16="http://schemas.microsoft.com/office/drawing/2014/main" id="{E27D79AA-2BF4-4150-913E-473A1A1C4A41}"/>
              </a:ext>
            </a:extLst>
          </p:cNvPr>
          <p:cNvSpPr>
            <a:spLocks xmlns:a="http://schemas.openxmlformats.org/drawingml/2006/main" noGrp="1"/>
          </p:cNvSpPr>
          <p:nvPr/>
        </p:nvSpPr>
        <p:spPr>
          <a:xfrm xmlns:a="http://schemas.openxmlformats.org/drawingml/2006/main">
            <a:off x="762000" y="2524125"/>
            <a:ext cx="1371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A fixed WT reference makes gains interpretable</a:t>
            </a:r>
          </a:p>
        </p:txBody>
      </p:sp>
      <p:sp>
        <p:nvSpPr>
          <p:cNvPr id="4" name="">
            <a:extLst xmlns:a="http://schemas.openxmlformats.org/drawingml/2006/main">
              <a:ext uri="{FF2B5EF4-FFF2-40B4-BE49-F238E27FC236}">
                <a16:creationId xmlns:a16="http://schemas.microsoft.com/office/drawing/2014/main" id="{34AB3D23-C82A-4C45-8302-F500EFF4AFB3}"/>
              </a:ext>
            </a:extLst>
          </p:cNvPr>
          <p:cNvSpPr>
            <a:spLocks xmlns:a="http://schemas.openxmlformats.org/drawingml/2006/main" noGrp="1"/>
          </p:cNvSpPr>
          <p:nvPr/>
        </p:nvSpPr>
        <p:spPr>
          <a:xfrm xmlns:a="http://schemas.openxmlformats.org/drawingml/2006/main">
            <a:off x="762000" y="19240500"/>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4B606D"/>
                </a:solidFill>
                <a:latin typeface="Arial"/>
                <a:ea typeface="Arial"/>
                <a:cs typeface="Arial"/>
              </a:defRPr>
            </a:defPPr>
          </a:lstStyle>
          <a:p xmlns:a="http://schemas.openxmlformats.org/drawingml/2006/main">
            <a:pPr>
              <a:defRPr sz="1650" b="1">
                <a:solidFill>
                  <a:srgbClr val="4B606D"/>
                </a:solidFill>
                <a:latin typeface="Arial"/>
                <a:ea typeface="Arial"/>
                <a:cs typeface="Arial"/>
              </a:defRPr>
            </a:pPr>
            <a:r>
              <a:rPr sz="1650" b="1">
                <a:solidFill>
                  <a:srgbClr val="4B606D"/>
                </a:solidFill>
                <a:latin typeface="Arial"/>
                <a:ea typeface="Arial"/>
                <a:cs typeface="Arial"/>
              </a:rPr>
              <a:t>Enzora web platform • 16 October 2026</a:t>
            </a:r>
          </a:p>
        </p:txBody>
      </p:sp>
      <p:sp>
        <p:nvSpPr>
          <p:cNvPr id="5" name="">
            <a:extLst xmlns:a="http://schemas.openxmlformats.org/drawingml/2006/main">
              <a:ext uri="{FF2B5EF4-FFF2-40B4-BE49-F238E27FC236}">
                <a16:creationId xmlns:a16="http://schemas.microsoft.com/office/drawing/2014/main" id="{CB08AA8D-2CE8-4736-A672-E06DDD3EEF05}"/>
              </a:ext>
            </a:extLst>
          </p:cNvPr>
          <p:cNvSpPr>
            <a:spLocks xmlns:a="http://schemas.openxmlformats.org/drawingml/2006/main" noGrp="1"/>
          </p:cNvSpPr>
          <p:nvPr/>
        </p:nvSpPr>
        <p:spPr>
          <a:xfrm xmlns:a="http://schemas.openxmlformats.org/drawingml/2006/main">
            <a:off x="13811250" y="19240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4B606D"/>
                </a:solidFill>
                <a:latin typeface="Arial"/>
                <a:ea typeface="Arial"/>
                <a:cs typeface="Arial"/>
              </a:defRPr>
            </a:defPPr>
          </a:lstStyle>
          <a:p xmlns:a="http://schemas.openxmlformats.org/drawingml/2006/main">
            <a:pPr>
              <a:defRPr sz="1800" b="1">
                <a:solidFill>
                  <a:srgbClr val="4B606D"/>
                </a:solidFill>
                <a:latin typeface="Arial"/>
                <a:ea typeface="Arial"/>
                <a:cs typeface="Arial"/>
              </a:defRPr>
            </a:pPr>
            <a:r>
              <a:rPr sz="1800" b="1">
                <a:solidFill>
                  <a:srgbClr val="4B606D"/>
                </a:solidFill>
                <a:latin typeface="Arial"/>
                <a:ea typeface="Arial"/>
                <a:cs typeface="Arial"/>
              </a:rPr>
              <a:t>9</a:t>
            </a:r>
          </a:p>
        </p:txBody>
      </p:sp>
      <p:pic>
        <p:nvPicPr>
          <p:cNvPr id="6" name="">
            <a:extLst xmlns:a="http://schemas.openxmlformats.org/drawingml/2006/main">
              <a:ext uri="{FF2B5EF4-FFF2-40B4-BE49-F238E27FC236}">
                <a16:creationId xmlns:a16="http://schemas.microsoft.com/office/drawing/2014/main" id="{F821DA6E-6C3F-4065-808D-450B8A8E06B8}"/>
              </a:ext>
            </a:extLst>
          </p:cNvPr>
          <p:cNvPicPr>
            <a:picLocks xmlns:a="http://schemas.openxmlformats.org/drawingml/2006/main" noChangeAspect="1"/>
          </p:cNvPicPr>
          <p:nvPr/>
        </p:nvPicPr>
        <p:blipFill>
          <a:blip xmlns:r="http://schemas.openxmlformats.org/officeDocument/2006/relationships" xmlns:a="http://schemas.openxmlformats.org/drawingml/2006/main" r:embed="R9311044e2d9e4689"/>
          <a:stretch xmlns:a="http://schemas.openxmlformats.org/drawingml/2006/main"/>
        </p:blipFill>
        <p:spPr>
          <a:xfrm xmlns:a="http://schemas.openxmlformats.org/drawingml/2006/main">
            <a:off x="762000" y="4086225"/>
            <a:ext cx="13716000" cy="92583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D6E463B-B101-4F49-A293-6EB7EA4AF461}"/>
              </a:ext>
            </a:extLst>
          </p:cNvPr>
          <p:cNvSpPr>
            <a:spLocks xmlns:a="http://schemas.openxmlformats.org/drawingml/2006/main" noGrp="1"/>
          </p:cNvSpPr>
          <p:nvPr/>
        </p:nvSpPr>
        <p:spPr>
          <a:xfrm xmlns:a="http://schemas.openxmlformats.org/drawingml/2006/main">
            <a:off x="762000" y="1400175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Gain, uncertainty and the neutral point</a:t>
            </a:r>
          </a:p>
        </p:txBody>
      </p:sp>
      <p:sp>
        <p:nvSpPr>
          <p:cNvPr id="8" name="">
            <a:extLst xmlns:a="http://schemas.openxmlformats.org/drawingml/2006/main">
              <a:ext uri="{FF2B5EF4-FFF2-40B4-BE49-F238E27FC236}">
                <a16:creationId xmlns:a16="http://schemas.microsoft.com/office/drawing/2014/main" id="{CAC504EC-B88F-495A-A166-3FC07D529D4D}"/>
              </a:ext>
            </a:extLst>
          </p:cNvPr>
          <p:cNvSpPr>
            <a:spLocks xmlns:a="http://schemas.openxmlformats.org/drawingml/2006/main" noGrp="1"/>
          </p:cNvSpPr>
          <p:nvPr/>
        </p:nvSpPr>
        <p:spPr>
          <a:xfrm xmlns:a="http://schemas.openxmlformats.org/drawingml/2006/main">
            <a:off x="762000" y="14668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Activity gain is candidate minus WT. pH gain is the reduction in distance to the target. Stability gain follows the configured lower-is-better ΔΔG convention. Uncertainty shrinks gains and losses towards 0.5.</a:t>
            </a:r>
          </a:p>
        </p:txBody>
      </p:sp>
      <p:sp>
        <p:nvSpPr>
          <p:cNvPr id="9" name="">
            <a:extLst xmlns:a="http://schemas.openxmlformats.org/drawingml/2006/main">
              <a:ext uri="{FF2B5EF4-FFF2-40B4-BE49-F238E27FC236}">
                <a16:creationId xmlns:a16="http://schemas.microsoft.com/office/drawing/2014/main" id="{80A10956-EBBD-46FD-8701-E1EC72EF8AA1}"/>
              </a:ext>
            </a:extLst>
          </p:cNvPr>
          <p:cNvSpPr>
            <a:spLocks xmlns:a="http://schemas.openxmlformats.org/drawingml/2006/main" noGrp="1"/>
          </p:cNvSpPr>
          <p:nvPr/>
        </p:nvSpPr>
        <p:spPr>
          <a:xfrm xmlns:a="http://schemas.openxmlformats.org/drawingml/2006/main">
            <a:off x="762000" y="1695450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Ranking and acceptance are separate</a:t>
            </a:r>
          </a:p>
        </p:txBody>
      </p:sp>
      <p:sp>
        <p:nvSpPr>
          <p:cNvPr id="10" name="">
            <a:extLst xmlns:a="http://schemas.openxmlformats.org/drawingml/2006/main">
              <a:ext uri="{FF2B5EF4-FFF2-40B4-BE49-F238E27FC236}">
                <a16:creationId xmlns:a16="http://schemas.microsoft.com/office/drawing/2014/main" id="{564D908A-4408-4708-8B94-1281E8CCC9B3}"/>
              </a:ext>
            </a:extLst>
          </p:cNvPr>
          <p:cNvSpPr>
            <a:spLocks xmlns:a="http://schemas.openxmlformats.org/drawingml/2006/main" noGrp="1"/>
          </p:cNvSpPr>
          <p:nvPr/>
        </p:nvSpPr>
        <p:spPr>
          <a:xfrm xmlns:a="http://schemas.openxmlformats.org/drawingml/2006/main">
            <a:off x="762000" y="176212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A high rank does not mean that a candidate meets the target. Review pH tolerance, minimum activity and stability thresholds alongside the composite score.</a:t>
            </a:r>
          </a:p>
        </p:txBody>
      </p:sp>
    </p:spTree>
    <p:extLst>
      <p:ext uri="{BB962C8B-B14F-4D97-AF65-F5344CB8AC3E}">
        <p14:creationId xmlns:p14="http://schemas.microsoft.com/office/powerpoint/2010/main" val="189197811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DCDF757-D2E5-4DA9-8650-FB7F73CF75B3}"/>
              </a:ext>
            </a:extLst>
          </p:cNvPr>
          <p:cNvSpPr>
            <a:spLocks xmlns:a="http://schemas.openxmlformats.org/drawingml/2006/main" noGrp="1"/>
          </p:cNvSpPr>
          <p:nvPr/>
        </p:nvSpPr>
        <p:spPr>
          <a:xfrm xmlns:a="http://schemas.openxmlformats.org/drawingml/2006/main">
            <a:off x="762000" y="361950"/>
            <a:ext cx="1323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4B606D"/>
                </a:solidFill>
                <a:latin typeface="Arial"/>
                <a:ea typeface="Arial"/>
                <a:cs typeface="Arial"/>
              </a:defRPr>
            </a:defPPr>
          </a:lstStyle>
          <a:p xmlns:a="http://schemas.openxmlformats.org/drawingml/2006/main">
            <a:pPr>
              <a:defRPr sz="1725" b="1">
                <a:solidFill>
                  <a:srgbClr val="4B606D"/>
                </a:solidFill>
                <a:latin typeface="Arial"/>
                <a:ea typeface="Arial"/>
                <a:cs typeface="Arial"/>
              </a:defRPr>
            </a:pPr>
            <a:r>
              <a:rPr sz="1725" b="1">
                <a:solidFill>
                  <a:srgbClr val="4B606D"/>
                </a:solidFill>
                <a:latin typeface="Arial"/>
                <a:ea typeface="Arial"/>
                <a:cs typeface="Arial"/>
              </a:rPr>
              <a:t>ENZORA  /  USER GUIDE</a:t>
            </a:r>
          </a:p>
        </p:txBody>
      </p:sp>
      <p:sp>
        <p:nvSpPr>
          <p:cNvPr id="2" name="">
            <a:extLst xmlns:a="http://schemas.openxmlformats.org/drawingml/2006/main">
              <a:ext uri="{FF2B5EF4-FFF2-40B4-BE49-F238E27FC236}">
                <a16:creationId xmlns:a16="http://schemas.microsoft.com/office/drawing/2014/main" id="{7BC655CB-D68F-4AC9-ADC0-50D215456B15}"/>
              </a:ext>
            </a:extLst>
          </p:cNvPr>
          <p:cNvSpPr>
            <a:spLocks xmlns:a="http://schemas.openxmlformats.org/drawingml/2006/main" noGrp="1"/>
          </p:cNvSpPr>
          <p:nvPr/>
        </p:nvSpPr>
        <p:spPr>
          <a:xfrm xmlns:a="http://schemas.openxmlformats.org/drawingml/2006/main">
            <a:off x="762000" y="952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20333D"/>
                </a:solidFill>
                <a:latin typeface="Arial"/>
                <a:ea typeface="Arial"/>
                <a:cs typeface="Arial"/>
              </a:defRPr>
            </a:defPPr>
          </a:lstStyle>
          <a:p xmlns:a="http://schemas.openxmlformats.org/drawingml/2006/main">
            <a:pPr>
              <a:defRPr sz="4875" b="1">
                <a:solidFill>
                  <a:srgbClr val="20333D"/>
                </a:solidFill>
                <a:latin typeface="Arial"/>
                <a:ea typeface="Arial"/>
                <a:cs typeface="Arial"/>
              </a:defRPr>
            </a:pPr>
            <a:r>
              <a:rPr sz="4875" b="1">
                <a:solidFill>
                  <a:srgbClr val="20333D"/>
                </a:solidFill>
                <a:latin typeface="Arial"/>
                <a:ea typeface="Arial"/>
                <a:cs typeface="Arial"/>
              </a:rPr>
              <a:t>9. Enzora Assistant</a:t>
            </a:r>
          </a:p>
        </p:txBody>
      </p:sp>
      <p:sp>
        <p:nvSpPr>
          <p:cNvPr id="3" name="">
            <a:extLst xmlns:a="http://schemas.openxmlformats.org/drawingml/2006/main">
              <a:ext uri="{FF2B5EF4-FFF2-40B4-BE49-F238E27FC236}">
                <a16:creationId xmlns:a16="http://schemas.microsoft.com/office/drawing/2014/main" id="{0E7A5436-245B-46BB-9D32-5B5DE30C6615}"/>
              </a:ext>
            </a:extLst>
          </p:cNvPr>
          <p:cNvSpPr>
            <a:spLocks xmlns:a="http://schemas.openxmlformats.org/drawingml/2006/main" noGrp="1"/>
          </p:cNvSpPr>
          <p:nvPr/>
        </p:nvSpPr>
        <p:spPr>
          <a:xfrm xmlns:a="http://schemas.openxmlformats.org/drawingml/2006/main">
            <a:off x="762000" y="2524125"/>
            <a:ext cx="1371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Natural language requests call bounded, validated tools</a:t>
            </a:r>
          </a:p>
        </p:txBody>
      </p:sp>
      <p:sp>
        <p:nvSpPr>
          <p:cNvPr id="4" name="">
            <a:extLst xmlns:a="http://schemas.openxmlformats.org/drawingml/2006/main">
              <a:ext uri="{FF2B5EF4-FFF2-40B4-BE49-F238E27FC236}">
                <a16:creationId xmlns:a16="http://schemas.microsoft.com/office/drawing/2014/main" id="{7875ACF0-8F1F-43E1-8928-AC41402DED71}"/>
              </a:ext>
            </a:extLst>
          </p:cNvPr>
          <p:cNvSpPr>
            <a:spLocks xmlns:a="http://schemas.openxmlformats.org/drawingml/2006/main" noGrp="1"/>
          </p:cNvSpPr>
          <p:nvPr/>
        </p:nvSpPr>
        <p:spPr>
          <a:xfrm xmlns:a="http://schemas.openxmlformats.org/drawingml/2006/main">
            <a:off x="762000" y="19240500"/>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4B606D"/>
                </a:solidFill>
                <a:latin typeface="Arial"/>
                <a:ea typeface="Arial"/>
                <a:cs typeface="Arial"/>
              </a:defRPr>
            </a:defPPr>
          </a:lstStyle>
          <a:p xmlns:a="http://schemas.openxmlformats.org/drawingml/2006/main">
            <a:pPr>
              <a:defRPr sz="1650" b="1">
                <a:solidFill>
                  <a:srgbClr val="4B606D"/>
                </a:solidFill>
                <a:latin typeface="Arial"/>
                <a:ea typeface="Arial"/>
                <a:cs typeface="Arial"/>
              </a:defRPr>
            </a:pPr>
            <a:r>
              <a:rPr sz="1650" b="1">
                <a:solidFill>
                  <a:srgbClr val="4B606D"/>
                </a:solidFill>
                <a:latin typeface="Arial"/>
                <a:ea typeface="Arial"/>
                <a:cs typeface="Arial"/>
              </a:rPr>
              <a:t>Enzora web platform • 16 October 2026</a:t>
            </a:r>
          </a:p>
        </p:txBody>
      </p:sp>
      <p:sp>
        <p:nvSpPr>
          <p:cNvPr id="5" name="">
            <a:extLst xmlns:a="http://schemas.openxmlformats.org/drawingml/2006/main">
              <a:ext uri="{FF2B5EF4-FFF2-40B4-BE49-F238E27FC236}">
                <a16:creationId xmlns:a16="http://schemas.microsoft.com/office/drawing/2014/main" id="{D09D0163-AABF-443D-920D-EAA147B0CA6E}"/>
              </a:ext>
            </a:extLst>
          </p:cNvPr>
          <p:cNvSpPr>
            <a:spLocks xmlns:a="http://schemas.openxmlformats.org/drawingml/2006/main" noGrp="1"/>
          </p:cNvSpPr>
          <p:nvPr/>
        </p:nvSpPr>
        <p:spPr>
          <a:xfrm xmlns:a="http://schemas.openxmlformats.org/drawingml/2006/main">
            <a:off x="13811250" y="19240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4B606D"/>
                </a:solidFill>
                <a:latin typeface="Arial"/>
                <a:ea typeface="Arial"/>
                <a:cs typeface="Arial"/>
              </a:defRPr>
            </a:defPPr>
          </a:lstStyle>
          <a:p xmlns:a="http://schemas.openxmlformats.org/drawingml/2006/main">
            <a:pPr>
              <a:defRPr sz="1800" b="1">
                <a:solidFill>
                  <a:srgbClr val="4B606D"/>
                </a:solidFill>
                <a:latin typeface="Arial"/>
                <a:ea typeface="Arial"/>
                <a:cs typeface="Arial"/>
              </a:defRPr>
            </a:pPr>
            <a:r>
              <a:rPr sz="1800" b="1">
                <a:solidFill>
                  <a:srgbClr val="4B606D"/>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67BD5B98-0E61-414E-8804-BCAB27446EEF}"/>
              </a:ext>
            </a:extLst>
          </p:cNvPr>
          <p:cNvSpPr>
            <a:spLocks xmlns:a="http://schemas.openxmlformats.org/drawingml/2006/main" noGrp="1"/>
          </p:cNvSpPr>
          <p:nvPr/>
        </p:nvSpPr>
        <p:spPr>
          <a:xfrm xmlns:a="http://schemas.openxmlformats.org/drawingml/2006/main">
            <a:off x="762000" y="404812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Context and progress</a:t>
            </a:r>
          </a:p>
        </p:txBody>
      </p:sp>
      <p:sp>
        <p:nvSpPr>
          <p:cNvPr id="7" name="">
            <a:extLst xmlns:a="http://schemas.openxmlformats.org/drawingml/2006/main">
              <a:ext uri="{FF2B5EF4-FFF2-40B4-BE49-F238E27FC236}">
                <a16:creationId xmlns:a16="http://schemas.microsoft.com/office/drawing/2014/main" id="{16C05CEE-B5D0-457C-A4F8-36E368135F5C}"/>
              </a:ext>
            </a:extLst>
          </p:cNvPr>
          <p:cNvSpPr>
            <a:spLocks xmlns:a="http://schemas.openxmlformats.org/drawingml/2006/main" noGrp="1"/>
          </p:cNvSpPr>
          <p:nvPr/>
        </p:nvSpPr>
        <p:spPr>
          <a:xfrm xmlns:a="http://schemas.openxmlformats.org/drawingml/2006/main">
            <a:off x="762000" y="4714875"/>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Open the floating Assistant, drag its header or resize its edges. Follow the named tool steps and elapsed time during a request. Recent conversation turns help preserve context.</a:t>
            </a:r>
          </a:p>
        </p:txBody>
      </p:sp>
      <p:sp>
        <p:nvSpPr>
          <p:cNvPr id="8" name="">
            <a:extLst xmlns:a="http://schemas.openxmlformats.org/drawingml/2006/main">
              <a:ext uri="{FF2B5EF4-FFF2-40B4-BE49-F238E27FC236}">
                <a16:creationId xmlns:a16="http://schemas.microsoft.com/office/drawing/2014/main" id="{DA5981A7-AD37-432F-AD28-B29941DA3184}"/>
              </a:ext>
            </a:extLst>
          </p:cNvPr>
          <p:cNvSpPr>
            <a:spLocks xmlns:a="http://schemas.openxmlformats.org/drawingml/2006/main" noGrp="1"/>
          </p:cNvSpPr>
          <p:nvPr/>
        </p:nvSpPr>
        <p:spPr>
          <a:xfrm xmlns:a="http://schemas.openxmlformats.org/drawingml/2006/main">
            <a:off x="762000" y="7239000"/>
            <a:ext cx="13716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20333D"/>
                </a:solidFill>
                <a:latin typeface="Arial"/>
                <a:ea typeface="Arial"/>
                <a:cs typeface="Arial"/>
              </a:defRPr>
            </a:defPPr>
          </a:lstStyle>
          <a:p xmlns:a="http://schemas.openxmlformats.org/drawingml/2006/main">
            <a:pPr>
              <a:defRPr sz="2850" b="1">
                <a:solidFill>
                  <a:srgbClr val="20333D"/>
                </a:solidFill>
                <a:latin typeface="Arial"/>
                <a:ea typeface="Arial"/>
                <a:cs typeface="Arial"/>
              </a:defRPr>
            </a:pPr>
            <a:r>
              <a:rPr sz="2850" b="1">
                <a:solidFill>
                  <a:srgbClr val="20333D"/>
                </a:solidFill>
                <a:latin typeface="Arial"/>
                <a:ea typeface="Arial"/>
                <a:cs typeface="Arial"/>
              </a:rPr>
              <a:t>“Explain why this candidate ranks first.”</a:t>
            </a:r>
          </a:p>
          <a:p xmlns:a="http://schemas.openxmlformats.org/drawingml/2006/main">
            <a:pPr>
              <a:defRPr sz="2850" b="1">
                <a:solidFill>
                  <a:srgbClr val="20333D"/>
                </a:solidFill>
                <a:latin typeface="Arial"/>
                <a:ea typeface="Arial"/>
                <a:cs typeface="Arial"/>
              </a:defRPr>
            </a:pPr>
            <a:r>
              <a:rPr sz="2850" b="1">
                <a:solidFill>
                  <a:srgbClr val="20333D"/>
                </a:solidFill>
                <a:latin typeface="Arial"/>
                <a:ea typeface="Arial"/>
                <a:cs typeface="Arial"/>
              </a:rPr>
              <a:t>“Look up UniProt P01308 in ESM Atlas.”</a:t>
            </a:r>
          </a:p>
          <a:p xmlns:a="http://schemas.openxmlformats.org/drawingml/2006/main">
            <a:pPr>
              <a:defRPr sz="2850" b="1">
                <a:solidFill>
                  <a:srgbClr val="20333D"/>
                </a:solidFill>
                <a:latin typeface="Arial"/>
                <a:ea typeface="Arial"/>
                <a:cs typeface="Arial"/>
              </a:defRPr>
            </a:pPr>
            <a:r>
              <a:rPr sz="2850" b="1">
                <a:solidFill>
                  <a:srgbClr val="20333D"/>
                </a:solidFill>
                <a:latin typeface="Arial"/>
                <a:ea typeface="Arial"/>
                <a:cs typeface="Arial"/>
              </a:rPr>
              <a:t>“Extract residues 25–300 from the supplied protein.”</a:t>
            </a:r>
          </a:p>
        </p:txBody>
      </p:sp>
      <p:pic>
        <p:nvPicPr>
          <p:cNvPr id="9" name="">
            <a:extLst xmlns:a="http://schemas.openxmlformats.org/drawingml/2006/main">
              <a:ext uri="{FF2B5EF4-FFF2-40B4-BE49-F238E27FC236}">
                <a16:creationId xmlns:a16="http://schemas.microsoft.com/office/drawing/2014/main" id="{5FAEF748-C0A4-4559-B3D5-405AABD97787}"/>
              </a:ext>
            </a:extLst>
          </p:cNvPr>
          <p:cNvPicPr>
            <a:picLocks xmlns:a="http://schemas.openxmlformats.org/drawingml/2006/main" noChangeAspect="1"/>
          </p:cNvPicPr>
          <p:nvPr/>
        </p:nvPicPr>
        <p:blipFill>
          <a:blip xmlns:r="http://schemas.openxmlformats.org/officeDocument/2006/relationships" xmlns:a="http://schemas.openxmlformats.org/drawingml/2006/main" r:embed="Ra059ab73967f42a7"/>
          <a:stretch xmlns:a="http://schemas.openxmlformats.org/drawingml/2006/main"/>
        </p:blipFill>
        <p:spPr>
          <a:xfrm xmlns:a="http://schemas.openxmlformats.org/drawingml/2006/main">
            <a:off x="762000" y="10048875"/>
            <a:ext cx="13716000" cy="77152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7D9CADF-58EB-4E19-AA90-F4A472ECC60C}"/>
              </a:ext>
            </a:extLst>
          </p:cNvPr>
          <p:cNvSpPr>
            <a:spLocks xmlns:a="http://schemas.openxmlformats.org/drawingml/2006/main" noGrp="1"/>
          </p:cNvSpPr>
          <p:nvPr/>
        </p:nvSpPr>
        <p:spPr>
          <a:xfrm xmlns:a="http://schemas.openxmlformats.org/drawingml/2006/main">
            <a:off x="762000" y="18383250"/>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4B606D"/>
                </a:solidFill>
                <a:latin typeface="Arial"/>
                <a:ea typeface="Arial"/>
                <a:cs typeface="Arial"/>
              </a:defRPr>
            </a:defPPr>
          </a:lstStyle>
          <a:p xmlns:a="http://schemas.openxmlformats.org/drawingml/2006/main">
            <a:pPr>
              <a:defRPr sz="2175" b="1">
                <a:solidFill>
                  <a:srgbClr val="4B606D"/>
                </a:solidFill>
                <a:latin typeface="Arial"/>
                <a:ea typeface="Arial"/>
                <a:cs typeface="Arial"/>
              </a:defRPr>
            </a:pPr>
            <a:r>
              <a:rPr sz="2175" b="1">
                <a:solidFill>
                  <a:srgbClr val="4B606D"/>
                </a:solidFill>
                <a:latin typeface="Arial"/>
                <a:ea typeface="Arial"/>
                <a:cs typeface="Arial"/>
              </a:rPr>
              <a:t>A residue interval must come from your instruction. The tool does not infer a cleavage site.</a:t>
            </a:r>
          </a:p>
        </p:txBody>
      </p:sp>
    </p:spTree>
    <p:extLst>
      <p:ext uri="{BB962C8B-B14F-4D97-AF65-F5344CB8AC3E}">
        <p14:creationId xmlns:p14="http://schemas.microsoft.com/office/powerpoint/2010/main" val="2406321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0AC8A54-460D-4B9C-8F7F-7D0A24312642}"/>
              </a:ext>
            </a:extLst>
          </p:cNvPr>
          <p:cNvSpPr>
            <a:spLocks xmlns:a="http://schemas.openxmlformats.org/drawingml/2006/main" noGrp="1"/>
          </p:cNvSpPr>
          <p:nvPr/>
        </p:nvSpPr>
        <p:spPr>
          <a:xfrm xmlns:a="http://schemas.openxmlformats.org/drawingml/2006/main">
            <a:off x="762000" y="361950"/>
            <a:ext cx="1323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4B606D"/>
                </a:solidFill>
                <a:latin typeface="Arial"/>
                <a:ea typeface="Arial"/>
                <a:cs typeface="Arial"/>
              </a:defRPr>
            </a:defPPr>
          </a:lstStyle>
          <a:p xmlns:a="http://schemas.openxmlformats.org/drawingml/2006/main">
            <a:pPr>
              <a:defRPr sz="1725" b="1">
                <a:solidFill>
                  <a:srgbClr val="4B606D"/>
                </a:solidFill>
                <a:latin typeface="Arial"/>
                <a:ea typeface="Arial"/>
                <a:cs typeface="Arial"/>
              </a:defRPr>
            </a:pPr>
            <a:r>
              <a:rPr sz="1725" b="1">
                <a:solidFill>
                  <a:srgbClr val="4B606D"/>
                </a:solidFill>
                <a:latin typeface="Arial"/>
                <a:ea typeface="Arial"/>
                <a:cs typeface="Arial"/>
              </a:rPr>
              <a:t>ENZORA  /  USER GUIDE</a:t>
            </a:r>
          </a:p>
        </p:txBody>
      </p:sp>
      <p:sp>
        <p:nvSpPr>
          <p:cNvPr id="2" name="">
            <a:extLst xmlns:a="http://schemas.openxmlformats.org/drawingml/2006/main">
              <a:ext uri="{FF2B5EF4-FFF2-40B4-BE49-F238E27FC236}">
                <a16:creationId xmlns:a16="http://schemas.microsoft.com/office/drawing/2014/main" id="{DD92CFDE-513B-4E27-91DD-F22AC7EB1382}"/>
              </a:ext>
            </a:extLst>
          </p:cNvPr>
          <p:cNvSpPr>
            <a:spLocks xmlns:a="http://schemas.openxmlformats.org/drawingml/2006/main" noGrp="1"/>
          </p:cNvSpPr>
          <p:nvPr/>
        </p:nvSpPr>
        <p:spPr>
          <a:xfrm xmlns:a="http://schemas.openxmlformats.org/drawingml/2006/main">
            <a:off x="762000" y="952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20333D"/>
                </a:solidFill>
                <a:latin typeface="Arial"/>
                <a:ea typeface="Arial"/>
                <a:cs typeface="Arial"/>
              </a:defRPr>
            </a:defPPr>
          </a:lstStyle>
          <a:p xmlns:a="http://schemas.openxmlformats.org/drawingml/2006/main">
            <a:pPr>
              <a:defRPr sz="4875" b="1">
                <a:solidFill>
                  <a:srgbClr val="20333D"/>
                </a:solidFill>
                <a:latin typeface="Arial"/>
                <a:ea typeface="Arial"/>
                <a:cs typeface="Arial"/>
              </a:defRPr>
            </a:pPr>
            <a:r>
              <a:rPr sz="4875" b="1">
                <a:solidFill>
                  <a:srgbClr val="20333D"/>
                </a:solidFill>
                <a:latin typeface="Arial"/>
                <a:ea typeface="Arial"/>
                <a:cs typeface="Arial"/>
              </a:rPr>
              <a:t>10. Structures and Model&amp;Tools</a:t>
            </a:r>
          </a:p>
        </p:txBody>
      </p:sp>
      <p:sp>
        <p:nvSpPr>
          <p:cNvPr id="3" name="">
            <a:extLst xmlns:a="http://schemas.openxmlformats.org/drawingml/2006/main">
              <a:ext uri="{FF2B5EF4-FFF2-40B4-BE49-F238E27FC236}">
                <a16:creationId xmlns:a16="http://schemas.microsoft.com/office/drawing/2014/main" id="{FEFE8469-49AF-46E2-97DB-C344F84E0316}"/>
              </a:ext>
            </a:extLst>
          </p:cNvPr>
          <p:cNvSpPr>
            <a:spLocks xmlns:a="http://schemas.openxmlformats.org/drawingml/2006/main" noGrp="1"/>
          </p:cNvSpPr>
          <p:nvPr/>
        </p:nvSpPr>
        <p:spPr>
          <a:xfrm xmlns:a="http://schemas.openxmlformats.org/drawingml/2006/main">
            <a:off x="762000" y="2524125"/>
            <a:ext cx="1371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Inspect the source and identity of every returned structure</a:t>
            </a:r>
          </a:p>
        </p:txBody>
      </p:sp>
      <p:sp>
        <p:nvSpPr>
          <p:cNvPr id="4" name="">
            <a:extLst xmlns:a="http://schemas.openxmlformats.org/drawingml/2006/main">
              <a:ext uri="{FF2B5EF4-FFF2-40B4-BE49-F238E27FC236}">
                <a16:creationId xmlns:a16="http://schemas.microsoft.com/office/drawing/2014/main" id="{BA2316BF-5779-4C1C-994D-D4E36DA81657}"/>
              </a:ext>
            </a:extLst>
          </p:cNvPr>
          <p:cNvSpPr>
            <a:spLocks xmlns:a="http://schemas.openxmlformats.org/drawingml/2006/main" noGrp="1"/>
          </p:cNvSpPr>
          <p:nvPr/>
        </p:nvSpPr>
        <p:spPr>
          <a:xfrm xmlns:a="http://schemas.openxmlformats.org/drawingml/2006/main">
            <a:off x="762000" y="19240500"/>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4B606D"/>
                </a:solidFill>
                <a:latin typeface="Arial"/>
                <a:ea typeface="Arial"/>
                <a:cs typeface="Arial"/>
              </a:defRPr>
            </a:defPPr>
          </a:lstStyle>
          <a:p xmlns:a="http://schemas.openxmlformats.org/drawingml/2006/main">
            <a:pPr>
              <a:defRPr sz="1650" b="1">
                <a:solidFill>
                  <a:srgbClr val="4B606D"/>
                </a:solidFill>
                <a:latin typeface="Arial"/>
                <a:ea typeface="Arial"/>
                <a:cs typeface="Arial"/>
              </a:defRPr>
            </a:pPr>
            <a:r>
              <a:rPr sz="1650" b="1">
                <a:solidFill>
                  <a:srgbClr val="4B606D"/>
                </a:solidFill>
                <a:latin typeface="Arial"/>
                <a:ea typeface="Arial"/>
                <a:cs typeface="Arial"/>
              </a:rPr>
              <a:t>Enzora web platform • 16 October 2026</a:t>
            </a:r>
          </a:p>
        </p:txBody>
      </p:sp>
      <p:sp>
        <p:nvSpPr>
          <p:cNvPr id="5" name="">
            <a:extLst xmlns:a="http://schemas.openxmlformats.org/drawingml/2006/main">
              <a:ext uri="{FF2B5EF4-FFF2-40B4-BE49-F238E27FC236}">
                <a16:creationId xmlns:a16="http://schemas.microsoft.com/office/drawing/2014/main" id="{D1CBC48A-BA82-4C12-AF7E-461B47933B38}"/>
              </a:ext>
            </a:extLst>
          </p:cNvPr>
          <p:cNvSpPr>
            <a:spLocks xmlns:a="http://schemas.openxmlformats.org/drawingml/2006/main" noGrp="1"/>
          </p:cNvSpPr>
          <p:nvPr/>
        </p:nvSpPr>
        <p:spPr>
          <a:xfrm xmlns:a="http://schemas.openxmlformats.org/drawingml/2006/main">
            <a:off x="13811250" y="19240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4B606D"/>
                </a:solidFill>
                <a:latin typeface="Arial"/>
                <a:ea typeface="Arial"/>
                <a:cs typeface="Arial"/>
              </a:defRPr>
            </a:defPPr>
          </a:lstStyle>
          <a:p xmlns:a="http://schemas.openxmlformats.org/drawingml/2006/main">
            <a:pPr>
              <a:defRPr sz="1800" b="1">
                <a:solidFill>
                  <a:srgbClr val="4B606D"/>
                </a:solidFill>
                <a:latin typeface="Arial"/>
                <a:ea typeface="Arial"/>
                <a:cs typeface="Arial"/>
              </a:defRPr>
            </a:pPr>
            <a:r>
              <a:rPr sz="1800" b="1">
                <a:solidFill>
                  <a:srgbClr val="4B606D"/>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430F5CA6-6C7F-4107-9E3D-38E16F10FC81}"/>
              </a:ext>
            </a:extLst>
          </p:cNvPr>
          <p:cNvSpPr>
            <a:spLocks xmlns:a="http://schemas.openxmlformats.org/drawingml/2006/main" noGrp="1"/>
          </p:cNvSpPr>
          <p:nvPr/>
        </p:nvSpPr>
        <p:spPr>
          <a:xfrm xmlns:a="http://schemas.openxmlformats.org/drawingml/2006/main">
            <a:off x="762000" y="404812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ESM Atlas and the structure viewer</a:t>
            </a:r>
          </a:p>
        </p:txBody>
      </p:sp>
      <p:sp>
        <p:nvSpPr>
          <p:cNvPr id="7" name="">
            <a:extLst xmlns:a="http://schemas.openxmlformats.org/drawingml/2006/main">
              <a:ext uri="{FF2B5EF4-FFF2-40B4-BE49-F238E27FC236}">
                <a16:creationId xmlns:a16="http://schemas.microsoft.com/office/drawing/2014/main" id="{E5B8D8C0-C031-4B8F-9004-8F94EAD2A1E9}"/>
              </a:ext>
            </a:extLst>
          </p:cNvPr>
          <p:cNvSpPr>
            <a:spLocks xmlns:a="http://schemas.openxmlformats.org/drawingml/2006/main" noGrp="1"/>
          </p:cNvSpPr>
          <p:nvPr/>
        </p:nvSpPr>
        <p:spPr>
          <a:xfrm xmlns:a="http://schemas.openxmlformats.org/drawingml/2006/main">
            <a:off x="762000" y="4714875"/>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Atlas lookup retrieves metadata, sequence, SAE features and any stored prediction. The viewer supports rotation, zoom and representation changes. SAE feature similarity is not sequence identity.</a:t>
            </a:r>
          </a:p>
        </p:txBody>
      </p:sp>
      <p:pic>
        <p:nvPicPr>
          <p:cNvPr id="8" name="">
            <a:extLst xmlns:a="http://schemas.openxmlformats.org/drawingml/2006/main">
              <a:ext uri="{FF2B5EF4-FFF2-40B4-BE49-F238E27FC236}">
                <a16:creationId xmlns:a16="http://schemas.microsoft.com/office/drawing/2014/main" id="{874ADCCB-49CE-46BC-AF3A-E7B10FB2C329}"/>
              </a:ext>
            </a:extLst>
          </p:cNvPr>
          <p:cNvPicPr>
            <a:picLocks xmlns:a="http://schemas.openxmlformats.org/drawingml/2006/main" noChangeAspect="1"/>
          </p:cNvPicPr>
          <p:nvPr/>
        </p:nvPicPr>
        <p:blipFill>
          <a:blip xmlns:r="http://schemas.openxmlformats.org/officeDocument/2006/relationships" xmlns:a="http://schemas.openxmlformats.org/drawingml/2006/main" r:embed="R45eeb282a0a44844"/>
          <a:stretch xmlns:a="http://schemas.openxmlformats.org/drawingml/2006/main"/>
        </p:blipFill>
        <p:spPr>
          <a:xfrm xmlns:a="http://schemas.openxmlformats.org/drawingml/2006/main">
            <a:off x="3215376" y="7286625"/>
            <a:ext cx="8809249" cy="8334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1DA4ABB-F001-4E13-A24F-4D58D38755A4}"/>
              </a:ext>
            </a:extLst>
          </p:cNvPr>
          <p:cNvSpPr>
            <a:spLocks xmlns:a="http://schemas.openxmlformats.org/drawingml/2006/main" noGrp="1"/>
          </p:cNvSpPr>
          <p:nvPr/>
        </p:nvSpPr>
        <p:spPr>
          <a:xfrm xmlns:a="http://schemas.openxmlformats.org/drawingml/2006/main">
            <a:off x="762000" y="1609725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Prediction is a separate request</a:t>
            </a:r>
          </a:p>
        </p:txBody>
      </p:sp>
      <p:sp>
        <p:nvSpPr>
          <p:cNvPr id="10" name="">
            <a:extLst xmlns:a="http://schemas.openxmlformats.org/drawingml/2006/main">
              <a:ext uri="{FF2B5EF4-FFF2-40B4-BE49-F238E27FC236}">
                <a16:creationId xmlns:a16="http://schemas.microsoft.com/office/drawing/2014/main" id="{CF9D8A64-7F30-4BB7-86EC-1F4F6D7BDF60}"/>
              </a:ext>
            </a:extLst>
          </p:cNvPr>
          <p:cNvSpPr>
            <a:spLocks xmlns:a="http://schemas.openxmlformats.org/drawingml/2006/main" noGrp="1"/>
          </p:cNvSpPr>
          <p:nvPr/>
        </p:nvSpPr>
        <p:spPr>
          <a:xfrm xmlns:a="http://schemas.openxmlformats.org/drawingml/2006/main">
            <a:off x="762000" y="167640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Inspect structure displays the supplied WT structure. ESMFold2 prediction requires a separately configured Biohub token and an explicit request. The Tools page disables unavailable operations.</a:t>
            </a:r>
          </a:p>
        </p:txBody>
      </p:sp>
    </p:spTree>
    <p:extLst>
      <p:ext uri="{BB962C8B-B14F-4D97-AF65-F5344CB8AC3E}">
        <p14:creationId xmlns:p14="http://schemas.microsoft.com/office/powerpoint/2010/main" val="11912641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8A2A228-1630-4049-B151-621E153A2C9F}"/>
              </a:ext>
            </a:extLst>
          </p:cNvPr>
          <p:cNvSpPr>
            <a:spLocks xmlns:a="http://schemas.openxmlformats.org/drawingml/2006/main" noGrp="1"/>
          </p:cNvSpPr>
          <p:nvPr/>
        </p:nvSpPr>
        <p:spPr>
          <a:xfrm xmlns:a="http://schemas.openxmlformats.org/drawingml/2006/main">
            <a:off x="762000" y="361950"/>
            <a:ext cx="1323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4B606D"/>
                </a:solidFill>
                <a:latin typeface="Arial"/>
                <a:ea typeface="Arial"/>
                <a:cs typeface="Arial"/>
              </a:defRPr>
            </a:defPPr>
          </a:lstStyle>
          <a:p xmlns:a="http://schemas.openxmlformats.org/drawingml/2006/main">
            <a:pPr>
              <a:defRPr sz="1725" b="1">
                <a:solidFill>
                  <a:srgbClr val="4B606D"/>
                </a:solidFill>
                <a:latin typeface="Arial"/>
                <a:ea typeface="Arial"/>
                <a:cs typeface="Arial"/>
              </a:defRPr>
            </a:pPr>
            <a:r>
              <a:rPr sz="1725" b="1">
                <a:solidFill>
                  <a:srgbClr val="4B606D"/>
                </a:solidFill>
                <a:latin typeface="Arial"/>
                <a:ea typeface="Arial"/>
                <a:cs typeface="Arial"/>
              </a:rPr>
              <a:t>ENZORA  /  USER GUIDE</a:t>
            </a:r>
          </a:p>
        </p:txBody>
      </p:sp>
      <p:sp>
        <p:nvSpPr>
          <p:cNvPr id="2" name="">
            <a:extLst xmlns:a="http://schemas.openxmlformats.org/drawingml/2006/main">
              <a:ext uri="{FF2B5EF4-FFF2-40B4-BE49-F238E27FC236}">
                <a16:creationId xmlns:a16="http://schemas.microsoft.com/office/drawing/2014/main" id="{A7FC9531-9383-44B3-9CFF-713AB192AF41}"/>
              </a:ext>
            </a:extLst>
          </p:cNvPr>
          <p:cNvSpPr>
            <a:spLocks xmlns:a="http://schemas.openxmlformats.org/drawingml/2006/main" noGrp="1"/>
          </p:cNvSpPr>
          <p:nvPr/>
        </p:nvSpPr>
        <p:spPr>
          <a:xfrm xmlns:a="http://schemas.openxmlformats.org/drawingml/2006/main">
            <a:off x="762000" y="952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20333D"/>
                </a:solidFill>
                <a:latin typeface="Arial"/>
                <a:ea typeface="Arial"/>
                <a:cs typeface="Arial"/>
              </a:defRPr>
            </a:defPPr>
          </a:lstStyle>
          <a:p xmlns:a="http://schemas.openxmlformats.org/drawingml/2006/main">
            <a:pPr>
              <a:defRPr sz="4875" b="1">
                <a:solidFill>
                  <a:srgbClr val="20333D"/>
                </a:solidFill>
                <a:latin typeface="Arial"/>
                <a:ea typeface="Arial"/>
                <a:cs typeface="Arial"/>
              </a:defRPr>
            </a:pPr>
            <a:r>
              <a:rPr sz="4875" b="1">
                <a:solidFill>
                  <a:srgbClr val="20333D"/>
                </a:solidFill>
                <a:latin typeface="Arial"/>
                <a:ea typeface="Arial"/>
                <a:cs typeface="Arial"/>
              </a:rPr>
              <a:t>11. UMAP and the Top-K shortlist</a:t>
            </a:r>
          </a:p>
        </p:txBody>
      </p:sp>
      <p:sp>
        <p:nvSpPr>
          <p:cNvPr id="3" name="">
            <a:extLst xmlns:a="http://schemas.openxmlformats.org/drawingml/2006/main">
              <a:ext uri="{FF2B5EF4-FFF2-40B4-BE49-F238E27FC236}">
                <a16:creationId xmlns:a16="http://schemas.microsoft.com/office/drawing/2014/main" id="{B7C73164-BCF4-483F-B87E-1C9CF8230AE0}"/>
              </a:ext>
            </a:extLst>
          </p:cNvPr>
          <p:cNvSpPr>
            <a:spLocks xmlns:a="http://schemas.openxmlformats.org/drawingml/2006/main" noGrp="1"/>
          </p:cNvSpPr>
          <p:nvPr/>
        </p:nvSpPr>
        <p:spPr>
          <a:xfrm xmlns:a="http://schemas.openxmlformats.org/drawingml/2006/main">
            <a:off x="762000" y="2524125"/>
            <a:ext cx="1371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The map helps you inspect sequence space, not measure experimental activity</a:t>
            </a:r>
          </a:p>
        </p:txBody>
      </p:sp>
      <p:sp>
        <p:nvSpPr>
          <p:cNvPr id="4" name="">
            <a:extLst xmlns:a="http://schemas.openxmlformats.org/drawingml/2006/main">
              <a:ext uri="{FF2B5EF4-FFF2-40B4-BE49-F238E27FC236}">
                <a16:creationId xmlns:a16="http://schemas.microsoft.com/office/drawing/2014/main" id="{B0716AAF-5773-48CB-AF2B-570FB78CC492}"/>
              </a:ext>
            </a:extLst>
          </p:cNvPr>
          <p:cNvSpPr>
            <a:spLocks xmlns:a="http://schemas.openxmlformats.org/drawingml/2006/main" noGrp="1"/>
          </p:cNvSpPr>
          <p:nvPr/>
        </p:nvSpPr>
        <p:spPr>
          <a:xfrm xmlns:a="http://schemas.openxmlformats.org/drawingml/2006/main">
            <a:off x="762000" y="19240500"/>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4B606D"/>
                </a:solidFill>
                <a:latin typeface="Arial"/>
                <a:ea typeface="Arial"/>
                <a:cs typeface="Arial"/>
              </a:defRPr>
            </a:defPPr>
          </a:lstStyle>
          <a:p xmlns:a="http://schemas.openxmlformats.org/drawingml/2006/main">
            <a:pPr>
              <a:defRPr sz="1650" b="1">
                <a:solidFill>
                  <a:srgbClr val="4B606D"/>
                </a:solidFill>
                <a:latin typeface="Arial"/>
                <a:ea typeface="Arial"/>
                <a:cs typeface="Arial"/>
              </a:defRPr>
            </a:pPr>
            <a:r>
              <a:rPr sz="1650" b="1">
                <a:solidFill>
                  <a:srgbClr val="4B606D"/>
                </a:solidFill>
                <a:latin typeface="Arial"/>
                <a:ea typeface="Arial"/>
                <a:cs typeface="Arial"/>
              </a:rPr>
              <a:t>Enzora web platform • 16 October 2026</a:t>
            </a:r>
          </a:p>
        </p:txBody>
      </p:sp>
      <p:sp>
        <p:nvSpPr>
          <p:cNvPr id="5" name="">
            <a:extLst xmlns:a="http://schemas.openxmlformats.org/drawingml/2006/main">
              <a:ext uri="{FF2B5EF4-FFF2-40B4-BE49-F238E27FC236}">
                <a16:creationId xmlns:a16="http://schemas.microsoft.com/office/drawing/2014/main" id="{BA0895D7-CE15-41D6-B073-1BA4914F264D}"/>
              </a:ext>
            </a:extLst>
          </p:cNvPr>
          <p:cNvSpPr>
            <a:spLocks xmlns:a="http://schemas.openxmlformats.org/drawingml/2006/main" noGrp="1"/>
          </p:cNvSpPr>
          <p:nvPr/>
        </p:nvSpPr>
        <p:spPr>
          <a:xfrm xmlns:a="http://schemas.openxmlformats.org/drawingml/2006/main">
            <a:off x="13811250" y="19240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4B606D"/>
                </a:solidFill>
                <a:latin typeface="Arial"/>
                <a:ea typeface="Arial"/>
                <a:cs typeface="Arial"/>
              </a:defRPr>
            </a:defPPr>
          </a:lstStyle>
          <a:p xmlns:a="http://schemas.openxmlformats.org/drawingml/2006/main">
            <a:pPr>
              <a:defRPr sz="1800" b="1">
                <a:solidFill>
                  <a:srgbClr val="4B606D"/>
                </a:solidFill>
                <a:latin typeface="Arial"/>
                <a:ea typeface="Arial"/>
                <a:cs typeface="Arial"/>
              </a:defRPr>
            </a:pPr>
            <a:r>
              <a:rPr sz="1800" b="1">
                <a:solidFill>
                  <a:srgbClr val="4B606D"/>
                </a:solidFill>
                <a:latin typeface="Arial"/>
                <a:ea typeface="Arial"/>
                <a:cs typeface="Arial"/>
              </a:rPr>
              <a:t>12</a:t>
            </a:r>
          </a:p>
        </p:txBody>
      </p:sp>
      <p:pic>
        <p:nvPicPr>
          <p:cNvPr id="6" name="">
            <a:extLst xmlns:a="http://schemas.openxmlformats.org/drawingml/2006/main">
              <a:ext uri="{FF2B5EF4-FFF2-40B4-BE49-F238E27FC236}">
                <a16:creationId xmlns:a16="http://schemas.microsoft.com/office/drawing/2014/main" id="{7302E995-6426-480D-89E1-702A8B3777A1}"/>
              </a:ext>
            </a:extLst>
          </p:cNvPr>
          <p:cNvPicPr>
            <a:picLocks xmlns:a="http://schemas.openxmlformats.org/drawingml/2006/main" noChangeAspect="1"/>
          </p:cNvPicPr>
          <p:nvPr/>
        </p:nvPicPr>
        <p:blipFill>
          <a:blip xmlns:r="http://schemas.openxmlformats.org/officeDocument/2006/relationships" xmlns:a="http://schemas.openxmlformats.org/drawingml/2006/main" r:embed="R3706afdff328493f"/>
          <a:stretch xmlns:a="http://schemas.openxmlformats.org/drawingml/2006/main"/>
        </p:blipFill>
        <p:spPr>
          <a:xfrm xmlns:a="http://schemas.openxmlformats.org/drawingml/2006/main">
            <a:off x="762000" y="4048125"/>
            <a:ext cx="13716000" cy="8572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4268F1A-9343-40E3-AA38-0EFA676B7EA1}"/>
              </a:ext>
            </a:extLst>
          </p:cNvPr>
          <p:cNvSpPr>
            <a:spLocks xmlns:a="http://schemas.openxmlformats.org/drawingml/2006/main" noGrp="1"/>
          </p:cNvSpPr>
          <p:nvPr/>
        </p:nvSpPr>
        <p:spPr>
          <a:xfrm xmlns:a="http://schemas.openxmlformats.org/drawingml/2006/main">
            <a:off x="762000" y="1314450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Explore and select</a:t>
            </a:r>
          </a:p>
        </p:txBody>
      </p:sp>
      <p:sp>
        <p:nvSpPr>
          <p:cNvPr id="8" name="">
            <a:extLst xmlns:a="http://schemas.openxmlformats.org/drawingml/2006/main">
              <a:ext uri="{FF2B5EF4-FFF2-40B4-BE49-F238E27FC236}">
                <a16:creationId xmlns:a16="http://schemas.microsoft.com/office/drawing/2014/main" id="{18E29BCD-CDC2-4FF3-97D7-9005B3A95EBF}"/>
              </a:ext>
            </a:extLst>
          </p:cNvPr>
          <p:cNvSpPr>
            <a:spLocks xmlns:a="http://schemas.openxmlformats.org/drawingml/2006/main" noGrp="1"/>
          </p:cNvSpPr>
          <p:nvPr/>
        </p:nvSpPr>
        <p:spPr>
          <a:xfrm xmlns:a="http://schemas.openxmlformats.org/drawingml/2006/main">
            <a:off x="762000" y="138112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Drag the map to pan and use the wheel or zoom buttons. Select a highlighted Top-K node to inspect its sequence. The dark-blue residues identify substitutions relative to the initial WT.</a:t>
            </a:r>
          </a:p>
        </p:txBody>
      </p:sp>
      <p:sp>
        <p:nvSpPr>
          <p:cNvPr id="9" name="">
            <a:extLst xmlns:a="http://schemas.openxmlformats.org/drawingml/2006/main">
              <a:ext uri="{FF2B5EF4-FFF2-40B4-BE49-F238E27FC236}">
                <a16:creationId xmlns:a16="http://schemas.microsoft.com/office/drawing/2014/main" id="{16B1B5B7-FB24-4208-87D7-10048936F59C}"/>
              </a:ext>
            </a:extLst>
          </p:cNvPr>
          <p:cNvSpPr>
            <a:spLocks xmlns:a="http://schemas.openxmlformats.org/drawingml/2006/main" noGrp="1"/>
          </p:cNvSpPr>
          <p:nvPr/>
        </p:nvSpPr>
        <p:spPr>
          <a:xfrm xmlns:a="http://schemas.openxmlformats.org/drawingml/2006/main">
            <a:off x="762000" y="1614487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Generate the final result</a:t>
            </a:r>
          </a:p>
        </p:txBody>
      </p:sp>
      <p:sp>
        <p:nvSpPr>
          <p:cNvPr id="10" name="">
            <a:extLst xmlns:a="http://schemas.openxmlformats.org/drawingml/2006/main">
              <a:ext uri="{FF2B5EF4-FFF2-40B4-BE49-F238E27FC236}">
                <a16:creationId xmlns:a16="http://schemas.microsoft.com/office/drawing/2014/main" id="{C1D0297E-BCEF-4E2E-A986-520329CB4948}"/>
              </a:ext>
            </a:extLst>
          </p:cNvPr>
          <p:cNvSpPr>
            <a:spLocks xmlns:a="http://schemas.openxmlformats.org/drawingml/2006/main" noGrp="1"/>
          </p:cNvSpPr>
          <p:nvPr/>
        </p:nvSpPr>
        <p:spPr>
          <a:xfrm xmlns:a="http://schemas.openxmlformats.org/drawingml/2006/main">
            <a:off x="762000" y="16811625"/>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After scoring is ready, go to Output and click Select Top-K &amp; generate report. This starts final selection, UMAP and analysis. The report export becomes available when those steps finish.</a:t>
            </a:r>
          </a:p>
        </p:txBody>
      </p:sp>
    </p:spTree>
    <p:extLst>
      <p:ext uri="{BB962C8B-B14F-4D97-AF65-F5344CB8AC3E}">
        <p14:creationId xmlns:p14="http://schemas.microsoft.com/office/powerpoint/2010/main" val="1325474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619B1E8-EF91-44EA-8CFB-A260629C8AB7}"/>
              </a:ext>
            </a:extLst>
          </p:cNvPr>
          <p:cNvSpPr>
            <a:spLocks xmlns:a="http://schemas.openxmlformats.org/drawingml/2006/main" noGrp="1"/>
          </p:cNvSpPr>
          <p:nvPr/>
        </p:nvSpPr>
        <p:spPr>
          <a:xfrm xmlns:a="http://schemas.openxmlformats.org/drawingml/2006/main">
            <a:off x="762000" y="361950"/>
            <a:ext cx="1323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4B606D"/>
                </a:solidFill>
                <a:latin typeface="Arial"/>
                <a:ea typeface="Arial"/>
                <a:cs typeface="Arial"/>
              </a:defRPr>
            </a:defPPr>
          </a:lstStyle>
          <a:p xmlns:a="http://schemas.openxmlformats.org/drawingml/2006/main">
            <a:pPr>
              <a:defRPr sz="1725" b="1">
                <a:solidFill>
                  <a:srgbClr val="4B606D"/>
                </a:solidFill>
                <a:latin typeface="Arial"/>
                <a:ea typeface="Arial"/>
                <a:cs typeface="Arial"/>
              </a:defRPr>
            </a:pPr>
            <a:r>
              <a:rPr sz="1725" b="1">
                <a:solidFill>
                  <a:srgbClr val="4B606D"/>
                </a:solidFill>
                <a:latin typeface="Arial"/>
                <a:ea typeface="Arial"/>
                <a:cs typeface="Arial"/>
              </a:rPr>
              <a:t>ENZORA  /  USER GUIDE</a:t>
            </a:r>
          </a:p>
        </p:txBody>
      </p:sp>
      <p:sp>
        <p:nvSpPr>
          <p:cNvPr id="2" name="">
            <a:extLst xmlns:a="http://schemas.openxmlformats.org/drawingml/2006/main">
              <a:ext uri="{FF2B5EF4-FFF2-40B4-BE49-F238E27FC236}">
                <a16:creationId xmlns:a16="http://schemas.microsoft.com/office/drawing/2014/main" id="{CBB1BB01-F2AF-4CE9-86FD-29F960A54F54}"/>
              </a:ext>
            </a:extLst>
          </p:cNvPr>
          <p:cNvSpPr>
            <a:spLocks xmlns:a="http://schemas.openxmlformats.org/drawingml/2006/main" noGrp="1"/>
          </p:cNvSpPr>
          <p:nvPr/>
        </p:nvSpPr>
        <p:spPr>
          <a:xfrm xmlns:a="http://schemas.openxmlformats.org/drawingml/2006/main">
            <a:off x="762000" y="952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20333D"/>
                </a:solidFill>
                <a:latin typeface="Arial"/>
                <a:ea typeface="Arial"/>
                <a:cs typeface="Arial"/>
              </a:defRPr>
            </a:defPPr>
          </a:lstStyle>
          <a:p xmlns:a="http://schemas.openxmlformats.org/drawingml/2006/main">
            <a:pPr>
              <a:defRPr sz="4875" b="1">
                <a:solidFill>
                  <a:srgbClr val="20333D"/>
                </a:solidFill>
                <a:latin typeface="Arial"/>
                <a:ea typeface="Arial"/>
                <a:cs typeface="Arial"/>
              </a:defRPr>
            </a:pPr>
            <a:r>
              <a:rPr sz="4875" b="1">
                <a:solidFill>
                  <a:srgbClr val="20333D"/>
                </a:solidFill>
                <a:latin typeface="Arial"/>
                <a:ea typeface="Arial"/>
                <a:cs typeface="Arial"/>
              </a:rPr>
              <a:t>12. Result formats and coding DNA</a:t>
            </a:r>
          </a:p>
        </p:txBody>
      </p:sp>
      <p:sp>
        <p:nvSpPr>
          <p:cNvPr id="3" name="">
            <a:extLst xmlns:a="http://schemas.openxmlformats.org/drawingml/2006/main">
              <a:ext uri="{FF2B5EF4-FFF2-40B4-BE49-F238E27FC236}">
                <a16:creationId xmlns:a16="http://schemas.microsoft.com/office/drawing/2014/main" id="{9720F2CA-054E-4482-8726-C1C2337E7A64}"/>
              </a:ext>
            </a:extLst>
          </p:cNvPr>
          <p:cNvSpPr>
            <a:spLocks xmlns:a="http://schemas.openxmlformats.org/drawingml/2006/main" noGrp="1"/>
          </p:cNvSpPr>
          <p:nvPr/>
        </p:nvSpPr>
        <p:spPr>
          <a:xfrm xmlns:a="http://schemas.openxmlformats.org/drawingml/2006/main">
            <a:off x="762000" y="2524125"/>
            <a:ext cx="1371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Choose a format that preserves the information you need</a:t>
            </a:r>
          </a:p>
        </p:txBody>
      </p:sp>
      <p:sp>
        <p:nvSpPr>
          <p:cNvPr id="4" name="">
            <a:extLst xmlns:a="http://schemas.openxmlformats.org/drawingml/2006/main">
              <a:ext uri="{FF2B5EF4-FFF2-40B4-BE49-F238E27FC236}">
                <a16:creationId xmlns:a16="http://schemas.microsoft.com/office/drawing/2014/main" id="{BAFE58BB-B37B-495D-8E5F-3D90AC524DF3}"/>
              </a:ext>
            </a:extLst>
          </p:cNvPr>
          <p:cNvSpPr>
            <a:spLocks xmlns:a="http://schemas.openxmlformats.org/drawingml/2006/main" noGrp="1"/>
          </p:cNvSpPr>
          <p:nvPr/>
        </p:nvSpPr>
        <p:spPr>
          <a:xfrm xmlns:a="http://schemas.openxmlformats.org/drawingml/2006/main">
            <a:off x="762000" y="19240500"/>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4B606D"/>
                </a:solidFill>
                <a:latin typeface="Arial"/>
                <a:ea typeface="Arial"/>
                <a:cs typeface="Arial"/>
              </a:defRPr>
            </a:defPPr>
          </a:lstStyle>
          <a:p xmlns:a="http://schemas.openxmlformats.org/drawingml/2006/main">
            <a:pPr>
              <a:defRPr sz="1650" b="1">
                <a:solidFill>
                  <a:srgbClr val="4B606D"/>
                </a:solidFill>
                <a:latin typeface="Arial"/>
                <a:ea typeface="Arial"/>
                <a:cs typeface="Arial"/>
              </a:defRPr>
            </a:pPr>
            <a:r>
              <a:rPr sz="1650" b="1">
                <a:solidFill>
                  <a:srgbClr val="4B606D"/>
                </a:solidFill>
                <a:latin typeface="Arial"/>
                <a:ea typeface="Arial"/>
                <a:cs typeface="Arial"/>
              </a:rPr>
              <a:t>Enzora web platform • 16 October 2026</a:t>
            </a:r>
          </a:p>
        </p:txBody>
      </p:sp>
      <p:sp>
        <p:nvSpPr>
          <p:cNvPr id="5" name="">
            <a:extLst xmlns:a="http://schemas.openxmlformats.org/drawingml/2006/main">
              <a:ext uri="{FF2B5EF4-FFF2-40B4-BE49-F238E27FC236}">
                <a16:creationId xmlns:a16="http://schemas.microsoft.com/office/drawing/2014/main" id="{FA655CB5-CF6E-4A5E-9586-62B485529CEF}"/>
              </a:ext>
            </a:extLst>
          </p:cNvPr>
          <p:cNvSpPr>
            <a:spLocks xmlns:a="http://schemas.openxmlformats.org/drawingml/2006/main" noGrp="1"/>
          </p:cNvSpPr>
          <p:nvPr/>
        </p:nvSpPr>
        <p:spPr>
          <a:xfrm xmlns:a="http://schemas.openxmlformats.org/drawingml/2006/main">
            <a:off x="13811250" y="19240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4B606D"/>
                </a:solidFill>
                <a:latin typeface="Arial"/>
                <a:ea typeface="Arial"/>
                <a:cs typeface="Arial"/>
              </a:defRPr>
            </a:defPPr>
          </a:lstStyle>
          <a:p xmlns:a="http://schemas.openxmlformats.org/drawingml/2006/main">
            <a:pPr>
              <a:defRPr sz="1800" b="1">
                <a:solidFill>
                  <a:srgbClr val="4B606D"/>
                </a:solidFill>
                <a:latin typeface="Arial"/>
                <a:ea typeface="Arial"/>
                <a:cs typeface="Arial"/>
              </a:defRPr>
            </a:pPr>
            <a:r>
              <a:rPr sz="1800" b="1">
                <a:solidFill>
                  <a:srgbClr val="4B606D"/>
                </a:solidFill>
                <a:latin typeface="Arial"/>
                <a:ea typeface="Arial"/>
                <a:cs typeface="Arial"/>
              </a:rPr>
              <a:t>13</a:t>
            </a:r>
          </a:p>
        </p:txBody>
      </p:sp>
      <p:sp>
        <p:nvSpPr>
          <p:cNvPr id="6" name="">
            <a:extLst xmlns:a="http://schemas.openxmlformats.org/drawingml/2006/main">
              <a:ext uri="{FF2B5EF4-FFF2-40B4-BE49-F238E27FC236}">
                <a16:creationId xmlns:a16="http://schemas.microsoft.com/office/drawing/2014/main" id="{9E98A643-5B3D-481B-A8D9-C10A4E40682D}"/>
              </a:ext>
            </a:extLst>
          </p:cNvPr>
          <p:cNvSpPr>
            <a:spLocks xmlns:a="http://schemas.openxmlformats.org/drawingml/2006/main" noGrp="1"/>
          </p:cNvSpPr>
          <p:nvPr/>
        </p:nvSpPr>
        <p:spPr>
          <a:xfrm xmlns:a="http://schemas.openxmlformats.org/drawingml/2006/main">
            <a:off x="762000" y="404812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Proteins and prediction records</a:t>
            </a:r>
          </a:p>
        </p:txBody>
      </p:sp>
      <p:sp>
        <p:nvSpPr>
          <p:cNvPr id="7" name="">
            <a:extLst xmlns:a="http://schemas.openxmlformats.org/drawingml/2006/main">
              <a:ext uri="{FF2B5EF4-FFF2-40B4-BE49-F238E27FC236}">
                <a16:creationId xmlns:a16="http://schemas.microsoft.com/office/drawing/2014/main" id="{3140562A-8844-4971-908A-CAEE2FBD5A08}"/>
              </a:ext>
            </a:extLst>
          </p:cNvPr>
          <p:cNvSpPr>
            <a:spLocks xmlns:a="http://schemas.openxmlformats.org/drawingml/2006/main" noGrp="1"/>
          </p:cNvSpPr>
          <p:nvPr/>
        </p:nvSpPr>
        <p:spPr>
          <a:xfrm xmlns:a="http://schemas.openxmlformats.org/drawingml/2006/main">
            <a:off x="762000" y="4714875"/>
            <a:ext cx="137160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The result selector exports JSON, CSV, FASTA, GenBank or SBOL. JSON preserves the BioArtifact schema, predictions and provenance. FASTA carries sequence identity but does not preserve arbitrary prediction annotations.</a:t>
            </a:r>
          </a:p>
        </p:txBody>
      </p:sp>
      <p:sp>
        <p:nvSpPr>
          <p:cNvPr id="8" name="">
            <a:extLst xmlns:a="http://schemas.openxmlformats.org/drawingml/2006/main">
              <a:ext uri="{FF2B5EF4-FFF2-40B4-BE49-F238E27FC236}">
                <a16:creationId xmlns:a16="http://schemas.microsoft.com/office/drawing/2014/main" id="{855D9E66-E0DC-43CE-91F4-75FEBC7EE0D9}"/>
              </a:ext>
            </a:extLst>
          </p:cNvPr>
          <p:cNvSpPr>
            <a:spLocks xmlns:a="http://schemas.openxmlformats.org/drawingml/2006/main" noGrp="1"/>
          </p:cNvSpPr>
          <p:nvPr/>
        </p:nvSpPr>
        <p:spPr>
          <a:xfrm xmlns:a="http://schemas.openxmlformats.org/drawingml/2006/main">
            <a:off x="762000" y="762000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Host-specific synonymous DNA</a:t>
            </a:r>
          </a:p>
        </p:txBody>
      </p:sp>
      <p:sp>
        <p:nvSpPr>
          <p:cNvPr id="9" name="">
            <a:extLst xmlns:a="http://schemas.openxmlformats.org/drawingml/2006/main">
              <a:ext uri="{FF2B5EF4-FFF2-40B4-BE49-F238E27FC236}">
                <a16:creationId xmlns:a16="http://schemas.microsoft.com/office/drawing/2014/main" id="{0DA2F8FD-840A-453E-B9C4-0CDCA21F07E0}"/>
              </a:ext>
            </a:extLst>
          </p:cNvPr>
          <p:cNvSpPr>
            <a:spLocks xmlns:a="http://schemas.openxmlformats.org/drawingml/2006/main" noGrp="1"/>
          </p:cNvSpPr>
          <p:nvPr/>
        </p:nvSpPr>
        <p:spPr>
          <a:xfrm xmlns:a="http://schemas.openxmlformats.org/drawingml/2006/main">
            <a:off x="762000" y="82867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Choose the expression host, then use Optimize &amp; export CDS. The export includes WT and selected candidates. Translate each DNA sequence back to the source protein before gene synthesis.</a:t>
            </a:r>
          </a:p>
        </p:txBody>
      </p:sp>
      <p:sp>
        <p:nvSpPr>
          <p:cNvPr id="10" name="">
            <a:extLst xmlns:a="http://schemas.openxmlformats.org/drawingml/2006/main">
              <a:ext uri="{FF2B5EF4-FFF2-40B4-BE49-F238E27FC236}">
                <a16:creationId xmlns:a16="http://schemas.microsoft.com/office/drawing/2014/main" id="{C763B8C2-FE20-4D0E-B226-5A11E456B3BB}"/>
              </a:ext>
            </a:extLst>
          </p:cNvPr>
          <p:cNvSpPr>
            <a:spLocks xmlns:a="http://schemas.openxmlformats.org/drawingml/2006/main" noGrp="1"/>
          </p:cNvSpPr>
          <p:nvPr/>
        </p:nvSpPr>
        <p:spPr>
          <a:xfrm xmlns:a="http://schemas.openxmlformats.org/drawingml/2006/main">
            <a:off x="762000" y="1119187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What codon optimization does</a:t>
            </a:r>
          </a:p>
        </p:txBody>
      </p:sp>
      <p:sp>
        <p:nvSpPr>
          <p:cNvPr id="11" name="">
            <a:extLst xmlns:a="http://schemas.openxmlformats.org/drawingml/2006/main">
              <a:ext uri="{FF2B5EF4-FFF2-40B4-BE49-F238E27FC236}">
                <a16:creationId xmlns:a16="http://schemas.microsoft.com/office/drawing/2014/main" id="{9FAD829A-DBA2-442F-991B-C45DD02BA613}"/>
              </a:ext>
            </a:extLst>
          </p:cNvPr>
          <p:cNvSpPr>
            <a:spLocks xmlns:a="http://schemas.openxmlformats.org/drawingml/2006/main" noGrp="1"/>
          </p:cNvSpPr>
          <p:nvPr/>
        </p:nvSpPr>
        <p:spPr>
          <a:xfrm xmlns:a="http://schemas.openxmlformats.org/drawingml/2006/main">
            <a:off x="762000" y="11858625"/>
            <a:ext cx="137160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Eleven host usage tables are built in, including E. coli and Bacillus subtilis. The current method chooses preferred synonymous codons. It does not optimize mRNA folding, restriction sites, repeats or synthesis constraints.</a:t>
            </a:r>
          </a:p>
        </p:txBody>
      </p:sp>
      <p:sp>
        <p:nvSpPr>
          <p:cNvPr id="12" name="">
            <a:extLst xmlns:a="http://schemas.openxmlformats.org/drawingml/2006/main">
              <a:ext uri="{FF2B5EF4-FFF2-40B4-BE49-F238E27FC236}">
                <a16:creationId xmlns:a16="http://schemas.microsoft.com/office/drawing/2014/main" id="{81773871-9E9B-4B4D-989E-8BC51C05A10F}"/>
              </a:ext>
            </a:extLst>
          </p:cNvPr>
          <p:cNvSpPr>
            <a:spLocks xmlns:a="http://schemas.openxmlformats.org/drawingml/2006/main" noGrp="1"/>
          </p:cNvSpPr>
          <p:nvPr/>
        </p:nvSpPr>
        <p:spPr>
          <a:xfrm xmlns:a="http://schemas.openxmlformats.org/drawingml/2006/main">
            <a:off x="762000" y="1476375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Keep a traceable package</a:t>
            </a:r>
          </a:p>
        </p:txBody>
      </p:sp>
      <p:sp>
        <p:nvSpPr>
          <p:cNvPr id="13" name="">
            <a:extLst xmlns:a="http://schemas.openxmlformats.org/drawingml/2006/main">
              <a:ext uri="{FF2B5EF4-FFF2-40B4-BE49-F238E27FC236}">
                <a16:creationId xmlns:a16="http://schemas.microsoft.com/office/drawing/2014/main" id="{25C99A48-6CA9-42EF-815E-32F40DA8B9FF}"/>
              </a:ext>
            </a:extLst>
          </p:cNvPr>
          <p:cNvSpPr>
            <a:spLocks xmlns:a="http://schemas.openxmlformats.org/drawingml/2006/main" noGrp="1"/>
          </p:cNvSpPr>
          <p:nvPr/>
        </p:nvSpPr>
        <p:spPr>
          <a:xfrm xmlns:a="http://schemas.openxmlformats.org/drawingml/2006/main">
            <a:off x="762000" y="15430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Save the protein FASTA together with JSON/CSV and the analysis report. Check candidate identifiers, sequence lengths, substitutions, substrate and host across all exported files.</a:t>
            </a:r>
          </a:p>
        </p:txBody>
      </p:sp>
    </p:spTree>
    <p:extLst>
      <p:ext uri="{BB962C8B-B14F-4D97-AF65-F5344CB8AC3E}">
        <p14:creationId xmlns:p14="http://schemas.microsoft.com/office/powerpoint/2010/main" val="132583222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E3695B0-0B38-4665-9786-FA4AE6C437D7}"/>
              </a:ext>
            </a:extLst>
          </p:cNvPr>
          <p:cNvSpPr>
            <a:spLocks xmlns:a="http://schemas.openxmlformats.org/drawingml/2006/main" noGrp="1"/>
          </p:cNvSpPr>
          <p:nvPr/>
        </p:nvSpPr>
        <p:spPr>
          <a:xfrm xmlns:a="http://schemas.openxmlformats.org/drawingml/2006/main">
            <a:off x="762000" y="361950"/>
            <a:ext cx="1323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4B606D"/>
                </a:solidFill>
                <a:latin typeface="Arial"/>
                <a:ea typeface="Arial"/>
                <a:cs typeface="Arial"/>
              </a:defRPr>
            </a:defPPr>
          </a:lstStyle>
          <a:p xmlns:a="http://schemas.openxmlformats.org/drawingml/2006/main">
            <a:pPr>
              <a:defRPr sz="1725" b="1">
                <a:solidFill>
                  <a:srgbClr val="4B606D"/>
                </a:solidFill>
                <a:latin typeface="Arial"/>
                <a:ea typeface="Arial"/>
                <a:cs typeface="Arial"/>
              </a:defRPr>
            </a:pPr>
            <a:r>
              <a:rPr sz="1725" b="1">
                <a:solidFill>
                  <a:srgbClr val="4B606D"/>
                </a:solidFill>
                <a:latin typeface="Arial"/>
                <a:ea typeface="Arial"/>
                <a:cs typeface="Arial"/>
              </a:rPr>
              <a:t>ENZORA  /  USER GUIDE</a:t>
            </a:r>
          </a:p>
        </p:txBody>
      </p:sp>
      <p:sp>
        <p:nvSpPr>
          <p:cNvPr id="2" name="">
            <a:extLst xmlns:a="http://schemas.openxmlformats.org/drawingml/2006/main">
              <a:ext uri="{FF2B5EF4-FFF2-40B4-BE49-F238E27FC236}">
                <a16:creationId xmlns:a16="http://schemas.microsoft.com/office/drawing/2014/main" id="{FA603DA0-4426-48E9-AEB7-5B68DA98C044}"/>
              </a:ext>
            </a:extLst>
          </p:cNvPr>
          <p:cNvSpPr>
            <a:spLocks xmlns:a="http://schemas.openxmlformats.org/drawingml/2006/main" noGrp="1"/>
          </p:cNvSpPr>
          <p:nvPr/>
        </p:nvSpPr>
        <p:spPr>
          <a:xfrm xmlns:a="http://schemas.openxmlformats.org/drawingml/2006/main">
            <a:off x="762000" y="952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20333D"/>
                </a:solidFill>
                <a:latin typeface="Arial"/>
                <a:ea typeface="Arial"/>
                <a:cs typeface="Arial"/>
              </a:defRPr>
            </a:defPPr>
          </a:lstStyle>
          <a:p xmlns:a="http://schemas.openxmlformats.org/drawingml/2006/main">
            <a:pPr>
              <a:defRPr sz="4875" b="1">
                <a:solidFill>
                  <a:srgbClr val="20333D"/>
                </a:solidFill>
                <a:latin typeface="Arial"/>
                <a:ea typeface="Arial"/>
                <a:cs typeface="Arial"/>
              </a:defRPr>
            </a:pPr>
            <a:r>
              <a:rPr sz="4875" b="1">
                <a:solidFill>
                  <a:srgbClr val="20333D"/>
                </a:solidFill>
                <a:latin typeface="Arial"/>
                <a:ea typeface="Arial"/>
                <a:cs typeface="Arial"/>
              </a:rPr>
              <a:t>13. Model&amp;Tools operations</a:t>
            </a:r>
          </a:p>
        </p:txBody>
      </p:sp>
      <p:sp>
        <p:nvSpPr>
          <p:cNvPr id="3" name="">
            <a:extLst xmlns:a="http://schemas.openxmlformats.org/drawingml/2006/main">
              <a:ext uri="{FF2B5EF4-FFF2-40B4-BE49-F238E27FC236}">
                <a16:creationId xmlns:a16="http://schemas.microsoft.com/office/drawing/2014/main" id="{1E6E5B01-6E13-4985-8DF9-28088C6B09F4}"/>
              </a:ext>
            </a:extLst>
          </p:cNvPr>
          <p:cNvSpPr>
            <a:spLocks xmlns:a="http://schemas.openxmlformats.org/drawingml/2006/main" noGrp="1"/>
          </p:cNvSpPr>
          <p:nvPr/>
        </p:nvSpPr>
        <p:spPr>
          <a:xfrm xmlns:a="http://schemas.openxmlformats.org/drawingml/2006/main">
            <a:off x="762000" y="2524125"/>
            <a:ext cx="1371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Use a specific tool without starting the full mutation workflow</a:t>
            </a:r>
          </a:p>
        </p:txBody>
      </p:sp>
      <p:sp>
        <p:nvSpPr>
          <p:cNvPr id="4" name="">
            <a:extLst xmlns:a="http://schemas.openxmlformats.org/drawingml/2006/main">
              <a:ext uri="{FF2B5EF4-FFF2-40B4-BE49-F238E27FC236}">
                <a16:creationId xmlns:a16="http://schemas.microsoft.com/office/drawing/2014/main" id="{F5D8BDED-3563-4B4C-BC88-2C5E701DCE0F}"/>
              </a:ext>
            </a:extLst>
          </p:cNvPr>
          <p:cNvSpPr>
            <a:spLocks xmlns:a="http://schemas.openxmlformats.org/drawingml/2006/main" noGrp="1"/>
          </p:cNvSpPr>
          <p:nvPr/>
        </p:nvSpPr>
        <p:spPr>
          <a:xfrm xmlns:a="http://schemas.openxmlformats.org/drawingml/2006/main">
            <a:off x="762000" y="19240500"/>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4B606D"/>
                </a:solidFill>
                <a:latin typeface="Arial"/>
                <a:ea typeface="Arial"/>
                <a:cs typeface="Arial"/>
              </a:defRPr>
            </a:defPPr>
          </a:lstStyle>
          <a:p xmlns:a="http://schemas.openxmlformats.org/drawingml/2006/main">
            <a:pPr>
              <a:defRPr sz="1650" b="1">
                <a:solidFill>
                  <a:srgbClr val="4B606D"/>
                </a:solidFill>
                <a:latin typeface="Arial"/>
                <a:ea typeface="Arial"/>
                <a:cs typeface="Arial"/>
              </a:defRPr>
            </a:pPr>
            <a:r>
              <a:rPr sz="1650" b="1">
                <a:solidFill>
                  <a:srgbClr val="4B606D"/>
                </a:solidFill>
                <a:latin typeface="Arial"/>
                <a:ea typeface="Arial"/>
                <a:cs typeface="Arial"/>
              </a:rPr>
              <a:t>Enzora web platform • 16 October 2026</a:t>
            </a:r>
          </a:p>
        </p:txBody>
      </p:sp>
      <p:sp>
        <p:nvSpPr>
          <p:cNvPr id="5" name="">
            <a:extLst xmlns:a="http://schemas.openxmlformats.org/drawingml/2006/main">
              <a:ext uri="{FF2B5EF4-FFF2-40B4-BE49-F238E27FC236}">
                <a16:creationId xmlns:a16="http://schemas.microsoft.com/office/drawing/2014/main" id="{9836EF3B-2483-4B06-B215-692DDE96D9CA}"/>
              </a:ext>
            </a:extLst>
          </p:cNvPr>
          <p:cNvSpPr>
            <a:spLocks xmlns:a="http://schemas.openxmlformats.org/drawingml/2006/main" noGrp="1"/>
          </p:cNvSpPr>
          <p:nvPr/>
        </p:nvSpPr>
        <p:spPr>
          <a:xfrm xmlns:a="http://schemas.openxmlformats.org/drawingml/2006/main">
            <a:off x="13811250" y="19240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4B606D"/>
                </a:solidFill>
                <a:latin typeface="Arial"/>
                <a:ea typeface="Arial"/>
                <a:cs typeface="Arial"/>
              </a:defRPr>
            </a:defPPr>
          </a:lstStyle>
          <a:p xmlns:a="http://schemas.openxmlformats.org/drawingml/2006/main">
            <a:pPr>
              <a:defRPr sz="1800" b="1">
                <a:solidFill>
                  <a:srgbClr val="4B606D"/>
                </a:solidFill>
                <a:latin typeface="Arial"/>
                <a:ea typeface="Arial"/>
                <a:cs typeface="Arial"/>
              </a:defRPr>
            </a:pPr>
            <a:r>
              <a:rPr sz="1800" b="1">
                <a:solidFill>
                  <a:srgbClr val="4B606D"/>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8E35EBB7-E44D-4C88-87B7-F6F211A60F4E}"/>
              </a:ext>
            </a:extLst>
          </p:cNvPr>
          <p:cNvSpPr>
            <a:spLocks xmlns:a="http://schemas.openxmlformats.org/drawingml/2006/main" noGrp="1"/>
          </p:cNvSpPr>
          <p:nvPr/>
        </p:nvSpPr>
        <p:spPr>
          <a:xfrm xmlns:a="http://schemas.openxmlformats.org/drawingml/2006/main">
            <a:off x="762000" y="404812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Choose the input and operation</a:t>
            </a:r>
          </a:p>
        </p:txBody>
      </p:sp>
      <p:sp>
        <p:nvSpPr>
          <p:cNvPr id="7" name="">
            <a:extLst xmlns:a="http://schemas.openxmlformats.org/drawingml/2006/main">
              <a:ext uri="{FF2B5EF4-FFF2-40B4-BE49-F238E27FC236}">
                <a16:creationId xmlns:a16="http://schemas.microsoft.com/office/drawing/2014/main" id="{9F119B9B-4D29-4869-9A32-1F60BD8290F8}"/>
              </a:ext>
            </a:extLst>
          </p:cNvPr>
          <p:cNvSpPr>
            <a:spLocks xmlns:a="http://schemas.openxmlformats.org/drawingml/2006/main" noGrp="1"/>
          </p:cNvSpPr>
          <p:nvPr/>
        </p:nvSpPr>
        <p:spPr>
          <a:xfrm xmlns:a="http://schemas.openxmlformats.org/drawingml/2006/main">
            <a:off x="762000" y="4714875"/>
            <a:ext cx="137160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Open Model&amp;Tools. Enter a protein sequence or accession, choose the operation and inspect its returned card. Atlas queries include source links and sequence downloads. An active scientific run is not silently replaced.</a:t>
            </a:r>
          </a:p>
        </p:txBody>
      </p:sp>
      <p:pic>
        <p:nvPicPr>
          <p:cNvPr id="8" name="">
            <a:extLst xmlns:a="http://schemas.openxmlformats.org/drawingml/2006/main">
              <a:ext uri="{FF2B5EF4-FFF2-40B4-BE49-F238E27FC236}">
                <a16:creationId xmlns:a16="http://schemas.microsoft.com/office/drawing/2014/main" id="{D7B70515-CD52-4E0E-9FA9-ED5B98C002D5}"/>
              </a:ext>
            </a:extLst>
          </p:cNvPr>
          <p:cNvPicPr>
            <a:picLocks xmlns:a="http://schemas.openxmlformats.org/drawingml/2006/main" noChangeAspect="1"/>
          </p:cNvPicPr>
          <p:nvPr/>
        </p:nvPicPr>
        <p:blipFill>
          <a:blip xmlns:r="http://schemas.openxmlformats.org/officeDocument/2006/relationships" xmlns:a="http://schemas.openxmlformats.org/drawingml/2006/main" r:embed="Rdec16a3c682b4c6e"/>
          <a:stretch xmlns:a="http://schemas.openxmlformats.org/drawingml/2006/main"/>
        </p:blipFill>
        <p:spPr>
          <a:xfrm xmlns:a="http://schemas.openxmlformats.org/drawingml/2006/main">
            <a:off x="762000" y="7572375"/>
            <a:ext cx="13716000" cy="8572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6740431-A415-47A6-8F56-B68404A6196D}"/>
              </a:ext>
            </a:extLst>
          </p:cNvPr>
          <p:cNvSpPr>
            <a:spLocks xmlns:a="http://schemas.openxmlformats.org/drawingml/2006/main" noGrp="1"/>
          </p:cNvSpPr>
          <p:nvPr/>
        </p:nvSpPr>
        <p:spPr>
          <a:xfrm xmlns:a="http://schemas.openxmlformats.org/drawingml/2006/main">
            <a:off x="762000" y="1647825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Understand availability</a:t>
            </a:r>
          </a:p>
        </p:txBody>
      </p:sp>
      <p:sp>
        <p:nvSpPr>
          <p:cNvPr id="10" name="">
            <a:extLst xmlns:a="http://schemas.openxmlformats.org/drawingml/2006/main">
              <a:ext uri="{FF2B5EF4-FFF2-40B4-BE49-F238E27FC236}">
                <a16:creationId xmlns:a16="http://schemas.microsoft.com/office/drawing/2014/main" id="{143AFC6D-BCDF-4C2F-BCE5-2F0C11E135B6}"/>
              </a:ext>
            </a:extLst>
          </p:cNvPr>
          <p:cNvSpPr>
            <a:spLocks xmlns:a="http://schemas.openxmlformats.org/drawingml/2006/main" noGrp="1"/>
          </p:cNvSpPr>
          <p:nvPr/>
        </p:nvSpPr>
        <p:spPr>
          <a:xfrm xmlns:a="http://schemas.openxmlformats.org/drawingml/2006/main">
            <a:off x="762000" y="171450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Structure inspection, explicit sequence trimming and host codon conversion use the configured tools. External prediction needs its own resource setup. A disabled tool is not evidence of a completed calculation.</a:t>
            </a:r>
          </a:p>
        </p:txBody>
      </p:sp>
    </p:spTree>
    <p:extLst>
      <p:ext uri="{BB962C8B-B14F-4D97-AF65-F5344CB8AC3E}">
        <p14:creationId xmlns:p14="http://schemas.microsoft.com/office/powerpoint/2010/main" val="122351846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AC7F407-E23B-4390-9702-22853B8D5537}"/>
              </a:ext>
            </a:extLst>
          </p:cNvPr>
          <p:cNvSpPr>
            <a:spLocks xmlns:a="http://schemas.openxmlformats.org/drawingml/2006/main" noGrp="1"/>
          </p:cNvSpPr>
          <p:nvPr/>
        </p:nvSpPr>
        <p:spPr>
          <a:xfrm xmlns:a="http://schemas.openxmlformats.org/drawingml/2006/main">
            <a:off x="762000" y="361950"/>
            <a:ext cx="1323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4B606D"/>
                </a:solidFill>
                <a:latin typeface="Arial"/>
                <a:ea typeface="Arial"/>
                <a:cs typeface="Arial"/>
              </a:defRPr>
            </a:defPPr>
          </a:lstStyle>
          <a:p xmlns:a="http://schemas.openxmlformats.org/drawingml/2006/main">
            <a:pPr>
              <a:defRPr sz="1725" b="1">
                <a:solidFill>
                  <a:srgbClr val="4B606D"/>
                </a:solidFill>
                <a:latin typeface="Arial"/>
                <a:ea typeface="Arial"/>
                <a:cs typeface="Arial"/>
              </a:defRPr>
            </a:pPr>
            <a:r>
              <a:rPr sz="1725" b="1">
                <a:solidFill>
                  <a:srgbClr val="4B606D"/>
                </a:solidFill>
                <a:latin typeface="Arial"/>
                <a:ea typeface="Arial"/>
                <a:cs typeface="Arial"/>
              </a:rPr>
              <a:t>ENZORA  /  USER GUIDE</a:t>
            </a:r>
          </a:p>
        </p:txBody>
      </p:sp>
      <p:sp>
        <p:nvSpPr>
          <p:cNvPr id="2" name="">
            <a:extLst xmlns:a="http://schemas.openxmlformats.org/drawingml/2006/main">
              <a:ext uri="{FF2B5EF4-FFF2-40B4-BE49-F238E27FC236}">
                <a16:creationId xmlns:a16="http://schemas.microsoft.com/office/drawing/2014/main" id="{10595255-70E4-47E3-978F-D78B1047BD16}"/>
              </a:ext>
            </a:extLst>
          </p:cNvPr>
          <p:cNvSpPr>
            <a:spLocks xmlns:a="http://schemas.openxmlformats.org/drawingml/2006/main" noGrp="1"/>
          </p:cNvSpPr>
          <p:nvPr/>
        </p:nvSpPr>
        <p:spPr>
          <a:xfrm xmlns:a="http://schemas.openxmlformats.org/drawingml/2006/main">
            <a:off x="762000" y="952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20333D"/>
                </a:solidFill>
                <a:latin typeface="Arial"/>
                <a:ea typeface="Arial"/>
                <a:cs typeface="Arial"/>
              </a:defRPr>
            </a:defPPr>
          </a:lstStyle>
          <a:p xmlns:a="http://schemas.openxmlformats.org/drawingml/2006/main">
            <a:pPr>
              <a:defRPr sz="4875" b="1">
                <a:solidFill>
                  <a:srgbClr val="20333D"/>
                </a:solidFill>
                <a:latin typeface="Arial"/>
                <a:ea typeface="Arial"/>
                <a:cs typeface="Arial"/>
              </a:defRPr>
            </a:pPr>
            <a:r>
              <a:rPr sz="4875" b="1">
                <a:solidFill>
                  <a:srgbClr val="20333D"/>
                </a:solidFill>
                <a:latin typeface="Arial"/>
                <a:ea typeface="Arial"/>
                <a:cs typeface="Arial"/>
              </a:rPr>
              <a:t>14. Local setup commands</a:t>
            </a:r>
          </a:p>
        </p:txBody>
      </p:sp>
      <p:sp>
        <p:nvSpPr>
          <p:cNvPr id="3" name="">
            <a:extLst xmlns:a="http://schemas.openxmlformats.org/drawingml/2006/main">
              <a:ext uri="{FF2B5EF4-FFF2-40B4-BE49-F238E27FC236}">
                <a16:creationId xmlns:a16="http://schemas.microsoft.com/office/drawing/2014/main" id="{2C30EF64-58B2-48AA-B872-ABF8E2ADD88E}"/>
              </a:ext>
            </a:extLst>
          </p:cNvPr>
          <p:cNvSpPr>
            <a:spLocks xmlns:a="http://schemas.openxmlformats.org/drawingml/2006/main" noGrp="1"/>
          </p:cNvSpPr>
          <p:nvPr/>
        </p:nvSpPr>
        <p:spPr>
          <a:xfrm xmlns:a="http://schemas.openxmlformats.org/drawingml/2006/main">
            <a:off x="762000" y="2524125"/>
            <a:ext cx="1371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Run commands from the repository root</a:t>
            </a:r>
          </a:p>
        </p:txBody>
      </p:sp>
      <p:sp>
        <p:nvSpPr>
          <p:cNvPr id="4" name="">
            <a:extLst xmlns:a="http://schemas.openxmlformats.org/drawingml/2006/main">
              <a:ext uri="{FF2B5EF4-FFF2-40B4-BE49-F238E27FC236}">
                <a16:creationId xmlns:a16="http://schemas.microsoft.com/office/drawing/2014/main" id="{590446C1-62EA-4BFE-8EA6-9FDDC7922CAC}"/>
              </a:ext>
            </a:extLst>
          </p:cNvPr>
          <p:cNvSpPr>
            <a:spLocks xmlns:a="http://schemas.openxmlformats.org/drawingml/2006/main" noGrp="1"/>
          </p:cNvSpPr>
          <p:nvPr/>
        </p:nvSpPr>
        <p:spPr>
          <a:xfrm xmlns:a="http://schemas.openxmlformats.org/drawingml/2006/main">
            <a:off x="762000" y="19240500"/>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4B606D"/>
                </a:solidFill>
                <a:latin typeface="Arial"/>
                <a:ea typeface="Arial"/>
                <a:cs typeface="Arial"/>
              </a:defRPr>
            </a:defPPr>
          </a:lstStyle>
          <a:p xmlns:a="http://schemas.openxmlformats.org/drawingml/2006/main">
            <a:pPr>
              <a:defRPr sz="1650" b="1">
                <a:solidFill>
                  <a:srgbClr val="4B606D"/>
                </a:solidFill>
                <a:latin typeface="Arial"/>
                <a:ea typeface="Arial"/>
                <a:cs typeface="Arial"/>
              </a:defRPr>
            </a:pPr>
            <a:r>
              <a:rPr sz="1650" b="1">
                <a:solidFill>
                  <a:srgbClr val="4B606D"/>
                </a:solidFill>
                <a:latin typeface="Arial"/>
                <a:ea typeface="Arial"/>
                <a:cs typeface="Arial"/>
              </a:rPr>
              <a:t>Enzora web platform • 16 October 2026</a:t>
            </a:r>
          </a:p>
        </p:txBody>
      </p:sp>
      <p:sp>
        <p:nvSpPr>
          <p:cNvPr id="5" name="">
            <a:extLst xmlns:a="http://schemas.openxmlformats.org/drawingml/2006/main">
              <a:ext uri="{FF2B5EF4-FFF2-40B4-BE49-F238E27FC236}">
                <a16:creationId xmlns:a16="http://schemas.microsoft.com/office/drawing/2014/main" id="{99F3016D-A306-4A32-BCEB-13BF3DBDD78D}"/>
              </a:ext>
            </a:extLst>
          </p:cNvPr>
          <p:cNvSpPr>
            <a:spLocks xmlns:a="http://schemas.openxmlformats.org/drawingml/2006/main" noGrp="1"/>
          </p:cNvSpPr>
          <p:nvPr/>
        </p:nvSpPr>
        <p:spPr>
          <a:xfrm xmlns:a="http://schemas.openxmlformats.org/drawingml/2006/main">
            <a:off x="13811250" y="19240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4B606D"/>
                </a:solidFill>
                <a:latin typeface="Arial"/>
                <a:ea typeface="Arial"/>
                <a:cs typeface="Arial"/>
              </a:defRPr>
            </a:defPPr>
          </a:lstStyle>
          <a:p xmlns:a="http://schemas.openxmlformats.org/drawingml/2006/main">
            <a:pPr>
              <a:defRPr sz="1800" b="1">
                <a:solidFill>
                  <a:srgbClr val="4B606D"/>
                </a:solidFill>
                <a:latin typeface="Arial"/>
                <a:ea typeface="Arial"/>
                <a:cs typeface="Arial"/>
              </a:defRPr>
            </a:pPr>
            <a:r>
              <a:rPr sz="1800" b="1">
                <a:solidFill>
                  <a:srgbClr val="4B606D"/>
                </a:solidFill>
                <a:latin typeface="Arial"/>
                <a:ea typeface="Arial"/>
                <a:cs typeface="Arial"/>
              </a:rPr>
              <a:t>15</a:t>
            </a:r>
          </a:p>
        </p:txBody>
      </p:sp>
      <p:sp>
        <p:nvSpPr>
          <p:cNvPr id="6" name="">
            <a:extLst xmlns:a="http://schemas.openxmlformats.org/drawingml/2006/main">
              <a:ext uri="{FF2B5EF4-FFF2-40B4-BE49-F238E27FC236}">
                <a16:creationId xmlns:a16="http://schemas.microsoft.com/office/drawing/2014/main" id="{28BA76EA-3EE6-40B3-AC28-821743F25E8A}"/>
              </a:ext>
            </a:extLst>
          </p:cNvPr>
          <p:cNvSpPr>
            <a:spLocks xmlns:a="http://schemas.openxmlformats.org/drawingml/2006/main" noGrp="1"/>
          </p:cNvSpPr>
          <p:nvPr/>
        </p:nvSpPr>
        <p:spPr>
          <a:xfrm xmlns:a="http://schemas.openxmlformats.org/drawingml/2006/main">
            <a:off x="762000" y="4095750"/>
            <a:ext cx="13716000" cy="552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0333D"/>
                </a:solidFill>
                <a:latin typeface="Arial"/>
                <a:ea typeface="Arial"/>
                <a:cs typeface="Arial"/>
              </a:defRPr>
            </a:defPPr>
          </a:lstStyle>
          <a:p xmlns:a="http://schemas.openxmlformats.org/drawingml/2006/main">
            <a:pPr>
              <a:defRPr sz="2325" b="1">
                <a:solidFill>
                  <a:srgbClr val="20333D"/>
                </a:solidFill>
                <a:latin typeface="Arial"/>
                <a:ea typeface="Arial"/>
                <a:cs typeface="Arial"/>
              </a:defRPr>
            </a:pPr>
            <a:r>
              <a:rPr sz="2325" b="1">
                <a:solidFill>
                  <a:srgbClr val="20333D"/>
                </a:solidFill>
                <a:latin typeface="Arial"/>
                <a:ea typeface="Arial"/>
                <a:cs typeface="Arial"/>
              </a:rPr>
              <a:t>git clone https://github.com/YuzhangLi2281/Enzora.git</a:t>
            </a:r>
          </a:p>
          <a:p xmlns:a="http://schemas.openxmlformats.org/drawingml/2006/main">
            <a:pPr>
              <a:defRPr sz="2325" b="1">
                <a:solidFill>
                  <a:srgbClr val="20333D"/>
                </a:solidFill>
                <a:latin typeface="Arial"/>
                <a:ea typeface="Arial"/>
                <a:cs typeface="Arial"/>
              </a:defRPr>
            </a:pPr>
            <a:r>
              <a:rPr sz="2325" b="1">
                <a:solidFill>
                  <a:srgbClr val="20333D"/>
                </a:solidFill>
                <a:latin typeface="Arial"/>
                <a:ea typeface="Arial"/>
                <a:cs typeface="Arial"/>
              </a:rPr>
              <a:t>cd Enzora</a:t>
            </a:r>
          </a:p>
          <a:p xmlns:a="http://schemas.openxmlformats.org/drawingml/2006/main">
            <a:pPr>
              <a:defRPr sz="2325" b="1">
                <a:solidFill>
                  <a:srgbClr val="20333D"/>
                </a:solidFill>
                <a:latin typeface="Arial"/>
                <a:ea typeface="Arial"/>
                <a:cs typeface="Arial"/>
              </a:defRPr>
            </a:pPr>
            <a:r>
              <a:rPr sz="2325" b="1">
                <a:solidFill>
                  <a:srgbClr val="20333D"/>
                </a:solidFill>
                <a:latin typeface="Arial"/>
                <a:ea typeface="Arial"/>
                <a:cs typeface="Arial"/>
              </a:rPr>
              <a:t>python3 -m venv .venv</a:t>
            </a:r>
          </a:p>
          <a:p xmlns:a="http://schemas.openxmlformats.org/drawingml/2006/main">
            <a:pPr>
              <a:defRPr sz="2325" b="1">
                <a:solidFill>
                  <a:srgbClr val="20333D"/>
                </a:solidFill>
                <a:latin typeface="Arial"/>
                <a:ea typeface="Arial"/>
                <a:cs typeface="Arial"/>
              </a:defRPr>
            </a:pPr>
            <a:r>
              <a:rPr sz="2325" b="1">
                <a:solidFill>
                  <a:srgbClr val="20333D"/>
                </a:solidFill>
                <a:latin typeface="Arial"/>
                <a:ea typeface="Arial"/>
                <a:cs typeface="Arial"/>
              </a:rPr>
              <a:t>source .venv/bin/activate</a:t>
            </a:r>
          </a:p>
          <a:p xmlns:a="http://schemas.openxmlformats.org/drawingml/2006/main">
            <a:pPr>
              <a:defRPr sz="2325" b="1">
                <a:solidFill>
                  <a:srgbClr val="20333D"/>
                </a:solidFill>
                <a:latin typeface="Arial"/>
                <a:ea typeface="Arial"/>
                <a:cs typeface="Arial"/>
              </a:defRPr>
            </a:pPr>
            <a:r>
              <a:rPr sz="2325" b="1">
                <a:solidFill>
                  <a:srgbClr val="20333D"/>
                </a:solidFill>
                <a:latin typeface="Arial"/>
                <a:ea typeface="Arial"/>
                <a:cs typeface="Arial"/>
              </a:rPr>
              <a:t>pip install -r src/Enzora_Software_Webs/utils/server/requirements.txt</a:t>
            </a:r>
          </a:p>
          <a:p xmlns:a="http://schemas.openxmlformats.org/drawingml/2006/main">
            <a:pPr>
              <a:defRPr sz="2325" b="1">
                <a:solidFill>
                  <a:srgbClr val="20333D"/>
                </a:solidFill>
                <a:latin typeface="Arial"/>
                <a:ea typeface="Arial"/>
                <a:cs typeface="Arial"/>
              </a:defRPr>
            </a:pPr>
            <a:r>
              <a:rPr sz="2325" b="1">
                <a:solidFill>
                  <a:srgbClr val="20333D"/>
                </a:solidFill>
                <a:latin typeface="Arial"/>
                <a:ea typeface="Arial"/>
                <a:cs typeface="Arial"/>
              </a:rPr>
              <a:t>npm --prefix src/Enzora_Software_Webs/web ci</a:t>
            </a:r>
          </a:p>
        </p:txBody>
      </p:sp>
      <p:sp>
        <p:nvSpPr>
          <p:cNvPr id="7" name="">
            <a:extLst xmlns:a="http://schemas.openxmlformats.org/drawingml/2006/main">
              <a:ext uri="{FF2B5EF4-FFF2-40B4-BE49-F238E27FC236}">
                <a16:creationId xmlns:a16="http://schemas.microsoft.com/office/drawing/2014/main" id="{B10AF9ED-3627-4EA3-803A-B2913BF20851}"/>
              </a:ext>
            </a:extLst>
          </p:cNvPr>
          <p:cNvSpPr>
            <a:spLocks xmlns:a="http://schemas.openxmlformats.org/drawingml/2006/main" noGrp="1"/>
          </p:cNvSpPr>
          <p:nvPr/>
        </p:nvSpPr>
        <p:spPr>
          <a:xfrm xmlns:a="http://schemas.openxmlformats.org/drawingml/2006/main">
            <a:off x="762000" y="1028700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Configure resources before launching</a:t>
            </a:r>
          </a:p>
        </p:txBody>
      </p:sp>
      <p:sp>
        <p:nvSpPr>
          <p:cNvPr id="8" name="">
            <a:extLst xmlns:a="http://schemas.openxmlformats.org/drawingml/2006/main">
              <a:ext uri="{FF2B5EF4-FFF2-40B4-BE49-F238E27FC236}">
                <a16:creationId xmlns:a16="http://schemas.microsoft.com/office/drawing/2014/main" id="{231B2079-9424-4D70-A4B2-B733B36F49EE}"/>
              </a:ext>
            </a:extLst>
          </p:cNvPr>
          <p:cNvSpPr>
            <a:spLocks xmlns:a="http://schemas.openxmlformats.org/drawingml/2006/main" noGrp="1"/>
          </p:cNvSpPr>
          <p:nvPr/>
        </p:nvSpPr>
        <p:spPr>
          <a:xfrm xmlns:a="http://schemas.openxmlformats.org/drawingml/2006/main">
            <a:off x="762000" y="109537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Edit config/server.yaml and config/mutation.yaml. Set model interpreters, repositories and weight paths. Configure MiniMax privately and run the path checks before submitting a real task.</a:t>
            </a:r>
          </a:p>
        </p:txBody>
      </p:sp>
      <p:sp>
        <p:nvSpPr>
          <p:cNvPr id="9" name="">
            <a:extLst xmlns:a="http://schemas.openxmlformats.org/drawingml/2006/main">
              <a:ext uri="{FF2B5EF4-FFF2-40B4-BE49-F238E27FC236}">
                <a16:creationId xmlns:a16="http://schemas.microsoft.com/office/drawing/2014/main" id="{AC64C9AA-2434-4F0B-998E-81DD3B3CC77B}"/>
              </a:ext>
            </a:extLst>
          </p:cNvPr>
          <p:cNvSpPr>
            <a:spLocks xmlns:a="http://schemas.openxmlformats.org/drawingml/2006/main" noGrp="1"/>
          </p:cNvSpPr>
          <p:nvPr/>
        </p:nvSpPr>
        <p:spPr>
          <a:xfrm xmlns:a="http://schemas.openxmlformats.org/drawingml/2006/main">
            <a:off x="762000" y="13239750"/>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20333D"/>
                </a:solidFill>
                <a:latin typeface="Arial"/>
                <a:ea typeface="Arial"/>
                <a:cs typeface="Arial"/>
              </a:defRPr>
            </a:defPPr>
          </a:lstStyle>
          <a:p xmlns:a="http://schemas.openxmlformats.org/drawingml/2006/main">
            <a:pPr>
              <a:defRPr sz="2850" b="1">
                <a:solidFill>
                  <a:srgbClr val="20333D"/>
                </a:solidFill>
                <a:latin typeface="Arial"/>
                <a:ea typeface="Arial"/>
                <a:cs typeface="Arial"/>
              </a:defRPr>
            </a:pPr>
            <a:r>
              <a:rPr sz="2850" b="1">
                <a:solidFill>
                  <a:srgbClr val="20333D"/>
                </a:solidFill>
                <a:latin typeface="Arial"/>
                <a:ea typeface="Arial"/>
                <a:cs typeface="Arial"/>
              </a:rPr>
              <a:t>API terminal</a:t>
            </a:r>
          </a:p>
        </p:txBody>
      </p:sp>
      <p:sp>
        <p:nvSpPr>
          <p:cNvPr id="10" name="">
            <a:extLst xmlns:a="http://schemas.openxmlformats.org/drawingml/2006/main">
              <a:ext uri="{FF2B5EF4-FFF2-40B4-BE49-F238E27FC236}">
                <a16:creationId xmlns:a16="http://schemas.microsoft.com/office/drawing/2014/main" id="{E4E1D78D-586E-4BD2-B4F9-064E35BD6C01}"/>
              </a:ext>
            </a:extLst>
          </p:cNvPr>
          <p:cNvSpPr>
            <a:spLocks xmlns:a="http://schemas.openxmlformats.org/drawingml/2006/main" noGrp="1"/>
          </p:cNvSpPr>
          <p:nvPr/>
        </p:nvSpPr>
        <p:spPr>
          <a:xfrm xmlns:a="http://schemas.openxmlformats.org/drawingml/2006/main">
            <a:off x="762000" y="14001750"/>
            <a:ext cx="13716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0333D"/>
                </a:solidFill>
                <a:latin typeface="Arial"/>
                <a:ea typeface="Arial"/>
                <a:cs typeface="Arial"/>
              </a:defRPr>
            </a:defPPr>
          </a:lstStyle>
          <a:p xmlns:a="http://schemas.openxmlformats.org/drawingml/2006/main">
            <a:pPr>
              <a:defRPr sz="2325" b="1">
                <a:solidFill>
                  <a:srgbClr val="20333D"/>
                </a:solidFill>
                <a:latin typeface="Arial"/>
                <a:ea typeface="Arial"/>
                <a:cs typeface="Arial"/>
              </a:defRPr>
            </a:pPr>
            <a:r>
              <a:rPr sz="2325" b="1">
                <a:solidFill>
                  <a:srgbClr val="20333D"/>
                </a:solidFill>
                <a:latin typeface="Arial"/>
                <a:ea typeface="Arial"/>
                <a:cs typeface="Arial"/>
              </a:rPr>
              <a:t>python src/Enzora_Software_Webs/utils/server/run.py \</a:t>
            </a:r>
          </a:p>
          <a:p xmlns:a="http://schemas.openxmlformats.org/drawingml/2006/main">
            <a:pPr>
              <a:defRPr sz="2325" b="1">
                <a:solidFill>
                  <a:srgbClr val="20333D"/>
                </a:solidFill>
                <a:latin typeface="Arial"/>
                <a:ea typeface="Arial"/>
                <a:cs typeface="Arial"/>
              </a:defRPr>
            </a:pPr>
            <a:r>
              <a:rPr sz="2325" b="1">
                <a:solidFill>
                  <a:srgbClr val="20333D"/>
                </a:solidFill>
                <a:latin typeface="Arial"/>
                <a:ea typeface="Arial"/>
                <a:cs typeface="Arial"/>
              </a:rPr>
              <a:t>  --host 127.0.0.1 --port 8000</a:t>
            </a:r>
          </a:p>
        </p:txBody>
      </p:sp>
      <p:sp>
        <p:nvSpPr>
          <p:cNvPr id="11" name="">
            <a:extLst xmlns:a="http://schemas.openxmlformats.org/drawingml/2006/main">
              <a:ext uri="{FF2B5EF4-FFF2-40B4-BE49-F238E27FC236}">
                <a16:creationId xmlns:a16="http://schemas.microsoft.com/office/drawing/2014/main" id="{F388E700-3764-4988-9E96-E8E2868B5FD7}"/>
              </a:ext>
            </a:extLst>
          </p:cNvPr>
          <p:cNvSpPr>
            <a:spLocks xmlns:a="http://schemas.openxmlformats.org/drawingml/2006/main" noGrp="1"/>
          </p:cNvSpPr>
          <p:nvPr/>
        </p:nvSpPr>
        <p:spPr>
          <a:xfrm xmlns:a="http://schemas.openxmlformats.org/drawingml/2006/main">
            <a:off x="762000" y="16002000"/>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20333D"/>
                </a:solidFill>
                <a:latin typeface="Arial"/>
                <a:ea typeface="Arial"/>
                <a:cs typeface="Arial"/>
              </a:defRPr>
            </a:defPPr>
          </a:lstStyle>
          <a:p xmlns:a="http://schemas.openxmlformats.org/drawingml/2006/main">
            <a:pPr>
              <a:defRPr sz="2850" b="1">
                <a:solidFill>
                  <a:srgbClr val="20333D"/>
                </a:solidFill>
                <a:latin typeface="Arial"/>
                <a:ea typeface="Arial"/>
                <a:cs typeface="Arial"/>
              </a:defRPr>
            </a:pPr>
            <a:r>
              <a:rPr sz="2850" b="1">
                <a:solidFill>
                  <a:srgbClr val="20333D"/>
                </a:solidFill>
                <a:latin typeface="Arial"/>
                <a:ea typeface="Arial"/>
                <a:cs typeface="Arial"/>
              </a:rPr>
              <a:t>Frontend terminal</a:t>
            </a:r>
          </a:p>
        </p:txBody>
      </p:sp>
      <p:sp>
        <p:nvSpPr>
          <p:cNvPr id="12" name="">
            <a:extLst xmlns:a="http://schemas.openxmlformats.org/drawingml/2006/main">
              <a:ext uri="{FF2B5EF4-FFF2-40B4-BE49-F238E27FC236}">
                <a16:creationId xmlns:a16="http://schemas.microsoft.com/office/drawing/2014/main" id="{FB8EB71B-790C-4F17-9333-E937FBEEC4D2}"/>
              </a:ext>
            </a:extLst>
          </p:cNvPr>
          <p:cNvSpPr>
            <a:spLocks xmlns:a="http://schemas.openxmlformats.org/drawingml/2006/main" noGrp="1"/>
          </p:cNvSpPr>
          <p:nvPr/>
        </p:nvSpPr>
        <p:spPr>
          <a:xfrm xmlns:a="http://schemas.openxmlformats.org/drawingml/2006/main">
            <a:off x="762000" y="16764000"/>
            <a:ext cx="13716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0333D"/>
                </a:solidFill>
                <a:latin typeface="Arial"/>
                <a:ea typeface="Arial"/>
                <a:cs typeface="Arial"/>
              </a:defRPr>
            </a:defPPr>
          </a:lstStyle>
          <a:p xmlns:a="http://schemas.openxmlformats.org/drawingml/2006/main">
            <a:pPr>
              <a:defRPr sz="2325" b="1">
                <a:solidFill>
                  <a:srgbClr val="20333D"/>
                </a:solidFill>
                <a:latin typeface="Arial"/>
                <a:ea typeface="Arial"/>
                <a:cs typeface="Arial"/>
              </a:defRPr>
            </a:pPr>
            <a:r>
              <a:rPr sz="2325" b="1">
                <a:solidFill>
                  <a:srgbClr val="20333D"/>
                </a:solidFill>
                <a:latin typeface="Arial"/>
                <a:ea typeface="Arial"/>
                <a:cs typeface="Arial"/>
              </a:rPr>
              <a:t>VITE_PROXY_TARGET=http://127.0.0.1:8000 \</a:t>
            </a:r>
          </a:p>
          <a:p xmlns:a="http://schemas.openxmlformats.org/drawingml/2006/main">
            <a:pPr>
              <a:defRPr sz="2325" b="1">
                <a:solidFill>
                  <a:srgbClr val="20333D"/>
                </a:solidFill>
                <a:latin typeface="Arial"/>
                <a:ea typeface="Arial"/>
                <a:cs typeface="Arial"/>
              </a:defRPr>
            </a:pPr>
            <a:r>
              <a:rPr sz="2325" b="1">
                <a:solidFill>
                  <a:srgbClr val="20333D"/>
                </a:solidFill>
                <a:latin typeface="Arial"/>
                <a:ea typeface="Arial"/>
                <a:cs typeface="Arial"/>
              </a:rPr>
              <a:t>  npm --prefix src/Enzora_Software_Webs/web run dev</a:t>
            </a:r>
          </a:p>
        </p:txBody>
      </p:sp>
    </p:spTree>
    <p:extLst>
      <p:ext uri="{BB962C8B-B14F-4D97-AF65-F5344CB8AC3E}">
        <p14:creationId xmlns:p14="http://schemas.microsoft.com/office/powerpoint/2010/main" val="150767711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F31132B-C404-426A-B441-5A8B835385AB}"/>
              </a:ext>
            </a:extLst>
          </p:cNvPr>
          <p:cNvSpPr>
            <a:spLocks xmlns:a="http://schemas.openxmlformats.org/drawingml/2006/main" noGrp="1"/>
          </p:cNvSpPr>
          <p:nvPr/>
        </p:nvSpPr>
        <p:spPr>
          <a:xfrm xmlns:a="http://schemas.openxmlformats.org/drawingml/2006/main">
            <a:off x="762000" y="361950"/>
            <a:ext cx="1323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4B606D"/>
                </a:solidFill>
                <a:latin typeface="Arial"/>
                <a:ea typeface="Arial"/>
                <a:cs typeface="Arial"/>
              </a:defRPr>
            </a:defPPr>
          </a:lstStyle>
          <a:p xmlns:a="http://schemas.openxmlformats.org/drawingml/2006/main">
            <a:pPr>
              <a:defRPr sz="1725" b="1">
                <a:solidFill>
                  <a:srgbClr val="4B606D"/>
                </a:solidFill>
                <a:latin typeface="Arial"/>
                <a:ea typeface="Arial"/>
                <a:cs typeface="Arial"/>
              </a:defRPr>
            </a:pPr>
            <a:r>
              <a:rPr sz="1725" b="1">
                <a:solidFill>
                  <a:srgbClr val="4B606D"/>
                </a:solidFill>
                <a:latin typeface="Arial"/>
                <a:ea typeface="Arial"/>
                <a:cs typeface="Arial"/>
              </a:rPr>
              <a:t>ENZORA  /  USER GUIDE</a:t>
            </a:r>
          </a:p>
        </p:txBody>
      </p:sp>
      <p:sp>
        <p:nvSpPr>
          <p:cNvPr id="2" name="">
            <a:extLst xmlns:a="http://schemas.openxmlformats.org/drawingml/2006/main">
              <a:ext uri="{FF2B5EF4-FFF2-40B4-BE49-F238E27FC236}">
                <a16:creationId xmlns:a16="http://schemas.microsoft.com/office/drawing/2014/main" id="{D05BD5E3-5BDA-48F8-A9EC-E046C6B2450C}"/>
              </a:ext>
            </a:extLst>
          </p:cNvPr>
          <p:cNvSpPr>
            <a:spLocks xmlns:a="http://schemas.openxmlformats.org/drawingml/2006/main" noGrp="1"/>
          </p:cNvSpPr>
          <p:nvPr/>
        </p:nvSpPr>
        <p:spPr>
          <a:xfrm xmlns:a="http://schemas.openxmlformats.org/drawingml/2006/main">
            <a:off x="762000" y="952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20333D"/>
                </a:solidFill>
                <a:latin typeface="Arial"/>
                <a:ea typeface="Arial"/>
                <a:cs typeface="Arial"/>
              </a:defRPr>
            </a:defPPr>
          </a:lstStyle>
          <a:p xmlns:a="http://schemas.openxmlformats.org/drawingml/2006/main">
            <a:pPr>
              <a:defRPr sz="4875" b="1">
                <a:solidFill>
                  <a:srgbClr val="20333D"/>
                </a:solidFill>
                <a:latin typeface="Arial"/>
                <a:ea typeface="Arial"/>
                <a:cs typeface="Arial"/>
              </a:defRPr>
            </a:pPr>
            <a:r>
              <a:rPr sz="4875" b="1">
                <a:solidFill>
                  <a:srgbClr val="20333D"/>
                </a:solidFill>
                <a:latin typeface="Arial"/>
                <a:ea typeface="Arial"/>
                <a:cs typeface="Arial"/>
              </a:rPr>
              <a:t>14. Local deployment and resources</a:t>
            </a:r>
          </a:p>
        </p:txBody>
      </p:sp>
      <p:sp>
        <p:nvSpPr>
          <p:cNvPr id="3" name="">
            <a:extLst xmlns:a="http://schemas.openxmlformats.org/drawingml/2006/main">
              <a:ext uri="{FF2B5EF4-FFF2-40B4-BE49-F238E27FC236}">
                <a16:creationId xmlns:a16="http://schemas.microsoft.com/office/drawing/2014/main" id="{45D93BD6-3161-47B5-A2C1-9AB67C4509D1}"/>
              </a:ext>
            </a:extLst>
          </p:cNvPr>
          <p:cNvSpPr>
            <a:spLocks xmlns:a="http://schemas.openxmlformats.org/drawingml/2006/main" noGrp="1"/>
          </p:cNvSpPr>
          <p:nvPr/>
        </p:nvSpPr>
        <p:spPr>
          <a:xfrm xmlns:a="http://schemas.openxmlformats.org/drawingml/2006/main">
            <a:off x="762000" y="2524125"/>
            <a:ext cx="1371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For administrators and developers</a:t>
            </a:r>
          </a:p>
        </p:txBody>
      </p:sp>
      <p:sp>
        <p:nvSpPr>
          <p:cNvPr id="4" name="">
            <a:extLst xmlns:a="http://schemas.openxmlformats.org/drawingml/2006/main">
              <a:ext uri="{FF2B5EF4-FFF2-40B4-BE49-F238E27FC236}">
                <a16:creationId xmlns:a16="http://schemas.microsoft.com/office/drawing/2014/main" id="{6DDFE3B0-776F-4F4C-8A59-246125352B5E}"/>
              </a:ext>
            </a:extLst>
          </p:cNvPr>
          <p:cNvSpPr>
            <a:spLocks xmlns:a="http://schemas.openxmlformats.org/drawingml/2006/main" noGrp="1"/>
          </p:cNvSpPr>
          <p:nvPr/>
        </p:nvSpPr>
        <p:spPr>
          <a:xfrm xmlns:a="http://schemas.openxmlformats.org/drawingml/2006/main">
            <a:off x="762000" y="19240500"/>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4B606D"/>
                </a:solidFill>
                <a:latin typeface="Arial"/>
                <a:ea typeface="Arial"/>
                <a:cs typeface="Arial"/>
              </a:defRPr>
            </a:defPPr>
          </a:lstStyle>
          <a:p xmlns:a="http://schemas.openxmlformats.org/drawingml/2006/main">
            <a:pPr>
              <a:defRPr sz="1650" b="1">
                <a:solidFill>
                  <a:srgbClr val="4B606D"/>
                </a:solidFill>
                <a:latin typeface="Arial"/>
                <a:ea typeface="Arial"/>
                <a:cs typeface="Arial"/>
              </a:defRPr>
            </a:pPr>
            <a:r>
              <a:rPr sz="1650" b="1">
                <a:solidFill>
                  <a:srgbClr val="4B606D"/>
                </a:solidFill>
                <a:latin typeface="Arial"/>
                <a:ea typeface="Arial"/>
                <a:cs typeface="Arial"/>
              </a:rPr>
              <a:t>Enzora web platform • 16 October 2026</a:t>
            </a:r>
          </a:p>
        </p:txBody>
      </p:sp>
      <p:sp>
        <p:nvSpPr>
          <p:cNvPr id="5" name="">
            <a:extLst xmlns:a="http://schemas.openxmlformats.org/drawingml/2006/main">
              <a:ext uri="{FF2B5EF4-FFF2-40B4-BE49-F238E27FC236}">
                <a16:creationId xmlns:a16="http://schemas.microsoft.com/office/drawing/2014/main" id="{6A57C311-0F8F-477D-899A-D9EFA6858FE9}"/>
              </a:ext>
            </a:extLst>
          </p:cNvPr>
          <p:cNvSpPr>
            <a:spLocks xmlns:a="http://schemas.openxmlformats.org/drawingml/2006/main" noGrp="1"/>
          </p:cNvSpPr>
          <p:nvPr/>
        </p:nvSpPr>
        <p:spPr>
          <a:xfrm xmlns:a="http://schemas.openxmlformats.org/drawingml/2006/main">
            <a:off x="13811250" y="19240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4B606D"/>
                </a:solidFill>
                <a:latin typeface="Arial"/>
                <a:ea typeface="Arial"/>
                <a:cs typeface="Arial"/>
              </a:defRPr>
            </a:defPPr>
          </a:lstStyle>
          <a:p xmlns:a="http://schemas.openxmlformats.org/drawingml/2006/main">
            <a:pPr>
              <a:defRPr sz="1800" b="1">
                <a:solidFill>
                  <a:srgbClr val="4B606D"/>
                </a:solidFill>
                <a:latin typeface="Arial"/>
                <a:ea typeface="Arial"/>
                <a:cs typeface="Arial"/>
              </a:defRPr>
            </a:pPr>
            <a:r>
              <a:rPr sz="1800" b="1">
                <a:solidFill>
                  <a:srgbClr val="4B606D"/>
                </a:solidFill>
                <a:latin typeface="Arial"/>
                <a:ea typeface="Arial"/>
                <a:cs typeface="Arial"/>
              </a:rPr>
              <a:t>16</a:t>
            </a:r>
          </a:p>
        </p:txBody>
      </p:sp>
      <p:sp>
        <p:nvSpPr>
          <p:cNvPr id="6" name="">
            <a:extLst xmlns:a="http://schemas.openxmlformats.org/drawingml/2006/main">
              <a:ext uri="{FF2B5EF4-FFF2-40B4-BE49-F238E27FC236}">
                <a16:creationId xmlns:a16="http://schemas.microsoft.com/office/drawing/2014/main" id="{245F47AB-D9CF-423F-80BC-6F9D2A60385B}"/>
              </a:ext>
            </a:extLst>
          </p:cNvPr>
          <p:cNvSpPr>
            <a:spLocks xmlns:a="http://schemas.openxmlformats.org/drawingml/2006/main" noGrp="1"/>
          </p:cNvSpPr>
          <p:nvPr/>
        </p:nvSpPr>
        <p:spPr>
          <a:xfrm xmlns:a="http://schemas.openxmlformats.org/drawingml/2006/main">
            <a:off x="762000" y="404812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Code and model environments</a:t>
            </a:r>
          </a:p>
        </p:txBody>
      </p:sp>
      <p:sp>
        <p:nvSpPr>
          <p:cNvPr id="7" name="">
            <a:extLst xmlns:a="http://schemas.openxmlformats.org/drawingml/2006/main">
              <a:ext uri="{FF2B5EF4-FFF2-40B4-BE49-F238E27FC236}">
                <a16:creationId xmlns:a16="http://schemas.microsoft.com/office/drawing/2014/main" id="{E82CF6CD-ECCC-473E-A71A-6BED40B5CF0A}"/>
              </a:ext>
            </a:extLst>
          </p:cNvPr>
          <p:cNvSpPr>
            <a:spLocks xmlns:a="http://schemas.openxmlformats.org/drawingml/2006/main" noGrp="1"/>
          </p:cNvSpPr>
          <p:nvPr/>
        </p:nvSpPr>
        <p:spPr>
          <a:xfrm xmlns:a="http://schemas.openxmlformats.org/drawingml/2006/main">
            <a:off x="762000" y="4714875"/>
            <a:ext cx="137160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Clone the Enzora repository and install its API/web dependencies. Follow each model’s environment requirements. PHENOM inference also requires its checkpoint, ESMC and MolT5 resources. Enzora does not distribute all model weights.</a:t>
            </a:r>
          </a:p>
        </p:txBody>
      </p:sp>
      <p:sp>
        <p:nvSpPr>
          <p:cNvPr id="8" name="">
            <a:extLst xmlns:a="http://schemas.openxmlformats.org/drawingml/2006/main">
              <a:ext uri="{FF2B5EF4-FFF2-40B4-BE49-F238E27FC236}">
                <a16:creationId xmlns:a16="http://schemas.microsoft.com/office/drawing/2014/main" id="{9B1E1AFB-EB7F-4F6B-8AFF-B7FDA2F667A1}"/>
              </a:ext>
            </a:extLst>
          </p:cNvPr>
          <p:cNvSpPr>
            <a:spLocks xmlns:a="http://schemas.openxmlformats.org/drawingml/2006/main" noGrp="1"/>
          </p:cNvSpPr>
          <p:nvPr/>
        </p:nvSpPr>
        <p:spPr>
          <a:xfrm xmlns:a="http://schemas.openxmlformats.org/drawingml/2006/main">
            <a:off x="762000" y="7334250"/>
            <a:ext cx="137160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20333D"/>
                </a:solidFill>
                <a:latin typeface="Arial"/>
                <a:ea typeface="Arial"/>
                <a:cs typeface="Arial"/>
              </a:defRPr>
            </a:defPPr>
          </a:lstStyle>
          <a:p xmlns:a="http://schemas.openxmlformats.org/drawingml/2006/main">
            <a:pPr>
              <a:defRPr sz="2550" b="1">
                <a:solidFill>
                  <a:srgbClr val="20333D"/>
                </a:solidFill>
                <a:latin typeface="Arial"/>
                <a:ea typeface="Arial"/>
                <a:cs typeface="Arial"/>
              </a:defRPr>
            </a:pPr>
            <a:r>
              <a:rPr sz="2550" b="1">
                <a:solidFill>
                  <a:srgbClr val="20333D"/>
                </a:solidFill>
                <a:latin typeface="Arial"/>
                <a:ea typeface="Arial"/>
                <a:cs typeface="Arial"/>
              </a:rPr>
              <a:t>Configuration entry points</a:t>
            </a:r>
          </a:p>
          <a:p xmlns:a="http://schemas.openxmlformats.org/drawingml/2006/main">
            <a:pPr>
              <a:defRPr sz="2550" b="1">
                <a:solidFill>
                  <a:srgbClr val="20333D"/>
                </a:solidFill>
                <a:latin typeface="Arial"/>
                <a:ea typeface="Arial"/>
                <a:cs typeface="Arial"/>
              </a:defRPr>
            </a:pPr>
            <a:r>
              <a:rPr sz="2550" b="1">
                <a:solidFill>
                  <a:srgbClr val="20333D"/>
                </a:solidFill>
                <a:latin typeface="Arial"/>
                <a:ea typeface="Arial"/>
                <a:cs typeface="Arial"/>
              </a:rPr>
              <a:t>config/server.yaml</a:t>
            </a:r>
          </a:p>
          <a:p xmlns:a="http://schemas.openxmlformats.org/drawingml/2006/main">
            <a:pPr>
              <a:defRPr sz="2550" b="1">
                <a:solidFill>
                  <a:srgbClr val="20333D"/>
                </a:solidFill>
                <a:latin typeface="Arial"/>
                <a:ea typeface="Arial"/>
                <a:cs typeface="Arial"/>
              </a:defRPr>
            </a:pPr>
            <a:r>
              <a:rPr sz="2550" b="1">
                <a:solidFill>
                  <a:srgbClr val="20333D"/>
                </a:solidFill>
                <a:latin typeface="Arial"/>
                <a:ea typeface="Arial"/>
                <a:cs typeface="Arial"/>
              </a:rPr>
              <a:t>config/mutation.yaml</a:t>
            </a:r>
          </a:p>
          <a:p xmlns:a="http://schemas.openxmlformats.org/drawingml/2006/main">
            <a:pPr>
              <a:defRPr sz="2550" b="1">
                <a:solidFill>
                  <a:srgbClr val="20333D"/>
                </a:solidFill>
                <a:latin typeface="Arial"/>
                <a:ea typeface="Arial"/>
                <a:cs typeface="Arial"/>
              </a:defRPr>
            </a:pPr>
            <a:r>
              <a:rPr sz="2550" b="1">
                <a:solidFill>
                  <a:srgbClr val="20333D"/>
                </a:solidFill>
                <a:latin typeface="Arial"/>
                <a:ea typeface="Arial"/>
                <a:cs typeface="Arial"/>
              </a:rPr>
              <a:t>config/request.example.yaml</a:t>
            </a:r>
          </a:p>
          <a:p xmlns:a="http://schemas.openxmlformats.org/drawingml/2006/main">
            <a:r>
              <a:t/>
            </a:r>
          </a:p>
          <a:p xmlns:a="http://schemas.openxmlformats.org/drawingml/2006/main">
            <a:pPr>
              <a:defRPr sz="2550" b="1">
                <a:solidFill>
                  <a:srgbClr val="20333D"/>
                </a:solidFill>
                <a:latin typeface="Arial"/>
                <a:ea typeface="Arial"/>
                <a:cs typeface="Arial"/>
              </a:defRPr>
            </a:pPr>
            <a:r>
              <a:rPr sz="2550" b="1">
                <a:solidFill>
                  <a:srgbClr val="20333D"/>
                </a:solidFill>
                <a:latin typeface="Arial"/>
                <a:ea typeface="Arial"/>
                <a:cs typeface="Arial"/>
              </a:rPr>
              <a:t>Provider: MiniMax-M2.5</a:t>
            </a:r>
          </a:p>
          <a:p xmlns:a="http://schemas.openxmlformats.org/drawingml/2006/main">
            <a:pPr>
              <a:defRPr sz="2550" b="1">
                <a:solidFill>
                  <a:srgbClr val="20333D"/>
                </a:solidFill>
                <a:latin typeface="Arial"/>
                <a:ea typeface="Arial"/>
                <a:cs typeface="Arial"/>
              </a:defRPr>
            </a:pPr>
            <a:r>
              <a:rPr sz="2550" b="1">
                <a:solidFill>
                  <a:srgbClr val="20333D"/>
                </a:solidFill>
                <a:latin typeface="Arial"/>
                <a:ea typeface="Arial"/>
                <a:cs typeface="Arial"/>
              </a:rPr>
              <a:t>Base URL: https://api.minimax.cn/v1</a:t>
            </a:r>
          </a:p>
        </p:txBody>
      </p:sp>
      <p:sp>
        <p:nvSpPr>
          <p:cNvPr id="9" name="">
            <a:extLst xmlns:a="http://schemas.openxmlformats.org/drawingml/2006/main">
              <a:ext uri="{FF2B5EF4-FFF2-40B4-BE49-F238E27FC236}">
                <a16:creationId xmlns:a16="http://schemas.microsoft.com/office/drawing/2014/main" id="{D908574B-31F1-412E-A064-275C70A90FA6}"/>
              </a:ext>
            </a:extLst>
          </p:cNvPr>
          <p:cNvSpPr>
            <a:spLocks xmlns:a="http://schemas.openxmlformats.org/drawingml/2006/main" noGrp="1"/>
          </p:cNvSpPr>
          <p:nvPr/>
        </p:nvSpPr>
        <p:spPr>
          <a:xfrm xmlns:a="http://schemas.openxmlformats.org/drawingml/2006/main">
            <a:off x="762000" y="1143000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Private credentials</a:t>
            </a:r>
          </a:p>
        </p:txBody>
      </p:sp>
      <p:sp>
        <p:nvSpPr>
          <p:cNvPr id="10" name="">
            <a:extLst xmlns:a="http://schemas.openxmlformats.org/drawingml/2006/main">
              <a:ext uri="{FF2B5EF4-FFF2-40B4-BE49-F238E27FC236}">
                <a16:creationId xmlns:a16="http://schemas.microsoft.com/office/drawing/2014/main" id="{125C91FD-B082-4807-B1E7-C1395E46BB82}"/>
              </a:ext>
            </a:extLst>
          </p:cNvPr>
          <p:cNvSpPr>
            <a:spLocks xmlns:a="http://schemas.openxmlformats.org/drawingml/2006/main" noGrp="1"/>
          </p:cNvSpPr>
          <p:nvPr/>
        </p:nvSpPr>
        <p:spPr>
          <a:xfrm xmlns:a="http://schemas.openxmlformats.org/drawingml/2006/main">
            <a:off x="762000" y="120967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Keep MINIMAX_API_KEY and the workspace access token in the server’s private environment/configuration. Never embed them in config.js, frontend code, screenshots or public repository history.</a:t>
            </a:r>
          </a:p>
        </p:txBody>
      </p:sp>
      <p:sp>
        <p:nvSpPr>
          <p:cNvPr id="11" name="">
            <a:extLst xmlns:a="http://schemas.openxmlformats.org/drawingml/2006/main">
              <a:ext uri="{FF2B5EF4-FFF2-40B4-BE49-F238E27FC236}">
                <a16:creationId xmlns:a16="http://schemas.microsoft.com/office/drawing/2014/main" id="{4D8462D6-8BF7-44FC-8653-6737D31E9DA1}"/>
              </a:ext>
            </a:extLst>
          </p:cNvPr>
          <p:cNvSpPr>
            <a:spLocks xmlns:a="http://schemas.openxmlformats.org/drawingml/2006/main" noGrp="1"/>
          </p:cNvSpPr>
          <p:nvPr/>
        </p:nvSpPr>
        <p:spPr>
          <a:xfrm xmlns:a="http://schemas.openxmlformats.org/drawingml/2006/main">
            <a:off x="762000" y="1457325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Execution and cache boundaries</a:t>
            </a:r>
          </a:p>
        </p:txBody>
      </p:sp>
      <p:sp>
        <p:nvSpPr>
          <p:cNvPr id="12" name="">
            <a:extLst xmlns:a="http://schemas.openxmlformats.org/drawingml/2006/main">
              <a:ext uri="{FF2B5EF4-FFF2-40B4-BE49-F238E27FC236}">
                <a16:creationId xmlns:a16="http://schemas.microsoft.com/office/drawing/2014/main" id="{B773D354-DA11-4584-A5B7-038E108437E9}"/>
              </a:ext>
            </a:extLst>
          </p:cNvPr>
          <p:cNvSpPr>
            <a:spLocks xmlns:a="http://schemas.openxmlformats.org/drawingml/2006/main" noGrp="1"/>
          </p:cNvSpPr>
          <p:nvPr/>
        </p:nvSpPr>
        <p:spPr>
          <a:xfrm xmlns:a="http://schemas.openxmlformats.org/drawingml/2006/main">
            <a:off x="762000" y="15240000"/>
            <a:ext cx="137160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The API submits model jobs to the configured scheduler. Shared weights remain separate from per-run data. Success, failure and cancellation clear disposable graphs/logits while retaining predictions, reports and audit records.</a:t>
            </a:r>
          </a:p>
        </p:txBody>
      </p:sp>
    </p:spTree>
    <p:extLst>
      <p:ext uri="{BB962C8B-B14F-4D97-AF65-F5344CB8AC3E}">
        <p14:creationId xmlns:p14="http://schemas.microsoft.com/office/powerpoint/2010/main" val="137059801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540A53F-5D62-420C-A37E-58A62EE3FE9F}"/>
              </a:ext>
            </a:extLst>
          </p:cNvPr>
          <p:cNvSpPr>
            <a:spLocks xmlns:a="http://schemas.openxmlformats.org/drawingml/2006/main" noGrp="1"/>
          </p:cNvSpPr>
          <p:nvPr/>
        </p:nvSpPr>
        <p:spPr>
          <a:xfrm xmlns:a="http://schemas.openxmlformats.org/drawingml/2006/main">
            <a:off x="762000" y="361950"/>
            <a:ext cx="1323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4B606D"/>
                </a:solidFill>
                <a:latin typeface="Arial"/>
                <a:ea typeface="Arial"/>
                <a:cs typeface="Arial"/>
              </a:defRPr>
            </a:defPPr>
          </a:lstStyle>
          <a:p xmlns:a="http://schemas.openxmlformats.org/drawingml/2006/main">
            <a:pPr>
              <a:defRPr sz="1725" b="1">
                <a:solidFill>
                  <a:srgbClr val="4B606D"/>
                </a:solidFill>
                <a:latin typeface="Arial"/>
                <a:ea typeface="Arial"/>
                <a:cs typeface="Arial"/>
              </a:defRPr>
            </a:pPr>
            <a:r>
              <a:rPr sz="1725" b="1">
                <a:solidFill>
                  <a:srgbClr val="4B606D"/>
                </a:solidFill>
                <a:latin typeface="Arial"/>
                <a:ea typeface="Arial"/>
                <a:cs typeface="Arial"/>
              </a:rPr>
              <a:t>ENZORA  /  USER GUIDE</a:t>
            </a:r>
          </a:p>
        </p:txBody>
      </p:sp>
      <p:sp>
        <p:nvSpPr>
          <p:cNvPr id="2" name="">
            <a:extLst xmlns:a="http://schemas.openxmlformats.org/drawingml/2006/main">
              <a:ext uri="{FF2B5EF4-FFF2-40B4-BE49-F238E27FC236}">
                <a16:creationId xmlns:a16="http://schemas.microsoft.com/office/drawing/2014/main" id="{831ABBA9-2274-42D2-BD98-339D2C371EA2}"/>
              </a:ext>
            </a:extLst>
          </p:cNvPr>
          <p:cNvSpPr>
            <a:spLocks xmlns:a="http://schemas.openxmlformats.org/drawingml/2006/main" noGrp="1"/>
          </p:cNvSpPr>
          <p:nvPr/>
        </p:nvSpPr>
        <p:spPr>
          <a:xfrm xmlns:a="http://schemas.openxmlformats.org/drawingml/2006/main">
            <a:off x="762000" y="952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20333D"/>
                </a:solidFill>
                <a:latin typeface="Arial"/>
                <a:ea typeface="Arial"/>
                <a:cs typeface="Arial"/>
              </a:defRPr>
            </a:defPPr>
          </a:lstStyle>
          <a:p xmlns:a="http://schemas.openxmlformats.org/drawingml/2006/main">
            <a:pPr>
              <a:defRPr sz="4875" b="1">
                <a:solidFill>
                  <a:srgbClr val="20333D"/>
                </a:solidFill>
                <a:latin typeface="Arial"/>
                <a:ea typeface="Arial"/>
                <a:cs typeface="Arial"/>
              </a:defRPr>
            </a:pPr>
            <a:r>
              <a:rPr sz="4875" b="1">
                <a:solidFill>
                  <a:srgbClr val="20333D"/>
                </a:solidFill>
                <a:latin typeface="Arial"/>
                <a:ea typeface="Arial"/>
                <a:cs typeface="Arial"/>
              </a:rPr>
              <a:t>15. Recovery and interpretation checks</a:t>
            </a:r>
          </a:p>
        </p:txBody>
      </p:sp>
      <p:sp>
        <p:nvSpPr>
          <p:cNvPr id="3" name="">
            <a:extLst xmlns:a="http://schemas.openxmlformats.org/drawingml/2006/main">
              <a:ext uri="{FF2B5EF4-FFF2-40B4-BE49-F238E27FC236}">
                <a16:creationId xmlns:a16="http://schemas.microsoft.com/office/drawing/2014/main" id="{435836F5-B275-4B41-B285-26E4D705CB66}"/>
              </a:ext>
            </a:extLst>
          </p:cNvPr>
          <p:cNvSpPr>
            <a:spLocks xmlns:a="http://schemas.openxmlformats.org/drawingml/2006/main" noGrp="1"/>
          </p:cNvSpPr>
          <p:nvPr/>
        </p:nvSpPr>
        <p:spPr>
          <a:xfrm xmlns:a="http://schemas.openxmlformats.org/drawingml/2006/main">
            <a:off x="762000" y="2524125"/>
            <a:ext cx="1371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A completed interface action does not guarantee a completed model job</a:t>
            </a:r>
          </a:p>
        </p:txBody>
      </p:sp>
      <p:sp>
        <p:nvSpPr>
          <p:cNvPr id="4" name="">
            <a:extLst xmlns:a="http://schemas.openxmlformats.org/drawingml/2006/main">
              <a:ext uri="{FF2B5EF4-FFF2-40B4-BE49-F238E27FC236}">
                <a16:creationId xmlns:a16="http://schemas.microsoft.com/office/drawing/2014/main" id="{53D2EC46-9CC1-435F-82C7-7F9BEB05DBC8}"/>
              </a:ext>
            </a:extLst>
          </p:cNvPr>
          <p:cNvSpPr>
            <a:spLocks xmlns:a="http://schemas.openxmlformats.org/drawingml/2006/main" noGrp="1"/>
          </p:cNvSpPr>
          <p:nvPr/>
        </p:nvSpPr>
        <p:spPr>
          <a:xfrm xmlns:a="http://schemas.openxmlformats.org/drawingml/2006/main">
            <a:off x="762000" y="19240500"/>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4B606D"/>
                </a:solidFill>
                <a:latin typeface="Arial"/>
                <a:ea typeface="Arial"/>
                <a:cs typeface="Arial"/>
              </a:defRPr>
            </a:defPPr>
          </a:lstStyle>
          <a:p xmlns:a="http://schemas.openxmlformats.org/drawingml/2006/main">
            <a:pPr>
              <a:defRPr sz="1650" b="1">
                <a:solidFill>
                  <a:srgbClr val="4B606D"/>
                </a:solidFill>
                <a:latin typeface="Arial"/>
                <a:ea typeface="Arial"/>
                <a:cs typeface="Arial"/>
              </a:defRPr>
            </a:pPr>
            <a:r>
              <a:rPr sz="1650" b="1">
                <a:solidFill>
                  <a:srgbClr val="4B606D"/>
                </a:solidFill>
                <a:latin typeface="Arial"/>
                <a:ea typeface="Arial"/>
                <a:cs typeface="Arial"/>
              </a:rPr>
              <a:t>Enzora web platform • 16 October 2026</a:t>
            </a:r>
          </a:p>
        </p:txBody>
      </p:sp>
      <p:sp>
        <p:nvSpPr>
          <p:cNvPr id="5" name="">
            <a:extLst xmlns:a="http://schemas.openxmlformats.org/drawingml/2006/main">
              <a:ext uri="{FF2B5EF4-FFF2-40B4-BE49-F238E27FC236}">
                <a16:creationId xmlns:a16="http://schemas.microsoft.com/office/drawing/2014/main" id="{0A722599-D137-4EF8-A02C-0AB9D6C472C0}"/>
              </a:ext>
            </a:extLst>
          </p:cNvPr>
          <p:cNvSpPr>
            <a:spLocks xmlns:a="http://schemas.openxmlformats.org/drawingml/2006/main" noGrp="1"/>
          </p:cNvSpPr>
          <p:nvPr/>
        </p:nvSpPr>
        <p:spPr>
          <a:xfrm xmlns:a="http://schemas.openxmlformats.org/drawingml/2006/main">
            <a:off x="13811250" y="19240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4B606D"/>
                </a:solidFill>
                <a:latin typeface="Arial"/>
                <a:ea typeface="Arial"/>
                <a:cs typeface="Arial"/>
              </a:defRPr>
            </a:defPPr>
          </a:lstStyle>
          <a:p xmlns:a="http://schemas.openxmlformats.org/drawingml/2006/main">
            <a:pPr>
              <a:defRPr sz="1800" b="1">
                <a:solidFill>
                  <a:srgbClr val="4B606D"/>
                </a:solidFill>
                <a:latin typeface="Arial"/>
                <a:ea typeface="Arial"/>
                <a:cs typeface="Arial"/>
              </a:defRPr>
            </a:pPr>
            <a:r>
              <a:rPr sz="1800" b="1">
                <a:solidFill>
                  <a:srgbClr val="4B606D"/>
                </a:solidFill>
                <a:latin typeface="Arial"/>
                <a:ea typeface="Arial"/>
                <a:cs typeface="Arial"/>
              </a:rPr>
              <a:t>17</a:t>
            </a:r>
          </a:p>
        </p:txBody>
      </p:sp>
      <p:sp>
        <p:nvSpPr>
          <p:cNvPr id="6" name="">
            <a:extLst xmlns:a="http://schemas.openxmlformats.org/drawingml/2006/main">
              <a:ext uri="{FF2B5EF4-FFF2-40B4-BE49-F238E27FC236}">
                <a16:creationId xmlns:a16="http://schemas.microsoft.com/office/drawing/2014/main" id="{E8F5457D-D879-442F-A754-2D1E2DCEAF80}"/>
              </a:ext>
            </a:extLst>
          </p:cNvPr>
          <p:cNvSpPr>
            <a:spLocks xmlns:a="http://schemas.openxmlformats.org/drawingml/2006/main" noGrp="1"/>
          </p:cNvSpPr>
          <p:nvPr/>
        </p:nvSpPr>
        <p:spPr>
          <a:xfrm xmlns:a="http://schemas.openxmlformats.org/drawingml/2006/main">
            <a:off x="762000" y="4095750"/>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20333D"/>
                </a:solidFill>
                <a:latin typeface="Arial"/>
                <a:ea typeface="Arial"/>
                <a:cs typeface="Arial"/>
              </a:defRPr>
            </a:defPPr>
          </a:lstStyle>
          <a:p xmlns:a="http://schemas.openxmlformats.org/drawingml/2006/main">
            <a:pPr>
              <a:defRPr sz="2850" b="1">
                <a:solidFill>
                  <a:srgbClr val="20333D"/>
                </a:solidFill>
                <a:latin typeface="Arial"/>
                <a:ea typeface="Arial"/>
                <a:cs typeface="Arial"/>
              </a:defRPr>
            </a:pPr>
            <a:r>
              <a:rPr sz="2850" b="1">
                <a:solidFill>
                  <a:srgbClr val="20333D"/>
                </a:solidFill>
                <a:latin typeface="Arial"/>
                <a:ea typeface="Arial"/>
                <a:cs typeface="Arial"/>
              </a:rPr>
              <a:t>Login fails</a:t>
            </a:r>
          </a:p>
        </p:txBody>
      </p:sp>
      <p:sp>
        <p:nvSpPr>
          <p:cNvPr id="7" name="">
            <a:extLst xmlns:a="http://schemas.openxmlformats.org/drawingml/2006/main">
              <a:ext uri="{FF2B5EF4-FFF2-40B4-BE49-F238E27FC236}">
                <a16:creationId xmlns:a16="http://schemas.microsoft.com/office/drawing/2014/main" id="{38221C96-3963-4361-89E2-CAC7118EAE26}"/>
              </a:ext>
            </a:extLst>
          </p:cNvPr>
          <p:cNvSpPr>
            <a:spLocks xmlns:a="http://schemas.openxmlformats.org/drawingml/2006/main" noGrp="1"/>
          </p:cNvSpPr>
          <p:nvPr/>
        </p:nvSpPr>
        <p:spPr>
          <a:xfrm xmlns:a="http://schemas.openxmlformats.org/drawingml/2006/main">
            <a:off x="762000" y="4714875"/>
            <a:ext cx="1371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4B606D"/>
                </a:solidFill>
                <a:latin typeface="Arial"/>
                <a:ea typeface="Arial"/>
                <a:cs typeface="Arial"/>
              </a:defRPr>
            </a:defPPr>
          </a:lstStyle>
          <a:p xmlns:a="http://schemas.openxmlformats.org/drawingml/2006/main">
            <a:pPr>
              <a:defRPr sz="2475" b="1">
                <a:solidFill>
                  <a:srgbClr val="4B606D"/>
                </a:solidFill>
                <a:latin typeface="Arial"/>
                <a:ea typeface="Arial"/>
                <a:cs typeface="Arial"/>
              </a:defRPr>
            </a:pPr>
            <a:r>
              <a:rPr sz="2475" b="1">
                <a:solidFill>
                  <a:srgbClr val="4B606D"/>
                </a:solidFill>
                <a:latin typeface="Arial"/>
                <a:ea typeface="Arial"/>
                <a:cs typeface="Arial"/>
              </a:rPr>
              <a:t>Use the workspace access code, not the MiniMax provider key.</a:t>
            </a:r>
          </a:p>
        </p:txBody>
      </p:sp>
      <p:sp>
        <p:nvSpPr>
          <p:cNvPr id="8" name="">
            <a:extLst xmlns:a="http://schemas.openxmlformats.org/drawingml/2006/main">
              <a:ext uri="{FF2B5EF4-FFF2-40B4-BE49-F238E27FC236}">
                <a16:creationId xmlns:a16="http://schemas.microsoft.com/office/drawing/2014/main" id="{5624A616-B819-4C11-A1ED-136C9BAC95CC}"/>
              </a:ext>
            </a:extLst>
          </p:cNvPr>
          <p:cNvSpPr>
            <a:spLocks xmlns:a="http://schemas.openxmlformats.org/drawingml/2006/main" noGrp="1"/>
          </p:cNvSpPr>
          <p:nvPr/>
        </p:nvSpPr>
        <p:spPr>
          <a:xfrm xmlns:a="http://schemas.openxmlformats.org/drawingml/2006/main">
            <a:off x="762000" y="60674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20333D"/>
                </a:solidFill>
                <a:latin typeface="Arial"/>
                <a:ea typeface="Arial"/>
                <a:cs typeface="Arial"/>
              </a:defRPr>
            </a:defPPr>
          </a:lstStyle>
          <a:p xmlns:a="http://schemas.openxmlformats.org/drawingml/2006/main">
            <a:pPr>
              <a:defRPr sz="2850" b="1">
                <a:solidFill>
                  <a:srgbClr val="20333D"/>
                </a:solidFill>
                <a:latin typeface="Arial"/>
                <a:ea typeface="Arial"/>
                <a:cs typeface="Arial"/>
              </a:defRPr>
            </a:pPr>
            <a:r>
              <a:rPr sz="2850" b="1">
                <a:solidFill>
                  <a:srgbClr val="20333D"/>
                </a:solidFill>
                <a:latin typeface="Arial"/>
                <a:ea typeface="Arial"/>
                <a:cs typeface="Arial"/>
              </a:rPr>
              <a:t>A job remains queued</a:t>
            </a:r>
          </a:p>
        </p:txBody>
      </p:sp>
      <p:sp>
        <p:nvSpPr>
          <p:cNvPr id="9" name="">
            <a:extLst xmlns:a="http://schemas.openxmlformats.org/drawingml/2006/main">
              <a:ext uri="{FF2B5EF4-FFF2-40B4-BE49-F238E27FC236}">
                <a16:creationId xmlns:a16="http://schemas.microsoft.com/office/drawing/2014/main" id="{6304D7DF-EFD2-4A1B-9326-F345659FD0BF}"/>
              </a:ext>
            </a:extLst>
          </p:cNvPr>
          <p:cNvSpPr>
            <a:spLocks xmlns:a="http://schemas.openxmlformats.org/drawingml/2006/main" noGrp="1"/>
          </p:cNvSpPr>
          <p:nvPr/>
        </p:nvSpPr>
        <p:spPr>
          <a:xfrm xmlns:a="http://schemas.openxmlformats.org/drawingml/2006/main">
            <a:off x="762000" y="6686550"/>
            <a:ext cx="1371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4B606D"/>
                </a:solidFill>
                <a:latin typeface="Arial"/>
                <a:ea typeface="Arial"/>
                <a:cs typeface="Arial"/>
              </a:defRPr>
            </a:defPPr>
          </a:lstStyle>
          <a:p xmlns:a="http://schemas.openxmlformats.org/drawingml/2006/main">
            <a:pPr>
              <a:defRPr sz="2475" b="1">
                <a:solidFill>
                  <a:srgbClr val="4B606D"/>
                </a:solidFill>
                <a:latin typeface="Arial"/>
                <a:ea typeface="Arial"/>
                <a:cs typeface="Arial"/>
              </a:defRPr>
            </a:pPr>
            <a:r>
              <a:rPr sz="2475" b="1">
                <a:solidFill>
                  <a:srgbClr val="4B606D"/>
                </a:solidFill>
                <a:latin typeface="Arial"/>
                <a:ea typeface="Arial"/>
                <a:cs typeface="Arial"/>
              </a:rPr>
              <a:t>Check the job status. Repeated submissions do not accelerate the current allocation.</a:t>
            </a:r>
          </a:p>
        </p:txBody>
      </p:sp>
      <p:sp>
        <p:nvSpPr>
          <p:cNvPr id="10" name="">
            <a:extLst xmlns:a="http://schemas.openxmlformats.org/drawingml/2006/main">
              <a:ext uri="{FF2B5EF4-FFF2-40B4-BE49-F238E27FC236}">
                <a16:creationId xmlns:a16="http://schemas.microsoft.com/office/drawing/2014/main" id="{4494F44A-C75F-4E6F-AF8B-A110A91AAFF9}"/>
              </a:ext>
            </a:extLst>
          </p:cNvPr>
          <p:cNvSpPr>
            <a:spLocks xmlns:a="http://schemas.openxmlformats.org/drawingml/2006/main" noGrp="1"/>
          </p:cNvSpPr>
          <p:nvPr/>
        </p:nvSpPr>
        <p:spPr>
          <a:xfrm xmlns:a="http://schemas.openxmlformats.org/drawingml/2006/main">
            <a:off x="762000" y="8039100"/>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20333D"/>
                </a:solidFill>
                <a:latin typeface="Arial"/>
                <a:ea typeface="Arial"/>
                <a:cs typeface="Arial"/>
              </a:defRPr>
            </a:defPPr>
          </a:lstStyle>
          <a:p xmlns:a="http://schemas.openxmlformats.org/drawingml/2006/main">
            <a:pPr>
              <a:defRPr sz="2850" b="1">
                <a:solidFill>
                  <a:srgbClr val="20333D"/>
                </a:solidFill>
                <a:latin typeface="Arial"/>
                <a:ea typeface="Arial"/>
                <a:cs typeface="Arial"/>
              </a:defRPr>
            </a:pPr>
            <a:r>
              <a:rPr sz="2850" b="1">
                <a:solidFill>
                  <a:srgbClr val="20333D"/>
                </a:solidFill>
                <a:latin typeface="Arial"/>
                <a:ea typeface="Arial"/>
                <a:cs typeface="Arial"/>
              </a:rPr>
              <a:t>A model fails</a:t>
            </a:r>
          </a:p>
        </p:txBody>
      </p:sp>
      <p:sp>
        <p:nvSpPr>
          <p:cNvPr id="11" name="">
            <a:extLst xmlns:a="http://schemas.openxmlformats.org/drawingml/2006/main">
              <a:ext uri="{FF2B5EF4-FFF2-40B4-BE49-F238E27FC236}">
                <a16:creationId xmlns:a16="http://schemas.microsoft.com/office/drawing/2014/main" id="{3EF04CCB-117E-4123-B4A4-5D93A06DDD93}"/>
              </a:ext>
            </a:extLst>
          </p:cNvPr>
          <p:cNvSpPr>
            <a:spLocks xmlns:a="http://schemas.openxmlformats.org/drawingml/2006/main" noGrp="1"/>
          </p:cNvSpPr>
          <p:nvPr/>
        </p:nvSpPr>
        <p:spPr>
          <a:xfrm xmlns:a="http://schemas.openxmlformats.org/drawingml/2006/main">
            <a:off x="762000" y="8658225"/>
            <a:ext cx="1371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4B606D"/>
                </a:solidFill>
                <a:latin typeface="Arial"/>
                <a:ea typeface="Arial"/>
                <a:cs typeface="Arial"/>
              </a:defRPr>
            </a:defPPr>
          </a:lstStyle>
          <a:p xmlns:a="http://schemas.openxmlformats.org/drawingml/2006/main">
            <a:pPr>
              <a:defRPr sz="2475" b="1">
                <a:solidFill>
                  <a:srgbClr val="4B606D"/>
                </a:solidFill>
                <a:latin typeface="Arial"/>
                <a:ea typeface="Arial"/>
                <a:cs typeface="Arial"/>
              </a:defRPr>
            </a:pPr>
            <a:r>
              <a:rPr sz="2475" b="1">
                <a:solidFill>
                  <a:srgbClr val="4B606D"/>
                </a:solidFill>
                <a:latin typeface="Arial"/>
                <a:ea typeface="Arial"/>
                <a:cs typeface="Arial"/>
              </a:rPr>
              <a:t>Read the stage error and retained logs. Verify its environment, weights and input contract.</a:t>
            </a:r>
          </a:p>
        </p:txBody>
      </p:sp>
      <p:sp>
        <p:nvSpPr>
          <p:cNvPr id="12" name="">
            <a:extLst xmlns:a="http://schemas.openxmlformats.org/drawingml/2006/main">
              <a:ext uri="{FF2B5EF4-FFF2-40B4-BE49-F238E27FC236}">
                <a16:creationId xmlns:a16="http://schemas.microsoft.com/office/drawing/2014/main" id="{82BE1D2E-09C3-499A-86EF-31A267FFC99D}"/>
              </a:ext>
            </a:extLst>
          </p:cNvPr>
          <p:cNvSpPr>
            <a:spLocks xmlns:a="http://schemas.openxmlformats.org/drawingml/2006/main" noGrp="1"/>
          </p:cNvSpPr>
          <p:nvPr/>
        </p:nvSpPr>
        <p:spPr>
          <a:xfrm xmlns:a="http://schemas.openxmlformats.org/drawingml/2006/main">
            <a:off x="762000" y="1001077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20333D"/>
                </a:solidFill>
                <a:latin typeface="Arial"/>
                <a:ea typeface="Arial"/>
                <a:cs typeface="Arial"/>
              </a:defRPr>
            </a:defPPr>
          </a:lstStyle>
          <a:p xmlns:a="http://schemas.openxmlformats.org/drawingml/2006/main">
            <a:pPr>
              <a:defRPr sz="2850" b="1">
                <a:solidFill>
                  <a:srgbClr val="20333D"/>
                </a:solidFill>
                <a:latin typeface="Arial"/>
                <a:ea typeface="Arial"/>
                <a:cs typeface="Arial"/>
              </a:defRPr>
            </a:pPr>
            <a:r>
              <a:rPr sz="2850" b="1">
                <a:solidFill>
                  <a:srgbClr val="20333D"/>
                </a:solidFill>
                <a:latin typeface="Arial"/>
                <a:ea typeface="Arial"/>
                <a:cs typeface="Arial"/>
              </a:rPr>
              <a:t>The Assistant takes time</a:t>
            </a:r>
          </a:p>
        </p:txBody>
      </p:sp>
      <p:sp>
        <p:nvSpPr>
          <p:cNvPr id="13" name="">
            <a:extLst xmlns:a="http://schemas.openxmlformats.org/drawingml/2006/main">
              <a:ext uri="{FF2B5EF4-FFF2-40B4-BE49-F238E27FC236}">
                <a16:creationId xmlns:a16="http://schemas.microsoft.com/office/drawing/2014/main" id="{D6C08764-6E52-42A0-BC11-DE7B7D294564}"/>
              </a:ext>
            </a:extLst>
          </p:cNvPr>
          <p:cNvSpPr>
            <a:spLocks xmlns:a="http://schemas.openxmlformats.org/drawingml/2006/main" noGrp="1"/>
          </p:cNvSpPr>
          <p:nvPr/>
        </p:nvSpPr>
        <p:spPr>
          <a:xfrm xmlns:a="http://schemas.openxmlformats.org/drawingml/2006/main">
            <a:off x="762000" y="10629900"/>
            <a:ext cx="1371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4B606D"/>
                </a:solidFill>
                <a:latin typeface="Arial"/>
                <a:ea typeface="Arial"/>
                <a:cs typeface="Arial"/>
              </a:defRPr>
            </a:defPPr>
          </a:lstStyle>
          <a:p xmlns:a="http://schemas.openxmlformats.org/drawingml/2006/main">
            <a:pPr>
              <a:defRPr sz="2475" b="1">
                <a:solidFill>
                  <a:srgbClr val="4B606D"/>
                </a:solidFill>
                <a:latin typeface="Arial"/>
                <a:ea typeface="Arial"/>
                <a:cs typeface="Arial"/>
              </a:defRPr>
            </a:pPr>
            <a:r>
              <a:rPr sz="2475" b="1">
                <a:solidFill>
                  <a:srgbClr val="4B606D"/>
                </a:solidFill>
                <a:latin typeface="Arial"/>
                <a:ea typeface="Arial"/>
                <a:cs typeface="Arial"/>
              </a:rPr>
              <a:t>Watch actual tool progress. Network/provider delays can outlast a scientific tool call.</a:t>
            </a:r>
          </a:p>
        </p:txBody>
      </p:sp>
      <p:sp>
        <p:nvSpPr>
          <p:cNvPr id="14" name="">
            <a:extLst xmlns:a="http://schemas.openxmlformats.org/drawingml/2006/main">
              <a:ext uri="{FF2B5EF4-FFF2-40B4-BE49-F238E27FC236}">
                <a16:creationId xmlns:a16="http://schemas.microsoft.com/office/drawing/2014/main" id="{9DED8033-BEFA-4251-98E6-86B3813CABF0}"/>
              </a:ext>
            </a:extLst>
          </p:cNvPr>
          <p:cNvSpPr>
            <a:spLocks xmlns:a="http://schemas.openxmlformats.org/drawingml/2006/main" noGrp="1"/>
          </p:cNvSpPr>
          <p:nvPr/>
        </p:nvSpPr>
        <p:spPr>
          <a:xfrm xmlns:a="http://schemas.openxmlformats.org/drawingml/2006/main">
            <a:off x="762000" y="11982450"/>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20333D"/>
                </a:solidFill>
                <a:latin typeface="Arial"/>
                <a:ea typeface="Arial"/>
                <a:cs typeface="Arial"/>
              </a:defRPr>
            </a:defPPr>
          </a:lstStyle>
          <a:p xmlns:a="http://schemas.openxmlformats.org/drawingml/2006/main">
            <a:pPr>
              <a:defRPr sz="2850" b="1">
                <a:solidFill>
                  <a:srgbClr val="20333D"/>
                </a:solidFill>
                <a:latin typeface="Arial"/>
                <a:ea typeface="Arial"/>
                <a:cs typeface="Arial"/>
              </a:defRPr>
            </a:pPr>
            <a:r>
              <a:rPr sz="2850" b="1">
                <a:solidFill>
                  <a:srgbClr val="20333D"/>
                </a:solidFill>
                <a:latin typeface="Arial"/>
                <a:ea typeface="Arial"/>
                <a:cs typeface="Arial"/>
              </a:rPr>
              <a:t>No candidate meets the target</a:t>
            </a:r>
          </a:p>
        </p:txBody>
      </p:sp>
      <p:sp>
        <p:nvSpPr>
          <p:cNvPr id="15" name="">
            <a:extLst xmlns:a="http://schemas.openxmlformats.org/drawingml/2006/main">
              <a:ext uri="{FF2B5EF4-FFF2-40B4-BE49-F238E27FC236}">
                <a16:creationId xmlns:a16="http://schemas.microsoft.com/office/drawing/2014/main" id="{CB7F664E-ECB2-46B7-AA5F-C8CAE1291875}"/>
              </a:ext>
            </a:extLst>
          </p:cNvPr>
          <p:cNvSpPr>
            <a:spLocks xmlns:a="http://schemas.openxmlformats.org/drawingml/2006/main" noGrp="1"/>
          </p:cNvSpPr>
          <p:nvPr/>
        </p:nvSpPr>
        <p:spPr>
          <a:xfrm xmlns:a="http://schemas.openxmlformats.org/drawingml/2006/main">
            <a:off x="762000" y="12601575"/>
            <a:ext cx="1371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4B606D"/>
                </a:solidFill>
                <a:latin typeface="Arial"/>
                <a:ea typeface="Arial"/>
                <a:cs typeface="Arial"/>
              </a:defRPr>
            </a:defPPr>
          </a:lstStyle>
          <a:p xmlns:a="http://schemas.openxmlformats.org/drawingml/2006/main">
            <a:pPr>
              <a:defRPr sz="2475" b="1">
                <a:solidFill>
                  <a:srgbClr val="4B606D"/>
                </a:solidFill>
                <a:latin typeface="Arial"/>
                <a:ea typeface="Arial"/>
                <a:cs typeface="Arial"/>
              </a:defRPr>
            </a:pPr>
            <a:r>
              <a:rPr sz="2475" b="1">
                <a:solidFill>
                  <a:srgbClr val="4B606D"/>
                </a:solidFill>
                <a:latin typeface="Arial"/>
                <a:ea typeface="Arial"/>
                <a:cs typeface="Arial"/>
              </a:rPr>
              <a:t>Review acceptance filters separately from rank. Revise the design or use a new round.</a:t>
            </a:r>
          </a:p>
        </p:txBody>
      </p:sp>
      <p:sp>
        <p:nvSpPr>
          <p:cNvPr id="16" name="">
            <a:extLst xmlns:a="http://schemas.openxmlformats.org/drawingml/2006/main">
              <a:ext uri="{FF2B5EF4-FFF2-40B4-BE49-F238E27FC236}">
                <a16:creationId xmlns:a16="http://schemas.microsoft.com/office/drawing/2014/main" id="{D767DA03-8D61-47A0-A644-05ADFBD4AEDA}"/>
              </a:ext>
            </a:extLst>
          </p:cNvPr>
          <p:cNvSpPr>
            <a:spLocks xmlns:a="http://schemas.openxmlformats.org/drawingml/2006/main" noGrp="1"/>
          </p:cNvSpPr>
          <p:nvPr/>
        </p:nvSpPr>
        <p:spPr>
          <a:xfrm xmlns:a="http://schemas.openxmlformats.org/drawingml/2006/main">
            <a:off x="762000" y="139541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20333D"/>
                </a:solidFill>
                <a:latin typeface="Arial"/>
                <a:ea typeface="Arial"/>
                <a:cs typeface="Arial"/>
              </a:defRPr>
            </a:defPPr>
          </a:lstStyle>
          <a:p xmlns:a="http://schemas.openxmlformats.org/drawingml/2006/main">
            <a:pPr>
              <a:defRPr sz="2850" b="1">
                <a:solidFill>
                  <a:srgbClr val="20333D"/>
                </a:solidFill>
                <a:latin typeface="Arial"/>
                <a:ea typeface="Arial"/>
                <a:cs typeface="Arial"/>
              </a:defRPr>
            </a:pPr>
            <a:r>
              <a:rPr sz="2850" b="1">
                <a:solidFill>
                  <a:srgbClr val="20333D"/>
                </a:solidFill>
                <a:latin typeface="Arial"/>
                <a:ea typeface="Arial"/>
                <a:cs typeface="Arial"/>
              </a:rPr>
              <a:t>The report is unavailable</a:t>
            </a:r>
          </a:p>
        </p:txBody>
      </p:sp>
      <p:sp>
        <p:nvSpPr>
          <p:cNvPr id="17" name="">
            <a:extLst xmlns:a="http://schemas.openxmlformats.org/drawingml/2006/main">
              <a:ext uri="{FF2B5EF4-FFF2-40B4-BE49-F238E27FC236}">
                <a16:creationId xmlns:a16="http://schemas.microsoft.com/office/drawing/2014/main" id="{F511E015-2D9C-4A74-BB78-88DACB17A366}"/>
              </a:ext>
            </a:extLst>
          </p:cNvPr>
          <p:cNvSpPr>
            <a:spLocks xmlns:a="http://schemas.openxmlformats.org/drawingml/2006/main" noGrp="1"/>
          </p:cNvSpPr>
          <p:nvPr/>
        </p:nvSpPr>
        <p:spPr>
          <a:xfrm xmlns:a="http://schemas.openxmlformats.org/drawingml/2006/main">
            <a:off x="762000" y="14573250"/>
            <a:ext cx="1371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4B606D"/>
                </a:solidFill>
                <a:latin typeface="Arial"/>
                <a:ea typeface="Arial"/>
                <a:cs typeface="Arial"/>
              </a:defRPr>
            </a:defPPr>
          </a:lstStyle>
          <a:p xmlns:a="http://schemas.openxmlformats.org/drawingml/2006/main">
            <a:pPr>
              <a:defRPr sz="2475" b="1">
                <a:solidFill>
                  <a:srgbClr val="4B606D"/>
                </a:solidFill>
                <a:latin typeface="Arial"/>
                <a:ea typeface="Arial"/>
                <a:cs typeface="Arial"/>
              </a:defRPr>
            </a:pPr>
            <a:r>
              <a:rPr sz="2475" b="1">
                <a:solidFill>
                  <a:srgbClr val="4B606D"/>
                </a:solidFill>
                <a:latin typeface="Arial"/>
                <a:ea typeface="Arial"/>
                <a:cs typeface="Arial"/>
              </a:rPr>
              <a:t>Wait for selection/analysis to finish. A failed report is not an empty successful result.</a:t>
            </a:r>
          </a:p>
        </p:txBody>
      </p:sp>
      <p:sp>
        <p:nvSpPr>
          <p:cNvPr id="18" name="">
            <a:extLst xmlns:a="http://schemas.openxmlformats.org/drawingml/2006/main">
              <a:ext uri="{FF2B5EF4-FFF2-40B4-BE49-F238E27FC236}">
                <a16:creationId xmlns:a16="http://schemas.microsoft.com/office/drawing/2014/main" id="{21D62D41-8692-4944-8040-5BDFF2956121}"/>
              </a:ext>
            </a:extLst>
          </p:cNvPr>
          <p:cNvSpPr>
            <a:spLocks xmlns:a="http://schemas.openxmlformats.org/drawingml/2006/main" noGrp="1"/>
          </p:cNvSpPr>
          <p:nvPr/>
        </p:nvSpPr>
        <p:spPr>
          <a:xfrm xmlns:a="http://schemas.openxmlformats.org/drawingml/2006/main">
            <a:off x="762000" y="15925800"/>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20333D"/>
                </a:solidFill>
                <a:latin typeface="Arial"/>
                <a:ea typeface="Arial"/>
                <a:cs typeface="Arial"/>
              </a:defRPr>
            </a:defPPr>
          </a:lstStyle>
          <a:p xmlns:a="http://schemas.openxmlformats.org/drawingml/2006/main">
            <a:pPr>
              <a:defRPr sz="2850" b="1">
                <a:solidFill>
                  <a:srgbClr val="20333D"/>
                </a:solidFill>
                <a:latin typeface="Arial"/>
                <a:ea typeface="Arial"/>
                <a:cs typeface="Arial"/>
              </a:defRPr>
            </a:pPr>
            <a:r>
              <a:rPr sz="2850" b="1">
                <a:solidFill>
                  <a:srgbClr val="20333D"/>
                </a:solidFill>
                <a:latin typeface="Arial"/>
                <a:ea typeface="Arial"/>
                <a:cs typeface="Arial"/>
              </a:rPr>
              <a:t>A run is cancelled</a:t>
            </a:r>
          </a:p>
        </p:txBody>
      </p:sp>
      <p:sp>
        <p:nvSpPr>
          <p:cNvPr id="19" name="">
            <a:extLst xmlns:a="http://schemas.openxmlformats.org/drawingml/2006/main">
              <a:ext uri="{FF2B5EF4-FFF2-40B4-BE49-F238E27FC236}">
                <a16:creationId xmlns:a16="http://schemas.microsoft.com/office/drawing/2014/main" id="{A7DC63F3-47C9-419C-B29C-E1FCE6E64D8D}"/>
              </a:ext>
            </a:extLst>
          </p:cNvPr>
          <p:cNvSpPr>
            <a:spLocks xmlns:a="http://schemas.openxmlformats.org/drawingml/2006/main" noGrp="1"/>
          </p:cNvSpPr>
          <p:nvPr/>
        </p:nvSpPr>
        <p:spPr>
          <a:xfrm xmlns:a="http://schemas.openxmlformats.org/drawingml/2006/main">
            <a:off x="762000" y="16544925"/>
            <a:ext cx="1371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4B606D"/>
                </a:solidFill>
                <a:latin typeface="Arial"/>
                <a:ea typeface="Arial"/>
                <a:cs typeface="Arial"/>
              </a:defRPr>
            </a:defPPr>
          </a:lstStyle>
          <a:p xmlns:a="http://schemas.openxmlformats.org/drawingml/2006/main">
            <a:pPr>
              <a:defRPr sz="2475" b="1">
                <a:solidFill>
                  <a:srgbClr val="4B606D"/>
                </a:solidFill>
                <a:latin typeface="Arial"/>
                <a:ea typeface="Arial"/>
                <a:cs typeface="Arial"/>
              </a:defRPr>
            </a:pPr>
            <a:r>
              <a:rPr sz="2475" b="1">
                <a:solidFill>
                  <a:srgbClr val="4B606D"/>
                </a:solidFill>
                <a:latin typeface="Arial"/>
                <a:ea typeface="Arial"/>
                <a:cs typeface="Arial"/>
              </a:rPr>
              <a:t>Confirm the scheduler has stopped the job before cleaning active files.</a:t>
            </a:r>
          </a:p>
        </p:txBody>
      </p:sp>
    </p:spTree>
    <p:extLst>
      <p:ext uri="{BB962C8B-B14F-4D97-AF65-F5344CB8AC3E}">
        <p14:creationId xmlns:p14="http://schemas.microsoft.com/office/powerpoint/2010/main" val="149498929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8B5A167-0332-42B4-A050-C430C0657408}"/>
              </a:ext>
            </a:extLst>
          </p:cNvPr>
          <p:cNvSpPr>
            <a:spLocks xmlns:a="http://schemas.openxmlformats.org/drawingml/2006/main" noGrp="1"/>
          </p:cNvSpPr>
          <p:nvPr/>
        </p:nvSpPr>
        <p:spPr>
          <a:xfrm xmlns:a="http://schemas.openxmlformats.org/drawingml/2006/main">
            <a:off x="762000" y="361950"/>
            <a:ext cx="1323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4B606D"/>
                </a:solidFill>
                <a:latin typeface="Arial"/>
                <a:ea typeface="Arial"/>
                <a:cs typeface="Arial"/>
              </a:defRPr>
            </a:defPPr>
          </a:lstStyle>
          <a:p xmlns:a="http://schemas.openxmlformats.org/drawingml/2006/main">
            <a:pPr>
              <a:defRPr sz="1725" b="1">
                <a:solidFill>
                  <a:srgbClr val="4B606D"/>
                </a:solidFill>
                <a:latin typeface="Arial"/>
                <a:ea typeface="Arial"/>
                <a:cs typeface="Arial"/>
              </a:defRPr>
            </a:pPr>
            <a:r>
              <a:rPr sz="1725" b="1">
                <a:solidFill>
                  <a:srgbClr val="4B606D"/>
                </a:solidFill>
                <a:latin typeface="Arial"/>
                <a:ea typeface="Arial"/>
                <a:cs typeface="Arial"/>
              </a:rPr>
              <a:t>ENZORA  /  USER GUIDE</a:t>
            </a:r>
          </a:p>
        </p:txBody>
      </p:sp>
      <p:sp>
        <p:nvSpPr>
          <p:cNvPr id="2" name="">
            <a:extLst xmlns:a="http://schemas.openxmlformats.org/drawingml/2006/main">
              <a:ext uri="{FF2B5EF4-FFF2-40B4-BE49-F238E27FC236}">
                <a16:creationId xmlns:a16="http://schemas.microsoft.com/office/drawing/2014/main" id="{14E47502-1549-4CA1-BC00-85E294ABA03C}"/>
              </a:ext>
            </a:extLst>
          </p:cNvPr>
          <p:cNvSpPr>
            <a:spLocks xmlns:a="http://schemas.openxmlformats.org/drawingml/2006/main" noGrp="1"/>
          </p:cNvSpPr>
          <p:nvPr/>
        </p:nvSpPr>
        <p:spPr>
          <a:xfrm xmlns:a="http://schemas.openxmlformats.org/drawingml/2006/main">
            <a:off x="762000" y="95250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20333D"/>
                </a:solidFill>
                <a:latin typeface="Arial"/>
                <a:ea typeface="Arial"/>
                <a:cs typeface="Arial"/>
              </a:defRPr>
            </a:defPPr>
          </a:lstStyle>
          <a:p xmlns:a="http://schemas.openxmlformats.org/drawingml/2006/main">
            <a:pPr>
              <a:defRPr sz="4875" b="1">
                <a:solidFill>
                  <a:srgbClr val="20333D"/>
                </a:solidFill>
                <a:latin typeface="Arial"/>
                <a:ea typeface="Arial"/>
                <a:cs typeface="Arial"/>
              </a:defRPr>
            </a:pPr>
            <a:r>
              <a:rPr sz="4875" b="1">
                <a:solidFill>
                  <a:srgbClr val="20333D"/>
                </a:solidFill>
                <a:latin typeface="Arial"/>
                <a:ea typeface="Arial"/>
                <a:cs typeface="Arial"/>
              </a:rPr>
              <a:t>16. Evidence and further reading</a:t>
            </a:r>
          </a:p>
        </p:txBody>
      </p:sp>
      <p:sp>
        <p:nvSpPr>
          <p:cNvPr id="3" name="">
            <a:extLst xmlns:a="http://schemas.openxmlformats.org/drawingml/2006/main">
              <a:ext uri="{FF2B5EF4-FFF2-40B4-BE49-F238E27FC236}">
                <a16:creationId xmlns:a16="http://schemas.microsoft.com/office/drawing/2014/main" id="{0BA104A7-632E-4474-957C-13EC57C67052}"/>
              </a:ext>
            </a:extLst>
          </p:cNvPr>
          <p:cNvSpPr>
            <a:spLocks xmlns:a="http://schemas.openxmlformats.org/drawingml/2006/main" noGrp="1"/>
          </p:cNvSpPr>
          <p:nvPr/>
        </p:nvSpPr>
        <p:spPr>
          <a:xfrm xmlns:a="http://schemas.openxmlformats.org/drawingml/2006/main">
            <a:off x="762000" y="2524125"/>
            <a:ext cx="1371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The guide follows the current browser and production code</a:t>
            </a:r>
          </a:p>
        </p:txBody>
      </p:sp>
      <p:sp>
        <p:nvSpPr>
          <p:cNvPr id="4" name="">
            <a:extLst xmlns:a="http://schemas.openxmlformats.org/drawingml/2006/main">
              <a:ext uri="{FF2B5EF4-FFF2-40B4-BE49-F238E27FC236}">
                <a16:creationId xmlns:a16="http://schemas.microsoft.com/office/drawing/2014/main" id="{F3DC9601-E4C1-43CB-BF10-D43D1CFA6F3D}"/>
              </a:ext>
            </a:extLst>
          </p:cNvPr>
          <p:cNvSpPr>
            <a:spLocks xmlns:a="http://schemas.openxmlformats.org/drawingml/2006/main" noGrp="1"/>
          </p:cNvSpPr>
          <p:nvPr/>
        </p:nvSpPr>
        <p:spPr>
          <a:xfrm xmlns:a="http://schemas.openxmlformats.org/drawingml/2006/main">
            <a:off x="762000" y="19240500"/>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4B606D"/>
                </a:solidFill>
                <a:latin typeface="Arial"/>
                <a:ea typeface="Arial"/>
                <a:cs typeface="Arial"/>
              </a:defRPr>
            </a:defPPr>
          </a:lstStyle>
          <a:p xmlns:a="http://schemas.openxmlformats.org/drawingml/2006/main">
            <a:pPr>
              <a:defRPr sz="1650" b="1">
                <a:solidFill>
                  <a:srgbClr val="4B606D"/>
                </a:solidFill>
                <a:latin typeface="Arial"/>
                <a:ea typeface="Arial"/>
                <a:cs typeface="Arial"/>
              </a:defRPr>
            </a:pPr>
            <a:r>
              <a:rPr sz="1650" b="1">
                <a:solidFill>
                  <a:srgbClr val="4B606D"/>
                </a:solidFill>
                <a:latin typeface="Arial"/>
                <a:ea typeface="Arial"/>
                <a:cs typeface="Arial"/>
              </a:rPr>
              <a:t>Enzora web platform • 16 October 2026</a:t>
            </a:r>
          </a:p>
        </p:txBody>
      </p:sp>
      <p:sp>
        <p:nvSpPr>
          <p:cNvPr id="5" name="">
            <a:extLst xmlns:a="http://schemas.openxmlformats.org/drawingml/2006/main">
              <a:ext uri="{FF2B5EF4-FFF2-40B4-BE49-F238E27FC236}">
                <a16:creationId xmlns:a16="http://schemas.microsoft.com/office/drawing/2014/main" id="{28D9CD60-6FB8-4271-AD67-558253F59BD2}"/>
              </a:ext>
            </a:extLst>
          </p:cNvPr>
          <p:cNvSpPr>
            <a:spLocks xmlns:a="http://schemas.openxmlformats.org/drawingml/2006/main" noGrp="1"/>
          </p:cNvSpPr>
          <p:nvPr/>
        </p:nvSpPr>
        <p:spPr>
          <a:xfrm xmlns:a="http://schemas.openxmlformats.org/drawingml/2006/main">
            <a:off x="13811250" y="19240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4B606D"/>
                </a:solidFill>
                <a:latin typeface="Arial"/>
                <a:ea typeface="Arial"/>
                <a:cs typeface="Arial"/>
              </a:defRPr>
            </a:defPPr>
          </a:lstStyle>
          <a:p xmlns:a="http://schemas.openxmlformats.org/drawingml/2006/main">
            <a:pPr>
              <a:defRPr sz="1800" b="1">
                <a:solidFill>
                  <a:srgbClr val="4B606D"/>
                </a:solidFill>
                <a:latin typeface="Arial"/>
                <a:ea typeface="Arial"/>
                <a:cs typeface="Arial"/>
              </a:defRPr>
            </a:pPr>
            <a:r>
              <a:rPr sz="1800" b="1">
                <a:solidFill>
                  <a:srgbClr val="4B606D"/>
                </a:solidFill>
                <a:latin typeface="Arial"/>
                <a:ea typeface="Arial"/>
                <a:cs typeface="Arial"/>
              </a:rPr>
              <a:t>18</a:t>
            </a:r>
          </a:p>
        </p:txBody>
      </p:sp>
      <p:sp>
        <p:nvSpPr>
          <p:cNvPr id="6" name="">
            <a:extLst xmlns:a="http://schemas.openxmlformats.org/drawingml/2006/main">
              <a:ext uri="{FF2B5EF4-FFF2-40B4-BE49-F238E27FC236}">
                <a16:creationId xmlns:a16="http://schemas.microsoft.com/office/drawing/2014/main" id="{3A622CB7-2A2A-42E2-A75A-186D43AC2960}"/>
              </a:ext>
            </a:extLst>
          </p:cNvPr>
          <p:cNvSpPr>
            <a:spLocks xmlns:a="http://schemas.openxmlformats.org/drawingml/2006/main" noGrp="1"/>
          </p:cNvSpPr>
          <p:nvPr/>
        </p:nvSpPr>
        <p:spPr>
          <a:xfrm xmlns:a="http://schemas.openxmlformats.org/drawingml/2006/main">
            <a:off x="762000" y="404812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Verified integration example</a:t>
            </a:r>
          </a:p>
        </p:txBody>
      </p:sp>
      <p:sp>
        <p:nvSpPr>
          <p:cNvPr id="7" name="">
            <a:extLst xmlns:a="http://schemas.openxmlformats.org/drawingml/2006/main">
              <a:ext uri="{FF2B5EF4-FFF2-40B4-BE49-F238E27FC236}">
                <a16:creationId xmlns:a16="http://schemas.microsoft.com/office/drawing/2014/main" id="{5B064516-099F-4C4F-AC86-CF9FBFA7C6F7}"/>
              </a:ext>
            </a:extLst>
          </p:cNvPr>
          <p:cNvSpPr>
            <a:spLocks xmlns:a="http://schemas.openxmlformats.org/drawingml/2006/main" noGrp="1"/>
          </p:cNvSpPr>
          <p:nvPr/>
        </p:nvSpPr>
        <p:spPr>
          <a:xfrm xmlns:a="http://schemas.openxmlformats.org/drawingml/2006/main">
            <a:off x="762000" y="4714875"/>
            <a:ext cx="137160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The screenshots use a real 544 aa WT / CO2 task with ten single-mutant candidates and Top-5 output. All three generators, all three scorers and MiniMax native balancing completed. This is an integration check, not 1,000-candidate performance or wet-lab validation.</a:t>
            </a:r>
          </a:p>
        </p:txBody>
      </p:sp>
      <p:sp>
        <p:nvSpPr>
          <p:cNvPr id="8" name="">
            <a:extLst xmlns:a="http://schemas.openxmlformats.org/drawingml/2006/main">
              <a:ext uri="{FF2B5EF4-FFF2-40B4-BE49-F238E27FC236}">
                <a16:creationId xmlns:a16="http://schemas.microsoft.com/office/drawing/2014/main" id="{AE3C6354-E6FB-41CF-AFDB-967FD797E8BE}"/>
              </a:ext>
            </a:extLst>
          </p:cNvPr>
          <p:cNvSpPr>
            <a:spLocks xmlns:a="http://schemas.openxmlformats.org/drawingml/2006/main" noGrp="1"/>
          </p:cNvSpPr>
          <p:nvPr/>
        </p:nvSpPr>
        <p:spPr>
          <a:xfrm xmlns:a="http://schemas.openxmlformats.org/drawingml/2006/main">
            <a:off x="762000" y="795337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0333D"/>
                </a:solidFill>
                <a:latin typeface="Arial"/>
                <a:ea typeface="Arial"/>
                <a:cs typeface="Arial"/>
              </a:defRPr>
            </a:defPPr>
          </a:lstStyle>
          <a:p xmlns:a="http://schemas.openxmlformats.org/drawingml/2006/main">
            <a:pPr>
              <a:defRPr sz="2925" b="1">
                <a:solidFill>
                  <a:srgbClr val="20333D"/>
                </a:solidFill>
                <a:latin typeface="Arial"/>
                <a:ea typeface="Arial"/>
                <a:cs typeface="Arial"/>
              </a:defRPr>
            </a:pPr>
            <a:r>
              <a:rPr sz="2925" b="1">
                <a:solidFill>
                  <a:srgbClr val="20333D"/>
                </a:solidFill>
                <a:latin typeface="Arial"/>
                <a:ea typeface="Arial"/>
                <a:cs typeface="Arial"/>
              </a:rPr>
              <a:t>Scientific interpretation</a:t>
            </a:r>
          </a:p>
        </p:txBody>
      </p:sp>
      <p:sp>
        <p:nvSpPr>
          <p:cNvPr id="9" name="">
            <a:extLst xmlns:a="http://schemas.openxmlformats.org/drawingml/2006/main">
              <a:ext uri="{FF2B5EF4-FFF2-40B4-BE49-F238E27FC236}">
                <a16:creationId xmlns:a16="http://schemas.microsoft.com/office/drawing/2014/main" id="{5CB1D4D0-2C67-4E95-A189-9E90359CD8A8}"/>
              </a:ext>
            </a:extLst>
          </p:cNvPr>
          <p:cNvSpPr>
            <a:spLocks xmlns:a="http://schemas.openxmlformats.org/drawingml/2006/main" noGrp="1"/>
          </p:cNvSpPr>
          <p:nvPr/>
        </p:nvSpPr>
        <p:spPr>
          <a:xfrm xmlns:a="http://schemas.openxmlformats.org/drawingml/2006/main">
            <a:off x="762000" y="8620125"/>
            <a:ext cx="137160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4B606D"/>
                </a:solidFill>
                <a:latin typeface="Arial"/>
                <a:ea typeface="Arial"/>
                <a:cs typeface="Arial"/>
              </a:defRPr>
            </a:defPPr>
          </a:lstStyle>
          <a:p xmlns:a="http://schemas.openxmlformats.org/drawingml/2006/main">
            <a:pPr>
              <a:defRPr sz="2550" b="1">
                <a:solidFill>
                  <a:srgbClr val="4B606D"/>
                </a:solidFill>
                <a:latin typeface="Arial"/>
                <a:ea typeface="Arial"/>
                <a:cs typeface="Arial"/>
              </a:defRPr>
            </a:pPr>
            <a:r>
              <a:rPr sz="2550" b="1">
                <a:solidFill>
                  <a:srgbClr val="4B606D"/>
                </a:solidFill>
                <a:latin typeface="Arial"/>
                <a:ea typeface="Arial"/>
                <a:cs typeface="Arial"/>
              </a:rPr>
              <a:t>UMAP uses positional amino-acid identity with Hamming distance. It is a visualization. Model uncertainty proxies have different meanings and are not jointly calibrated success probabilities. Predicted candidates require experimental testing.</a:t>
            </a:r>
          </a:p>
        </p:txBody>
      </p:sp>
      <p:sp>
        <p:nvSpPr>
          <p:cNvPr id="10" name="">
            <a:extLst xmlns:a="http://schemas.openxmlformats.org/drawingml/2006/main">
              <a:ext uri="{FF2B5EF4-FFF2-40B4-BE49-F238E27FC236}">
                <a16:creationId xmlns:a16="http://schemas.microsoft.com/office/drawing/2014/main" id="{A0ABF546-ED90-4093-AF82-963E5AD6A4AF}"/>
              </a:ext>
            </a:extLst>
          </p:cNvPr>
          <p:cNvSpPr>
            <a:spLocks xmlns:a="http://schemas.openxmlformats.org/drawingml/2006/main" noGrp="1"/>
          </p:cNvSpPr>
          <p:nvPr/>
        </p:nvSpPr>
        <p:spPr>
          <a:xfrm xmlns:a="http://schemas.openxmlformats.org/drawingml/2006/main">
            <a:off x="762000" y="12001500"/>
            <a:ext cx="13716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20333D"/>
                </a:solidFill>
                <a:latin typeface="Arial"/>
                <a:ea typeface="Arial"/>
                <a:cs typeface="Arial"/>
              </a:defRPr>
            </a:defPPr>
          </a:lstStyle>
          <a:p xmlns:a="http://schemas.openxmlformats.org/drawingml/2006/main">
            <a:pPr>
              <a:defRPr sz="2400" b="1">
                <a:solidFill>
                  <a:srgbClr val="20333D"/>
                </a:solidFill>
                <a:latin typeface="Arial"/>
                <a:ea typeface="Arial"/>
                <a:cs typeface="Arial"/>
              </a:defRPr>
            </a:pPr>
            <a:r>
              <a:rPr sz="2400" b="1">
                <a:solidFill>
                  <a:srgbClr val="20333D"/>
                </a:solidFill>
                <a:latin typeface="Arial"/>
                <a:ea typeface="Arial"/>
                <a:cs typeface="Arial"/>
              </a:rPr>
              <a:t>Further reading</a:t>
            </a:r>
          </a:p>
          <a:p xmlns:a="http://schemas.openxmlformats.org/drawingml/2006/main">
            <a:pPr>
              <a:defRPr sz="2400" b="1">
                <a:solidFill>
                  <a:srgbClr val="20333D"/>
                </a:solidFill>
                <a:latin typeface="Arial"/>
                <a:ea typeface="Arial"/>
                <a:cs typeface="Arial"/>
              </a:defRPr>
            </a:pPr>
            <a:r>
              <a:rPr sz="2400" b="1">
                <a:solidFill>
                  <a:srgbClr val="20333D"/>
                </a:solidFill>
                <a:latin typeface="Arial"/>
                <a:ea typeface="Arial"/>
                <a:cs typeface="Arial"/>
              </a:rPr>
              <a:t>https://enzora-agent.com</a:t>
            </a:r>
          </a:p>
          <a:p xmlns:a="http://schemas.openxmlformats.org/drawingml/2006/main">
            <a:pPr>
              <a:defRPr sz="2400" b="1">
                <a:solidFill>
                  <a:srgbClr val="20333D"/>
                </a:solidFill>
                <a:latin typeface="Arial"/>
                <a:ea typeface="Arial"/>
                <a:cs typeface="Arial"/>
              </a:defRPr>
            </a:pPr>
            <a:r>
              <a:rPr sz="2400" b="1">
                <a:solidFill>
                  <a:srgbClr val="20333D"/>
                </a:solidFill>
                <a:latin typeface="Arial"/>
                <a:ea typeface="Arial"/>
                <a:cs typeface="Arial"/>
              </a:rPr>
              <a:t>https://github.com/YuzhangLi2281/Enzora</a:t>
            </a:r>
          </a:p>
          <a:p xmlns:a="http://schemas.openxmlformats.org/drawingml/2006/main">
            <a:pPr>
              <a:defRPr sz="2400" b="1">
                <a:solidFill>
                  <a:srgbClr val="20333D"/>
                </a:solidFill>
                <a:latin typeface="Arial"/>
                <a:ea typeface="Arial"/>
                <a:cs typeface="Arial"/>
              </a:defRPr>
            </a:pPr>
            <a:r>
              <a:rPr sz="2400" b="1">
                <a:solidFill>
                  <a:srgbClr val="20333D"/>
                </a:solidFill>
                <a:latin typeface="Arial"/>
                <a:ea typeface="Arial"/>
                <a:cs typeface="Arial"/>
              </a:rPr>
              <a:t>https://github.com/YuzhangLi2281/PHENOM</a:t>
            </a:r>
          </a:p>
          <a:p xmlns:a="http://schemas.openxmlformats.org/drawingml/2006/main">
            <a:pPr>
              <a:defRPr sz="2400" b="1">
                <a:solidFill>
                  <a:srgbClr val="20333D"/>
                </a:solidFill>
                <a:latin typeface="Arial"/>
                <a:ea typeface="Arial"/>
                <a:cs typeface="Arial"/>
              </a:defRPr>
            </a:pPr>
            <a:r>
              <a:rPr sz="2400" b="1">
                <a:solidFill>
                  <a:srgbClr val="20333D"/>
                </a:solidFill>
                <a:latin typeface="Arial"/>
                <a:ea typeface="Arial"/>
                <a:cs typeface="Arial"/>
              </a:rPr>
              <a:t>https://github.com/ntranoslab/vesm</a:t>
            </a:r>
          </a:p>
          <a:p xmlns:a="http://schemas.openxmlformats.org/drawingml/2006/main">
            <a:pPr>
              <a:defRPr sz="2400" b="1">
                <a:solidFill>
                  <a:srgbClr val="20333D"/>
                </a:solidFill>
                <a:latin typeface="Arial"/>
                <a:ea typeface="Arial"/>
                <a:cs typeface="Arial"/>
              </a:defRPr>
            </a:pPr>
            <a:r>
              <a:rPr sz="2400" b="1">
                <a:solidFill>
                  <a:srgbClr val="20333D"/>
                </a:solidFill>
                <a:latin typeface="Arial"/>
                <a:ea typeface="Arial"/>
                <a:cs typeface="Arial"/>
              </a:rPr>
              <a:t>https://github.com/ai4protein/VenusFactory2</a:t>
            </a:r>
          </a:p>
        </p:txBody>
      </p:sp>
      <p:sp>
        <p:nvSpPr>
          <p:cNvPr id="11" name="">
            <a:extLst xmlns:a="http://schemas.openxmlformats.org/drawingml/2006/main">
              <a:ext uri="{FF2B5EF4-FFF2-40B4-BE49-F238E27FC236}">
                <a16:creationId xmlns:a16="http://schemas.microsoft.com/office/drawing/2014/main" id="{1ECDA292-41AB-4731-B8BE-F5FD4F5FED9B}"/>
              </a:ext>
            </a:extLst>
          </p:cNvPr>
          <p:cNvSpPr>
            <a:spLocks xmlns:a="http://schemas.openxmlformats.org/drawingml/2006/main" noGrp="1"/>
          </p:cNvSpPr>
          <p:nvPr/>
        </p:nvSpPr>
        <p:spPr>
          <a:xfrm xmlns:a="http://schemas.openxmlformats.org/drawingml/2006/main">
            <a:off x="762000" y="16764000"/>
            <a:ext cx="13716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4B606D"/>
                </a:solidFill>
                <a:latin typeface="Arial"/>
                <a:ea typeface="Arial"/>
                <a:cs typeface="Arial"/>
              </a:defRPr>
            </a:defPPr>
          </a:lstStyle>
          <a:p xmlns:a="http://schemas.openxmlformats.org/drawingml/2006/main">
            <a:pPr>
              <a:defRPr sz="2475" b="1">
                <a:solidFill>
                  <a:srgbClr val="4B606D"/>
                </a:solidFill>
                <a:latin typeface="Arial"/>
                <a:ea typeface="Arial"/>
                <a:cs typeface="Arial"/>
              </a:defRPr>
            </a:pPr>
            <a:r>
              <a:rPr sz="2475" b="1">
                <a:solidFill>
                  <a:srgbClr val="4B606D"/>
                </a:solidFill>
                <a:latin typeface="Arial"/>
                <a:ea typeface="Arial"/>
                <a:cs typeface="Arial"/>
              </a:rPr>
              <a:t>Project diagrams retain editable labels and vector components. Native formula sources remain available for editing.</a:t>
            </a:r>
          </a:p>
        </p:txBody>
      </p:sp>
    </p:spTree>
    <p:extLst>
      <p:ext uri="{BB962C8B-B14F-4D97-AF65-F5344CB8AC3E}">
        <p14:creationId xmlns:p14="http://schemas.microsoft.com/office/powerpoint/2010/main" val="13467770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2026-10-16T15:50:34.0640000Z</dcterms:created>
  <dcterms:modified xsi:type="dcterms:W3CDTF">2026-10-16T15:50:34.0640000Z</dcterms:modified>
</coreProperties>
</file>