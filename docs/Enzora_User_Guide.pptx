
<file path=[Content_Types].xml><?xml version="1.0" encoding="utf-8"?>
<Types xmlns="http://schemas.openxmlformats.org/package/2006/content-types">
  <Default Extension="xml" ContentType="application/vnd.openxmlformats-package.core-properties+xml"/>
  <Default Extension="png" ContentType="image/png"/>
  <Default Extension="svg" ContentType="image/svg+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fee61f7583a4655" /><Relationship Type="http://schemas.openxmlformats.org/officeDocument/2006/relationships/extended-properties" Target="/docProps/app.xml" Id="R6e85327db0ed416d" /><Relationship Type="http://schemas.openxmlformats.org/officeDocument/2006/relationships/officeDocument" Target="/ppt/presentation.xml" Id="Rf1eb4bea72a7482f" /></Relationships>
</file>

<file path=ppt/presentation.xml><?xml version="1.0" encoding="utf-8"?>
<p:presentation xmlns:p="http://schemas.openxmlformats.org/presentationml/2006/main">
  <p:sldMasterIdLst>
    <p:sldMasterId xmlns:r="http://schemas.openxmlformats.org/officeDocument/2006/relationships" id="2147483648" r:id="Rae40fb4327504ee0"/>
  </p:sldMasterIdLst>
  <p:notesMasterIdLst>
    <p:notesMasterId xmlns:r="http://schemas.openxmlformats.org/officeDocument/2006/relationships" r:id="Ra98cdc35d4ba44ca"/>
  </p:notesMasterIdLst>
  <p:sldIdLst>
    <p:sldId xmlns:r="http://schemas.openxmlformats.org/officeDocument/2006/relationships" id="256" r:id="Ra977fd9732b64d86"/>
    <p:sldId xmlns:r="http://schemas.openxmlformats.org/officeDocument/2006/relationships" id="257" r:id="R418deba8523245c3"/>
    <p:sldId xmlns:r="http://schemas.openxmlformats.org/officeDocument/2006/relationships" id="258" r:id="Rdb142a6035e04e7f"/>
    <p:sldId xmlns:r="http://schemas.openxmlformats.org/officeDocument/2006/relationships" id="259" r:id="R217ec0f922d64b6b"/>
    <p:sldId xmlns:r="http://schemas.openxmlformats.org/officeDocument/2006/relationships" id="260" r:id="Rc6cba82dee6046bb"/>
    <p:sldId xmlns:r="http://schemas.openxmlformats.org/officeDocument/2006/relationships" id="261" r:id="Rfc77d1af5a6645f3"/>
    <p:sldId xmlns:r="http://schemas.openxmlformats.org/officeDocument/2006/relationships" id="262" r:id="R47987fdedbc34c0d"/>
    <p:sldId xmlns:r="http://schemas.openxmlformats.org/officeDocument/2006/relationships" id="263" r:id="R572e5bf7dddb4149"/>
    <p:sldId xmlns:r="http://schemas.openxmlformats.org/officeDocument/2006/relationships" id="264" r:id="R2349ccd39cb443c1"/>
    <p:sldId xmlns:r="http://schemas.openxmlformats.org/officeDocument/2006/relationships" id="265" r:id="R510aa36add2b4479"/>
    <p:sldId xmlns:r="http://schemas.openxmlformats.org/officeDocument/2006/relationships" id="266" r:id="Rab214582ec1243e5"/>
    <p:sldId xmlns:r="http://schemas.openxmlformats.org/officeDocument/2006/relationships" id="267" r:id="R7b1364cd57ae426e"/>
    <p:sldId xmlns:r="http://schemas.openxmlformats.org/officeDocument/2006/relationships" id="268" r:id="R65b67be76ed54b69"/>
    <p:sldId xmlns:r="http://schemas.openxmlformats.org/officeDocument/2006/relationships" id="269" r:id="Rac2e9dfe297f460c"/>
    <p:sldId xmlns:r="http://schemas.openxmlformats.org/officeDocument/2006/relationships" id="270" r:id="R7e031e173f28439b"/>
    <p:sldId xmlns:r="http://schemas.openxmlformats.org/officeDocument/2006/relationships" id="271" r:id="R7579488c1de347a2"/>
    <p:sldId xmlns:r="http://schemas.openxmlformats.org/officeDocument/2006/relationships" id="272" r:id="R89dc78fad41b46bf"/>
    <p:sldId xmlns:r="http://schemas.openxmlformats.org/officeDocument/2006/relationships" id="273" r:id="Rfa514ce8e5764e4c"/>
  </p:sldIdLst>
  <p:sldSz cx="15240000" cy="2000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674bd7ef0a6441a" /><Relationship Type="http://schemas.openxmlformats.org/officeDocument/2006/relationships/slideMaster" Target="/ppt/slideMasters/slideMaster1.xml" Id="Rae40fb4327504ee0" /><Relationship Type="http://schemas.openxmlformats.org/officeDocument/2006/relationships/notesMaster" Target="/ppt/notesMasters/notesMaster1.xml" Id="Ra98cdc35d4ba44ca" /><Relationship Type="http://schemas.openxmlformats.org/officeDocument/2006/relationships/presProps" Target="/ppt/presProps.xml" Id="Rbcb27ce219e84a07" /><Relationship Type="http://schemas.openxmlformats.org/officeDocument/2006/relationships/tableStyles" Target="/ppt/tableStyles.xml" Id="Re4a5a0cad3f54c88" /><Relationship Type="http://schemas.openxmlformats.org/officeDocument/2006/relationships/slide" Target="/ppt/slides/slide1.xml" Id="Ra977fd9732b64d86" /><Relationship Type="http://schemas.openxmlformats.org/officeDocument/2006/relationships/slide" Target="/ppt/slides/slide2.xml" Id="R418deba8523245c3" /><Relationship Type="http://schemas.openxmlformats.org/officeDocument/2006/relationships/slide" Target="/ppt/slides/slide3.xml" Id="Rdb142a6035e04e7f" /><Relationship Type="http://schemas.openxmlformats.org/officeDocument/2006/relationships/slide" Target="/ppt/slides/slide4.xml" Id="R217ec0f922d64b6b" /><Relationship Type="http://schemas.openxmlformats.org/officeDocument/2006/relationships/slide" Target="/ppt/slides/slide5.xml" Id="Rc6cba82dee6046bb" /><Relationship Type="http://schemas.openxmlformats.org/officeDocument/2006/relationships/slide" Target="/ppt/slides/slide6.xml" Id="Rfc77d1af5a6645f3" /><Relationship Type="http://schemas.openxmlformats.org/officeDocument/2006/relationships/slide" Target="/ppt/slides/slide7.xml" Id="R47987fdedbc34c0d" /><Relationship Type="http://schemas.openxmlformats.org/officeDocument/2006/relationships/slide" Target="/ppt/slides/slide8.xml" Id="R572e5bf7dddb4149" /><Relationship Type="http://schemas.openxmlformats.org/officeDocument/2006/relationships/slide" Target="/ppt/slides/slide9.xml" Id="R2349ccd39cb443c1" /><Relationship Type="http://schemas.openxmlformats.org/officeDocument/2006/relationships/slide" Target="/ppt/slides/slide10.xml" Id="R510aa36add2b4479" /><Relationship Type="http://schemas.openxmlformats.org/officeDocument/2006/relationships/slide" Target="/ppt/slides/slide11.xml" Id="Rab214582ec1243e5" /><Relationship Type="http://schemas.openxmlformats.org/officeDocument/2006/relationships/slide" Target="/ppt/slides/slide12.xml" Id="R7b1364cd57ae426e" /><Relationship Type="http://schemas.openxmlformats.org/officeDocument/2006/relationships/slide" Target="/ppt/slides/slide13.xml" Id="R65b67be76ed54b69" /><Relationship Type="http://schemas.openxmlformats.org/officeDocument/2006/relationships/slide" Target="/ppt/slides/slide14.xml" Id="Rac2e9dfe297f460c" /><Relationship Type="http://schemas.openxmlformats.org/officeDocument/2006/relationships/slide" Target="/ppt/slides/slide15.xml" Id="R7e031e173f28439b" /><Relationship Type="http://schemas.openxmlformats.org/officeDocument/2006/relationships/slide" Target="/ppt/slides/slide16.xml" Id="R7579488c1de347a2" /><Relationship Type="http://schemas.openxmlformats.org/officeDocument/2006/relationships/slide" Target="/ppt/slides/slide17.xml" Id="R89dc78fad41b46bf" /><Relationship Type="http://schemas.openxmlformats.org/officeDocument/2006/relationships/slide" Target="/ppt/slides/slide18.xml" Id="Rfa514ce8e5764e4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c131ab49dd94e7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4b0538a7736432d" /><Relationship Type="http://schemas.openxmlformats.org/officeDocument/2006/relationships/notesMaster" Target="/ppt/notesMasters/notesMaster1.xml" Id="R9696827bb2174b39" /></Relationships>
</file>

<file path=ppt/notesSlides/_rels/notesSlide2.xml.rels>&#65279;<?xml version="1.0" encoding="utf-8"?><Relationships xmlns="http://schemas.openxmlformats.org/package/2006/relationships"><Relationship Type="http://schemas.openxmlformats.org/officeDocument/2006/relationships/slide" Target="/ppt/slides/slide2.xml" Id="R891f30d2544e4f80" /><Relationship Type="http://schemas.openxmlformats.org/officeDocument/2006/relationships/notesMaster" Target="/ppt/notesMasters/notesMaster1.xml" Id="Re7b44fc9320d4175" /></Relationships>
</file>

<file path=ppt/notesSlides/_rels/notesSlide3.xml.rels>&#65279;<?xml version="1.0" encoding="utf-8"?><Relationships xmlns="http://schemas.openxmlformats.org/package/2006/relationships"><Relationship Type="http://schemas.openxmlformats.org/officeDocument/2006/relationships/slide" Target="/ppt/slides/slide3.xml" Id="R4722baa244ca46d2" /><Relationship Type="http://schemas.openxmlformats.org/officeDocument/2006/relationships/notesMaster" Target="/ppt/notesMasters/notesMaster1.xml" Id="Ra4c1b6fb8f554ca4" /></Relationships>
</file>

<file path=ppt/notesSlides/_rels/notesSlide4.xml.rels>&#65279;<?xml version="1.0" encoding="utf-8"?><Relationships xmlns="http://schemas.openxmlformats.org/package/2006/relationships"><Relationship Type="http://schemas.openxmlformats.org/officeDocument/2006/relationships/slide" Target="/ppt/slides/slide4.xml" Id="R6ee2de24b9264a5d" /><Relationship Type="http://schemas.openxmlformats.org/officeDocument/2006/relationships/notesMaster" Target="/ppt/notesMasters/notesMaster1.xml" Id="R6f666e2fee784fd6" /></Relationships>
</file>

<file path=ppt/notesSlides/_rels/notesSlide5.xml.rels>&#65279;<?xml version="1.0" encoding="utf-8"?><Relationships xmlns="http://schemas.openxmlformats.org/package/2006/relationships"><Relationship Type="http://schemas.openxmlformats.org/officeDocument/2006/relationships/slide" Target="/ppt/slides/slide5.xml" Id="R851264d919c24765" /><Relationship Type="http://schemas.openxmlformats.org/officeDocument/2006/relationships/notesMaster" Target="/ppt/notesMasters/notesMaster1.xml" Id="R9bd2c0d1fbef4444" /></Relationships>
</file>

<file path=ppt/notesSlides/_rels/notesSlide6.xml.rels>&#65279;<?xml version="1.0" encoding="utf-8"?><Relationships xmlns="http://schemas.openxmlformats.org/package/2006/relationships"><Relationship Type="http://schemas.openxmlformats.org/officeDocument/2006/relationships/slide" Target="/ppt/slides/slide6.xml" Id="R8e26dbfa67884449" /><Relationship Type="http://schemas.openxmlformats.org/officeDocument/2006/relationships/notesMaster" Target="/ppt/notesMasters/notesMaster1.xml" Id="R1fddf48f74e04977" /></Relationships>
</file>

<file path=ppt/notesSlides/_rels/notesSlide7.xml.rels>&#65279;<?xml version="1.0" encoding="utf-8"?><Relationships xmlns="http://schemas.openxmlformats.org/package/2006/relationships"><Relationship Type="http://schemas.openxmlformats.org/officeDocument/2006/relationships/slide" Target="/ppt/slides/slide7.xml" Id="Ra2fb42c27cdc4082" /><Relationship Type="http://schemas.openxmlformats.org/officeDocument/2006/relationships/notesMaster" Target="/ppt/notesMasters/notesMaster1.xml" Id="Re4ab1dad9b154fb6" /></Relationships>
</file>

<file path=ppt/notesSlides/_rels/notesSlide8.xml.rels>&#65279;<?xml version="1.0" encoding="utf-8"?><Relationships xmlns="http://schemas.openxmlformats.org/package/2006/relationships"><Relationship Type="http://schemas.openxmlformats.org/officeDocument/2006/relationships/slide" Target="/ppt/slides/slide8.xml" Id="R3647c5b4b69f426d" /><Relationship Type="http://schemas.openxmlformats.org/officeDocument/2006/relationships/notesMaster" Target="/ppt/notesMasters/notesMaster1.xml" Id="Ree04768fbe774700" /></Relationships>
</file>

<file path=ppt/notesSlides/_rels/notesSlide9.xml.rels>&#65279;<?xml version="1.0" encoding="utf-8"?><Relationships xmlns="http://schemas.openxmlformats.org/package/2006/relationships"><Relationship Type="http://schemas.openxmlformats.org/officeDocument/2006/relationships/slide" Target="/ppt/slides/slide9.xml" Id="R30ae2844492f43d8" /><Relationship Type="http://schemas.openxmlformats.org/officeDocument/2006/relationships/notesMaster" Target="/ppt/notesMasters/notesMaster1.xml" Id="Rbcf8185c13564fd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a5038dbdc6e475b" /><Relationship Type="http://schemas.openxmlformats.org/officeDocument/2006/relationships/notesMaster" Target="/ppt/notesMasters/notesMaster1.xml" Id="R0d4ba3f0f6a04bd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a558c06445b4c64" /><Relationship Type="http://schemas.openxmlformats.org/officeDocument/2006/relationships/notesMaster" Target="/ppt/notesMasters/notesMaster1.xml" Id="Rb035a6d6971c498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db67d4f0fb0b42d4" /><Relationship Type="http://schemas.openxmlformats.org/officeDocument/2006/relationships/notesMaster" Target="/ppt/notesMasters/notesMaster1.xml" Id="Rd5ee93a4615b4a7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92fd862fd7694f73" /><Relationship Type="http://schemas.openxmlformats.org/officeDocument/2006/relationships/notesMaster" Target="/ppt/notesMasters/notesMaster1.xml" Id="R560edd62631242e6"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1b70e429df5546f1" /><Relationship Type="http://schemas.openxmlformats.org/officeDocument/2006/relationships/notesMaster" Target="/ppt/notesMasters/notesMaster1.xml" Id="R697077330a284354"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c4e1fd5390f24559" /><Relationship Type="http://schemas.openxmlformats.org/officeDocument/2006/relationships/notesMaster" Target="/ppt/notesMasters/notesMaster1.xml" Id="Rfe1de852cf6d4985"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5aa44ee1b4b548d2" /><Relationship Type="http://schemas.openxmlformats.org/officeDocument/2006/relationships/notesMaster" Target="/ppt/notesMasters/notesMaster1.xml" Id="Rb10889666bf74032"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0b7416f0f4204483" /><Relationship Type="http://schemas.openxmlformats.org/officeDocument/2006/relationships/notesMaster" Target="/ppt/notesMasters/notesMaster1.xml" Id="R6260fbb69e834605"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49375e667c9d4ac9" /><Relationship Type="http://schemas.openxmlformats.org/officeDocument/2006/relationships/notesMaster" Target="/ppt/notesMasters/notesMaster1.xml" Id="R77e946d904334f6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Current Enzora UI and source contracts, 16 October 2026. Screenshots labelled as the verified run use ten real computational candidates. Demo values are simulated. Sources: https://enzora-agent.com/ ; https://github.com/YuzhangLi2281/Enzora ; https://github.com/YuzhangLi2281/Phenom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Current Enzora UI and source contracts, 16 October 2026. Screenshots labelled as the verified run use ten real computational candidates. Demo values are simulated. Sources: https://enzora-agent.com/ ; https://github.com/YuzhangLi2281/Enzora ; https://github.com/YuzhangLi2281/Phenom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Current Enzora UI and source contracts, 16 October 2026. Screenshots labelled as the verified run use ten real computational candidates. Demo values are simulated. Sources: https://enzora-agent.com/ ; https://github.com/YuzhangLi2281/Enzora ; https://github.com/YuzhangLi2281/Phenom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Current Enzora UI and source contracts, 16 October 2026. Screenshots labelled as the verified run use ten real computational candidates. Demo values are simulated. Sources: https://enzora-agent.com/ ; https://github.com/YuzhangLi2281/Enzora ; https://github.com/YuzhangLi2281/Phenom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Current Enzora UI and source contracts, 16 October 2026. Screenshots labelled as the verified run use ten real computational candidates. Demo values are simulated. Sources: https://enzora-agent.com/ ; https://github.com/YuzhangLi2281/Enzora ; https://github.com/YuzhangLi2281/Phenom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Current Enzora UI and source contracts, 16 October 2026. Screenshots labelled as the verified run use ten real computational candidates. Demo values are simulated. Sources: https://enzora-agent.com/ ; https://github.com/YuzhangLi2281/Enzora ; https://github.com/YuzhangLi2281/Phenom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Current Enzora UI and source contracts, 16 October 2026. Screenshots labelled as the verified run use ten real computational candidates. Demo values are simulated. Sources: https://enzora-agent.com/ ; https://github.com/YuzhangLi2281/Enzora ; https://github.com/YuzhangLi2281/Phenom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Current Enzora UI and source contracts, 16 October 2026. Screenshots labelled as the verified run use ten real computational candidates. Demo values are simulated. Sources: https://enzora-agent.com/ ; https://github.com/YuzhangLi2281/Enzora ; https://github.com/YuzhangLi2281/Phenom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Current Enzora UI and source contracts, 16 October 2026. Screenshots labelled as the verified run use ten real computational candidates. Demo values are simulated. Sources: https://enzora-agent.com/ ; https://github.com/YuzhangLi2281/Enzora ; https://github.com/YuzhangLi2281/Phenom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Current Enzora UI and source contracts, 16 October 2026. Screenshots labelled as the verified run use ten real computational candidates. Demo values are simulated. Sources: https://enzora-agent.com/ ; https://github.com/YuzhangLi2281/Enzora ; https://github.com/YuzhangLi2281/Phenom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Current Enzora UI and source contracts, 16 October 2026. Screenshots labelled as the verified run use ten real computational candidates. Demo values are simulated. Sources: https://enzora-agent.com/ ; https://github.com/YuzhangLi2281/Enzora ; https://github.com/YuzhangLi2281/Phenom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Current Enzora UI and source contracts, 16 October 2026. Screenshots labelled as the verified run use ten real computational candidates. Demo values are simulated. Sources: https://enzora-agent.com/ ; https://github.com/YuzhangLi2281/Enzora ; https://github.com/YuzhangLi2281/Phenom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Current Enzora UI and source contracts, 16 October 2026. Screenshots labelled as the verified run use ten real computational candidates. Demo values are simulated. Sources: https://enzora-agent.com/ ; https://github.com/YuzhangLi2281/Enzora ; https://github.com/YuzhangLi2281/Phenom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Current Enzora UI and source contracts, 16 October 2026. Screenshots labelled as the verified run use ten real computational candidates. Demo values are simulated. Sources: https://enzora-agent.com/ ; https://github.com/YuzhangLi2281/Enzora ; https://github.com/YuzhangLi2281/Phenom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Current Enzora UI and source contracts, 16 October 2026. Screenshots labelled as the verified run use ten real computational candidates. Demo values are simulated. Sources: https://enzora-agent.com/ ; https://github.com/YuzhangLi2281/Enzora ; https://github.com/YuzhangLi2281/Phenom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Current Enzora UI and source contracts, 16 October 2026. Screenshots labelled as the verified run use ten real computational candidates. Demo values are simulated. Sources: https://enzora-agent.com/ ; https://github.com/YuzhangLi2281/Enzora ; https://github.com/YuzhangLi2281/Phenom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Current Enzora UI and source contracts, 16 October 2026. Screenshots labelled as the verified run use ten real computational candidates. Demo values are simulated. Sources: https://enzora-agent.com/ ; https://github.com/YuzhangLi2281/Enzora ; https://github.com/YuzhangLi2281/Phenom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Current Enzora UI and source contracts, 16 October 2026. Screenshots labelled as the verified run use ten real computational candidates. Demo values are simulated. Sources: https://enzora-agent.com/ ; https://github.com/YuzhangLi2281/Enzora ; https://github.com/YuzhangLi2281/Phenom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adcd5208b594739"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436627d08f04c6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83a5b1b097b143aa"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774bfe89d6f34d7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6b8545931d544116"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be3cbdadbeba489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631894A-8014-4F10-98A6-72045BB780AE}"/>
              </a:ext>
            </a:extLst>
          </p:cNvPr>
          <p:cNvSpPr>
            <a:spLocks xmlns:a="http://schemas.openxmlformats.org/drawingml/2006/main" noGrp="1"/>
          </p:cNvSpPr>
          <p:nvPr>
            <p:ph type="title" idx="0"/>
          </p:nvPr>
        </p:nvSpPr>
        <p:spPr>
          <a:xfrm xmlns:a="http://schemas.openxmlformats.org/drawingml/2006/main">
            <a:off x="1524000" y="7556500"/>
            <a:ext cx="12192000" cy="28892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60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40F9FEA2-9F1F-4CDF-9658-E4E4C6B9DF25}"/>
              </a:ext>
            </a:extLst>
          </p:cNvPr>
          <p:cNvSpPr>
            <a:spLocks xmlns:a="http://schemas.openxmlformats.org/drawingml/2006/main" noGrp="1"/>
          </p:cNvSpPr>
          <p:nvPr>
            <p:ph type="subTitle" idx="1"/>
          </p:nvPr>
        </p:nvSpPr>
        <p:spPr>
          <a:xfrm xmlns:a="http://schemas.openxmlformats.org/drawingml/2006/main">
            <a:off x="2286000" y="11001375"/>
            <a:ext cx="10668000" cy="22225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625"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AF60C271-69E0-4520-B457-688F4A61E749}"/>
              </a:ext>
            </a:extLst>
          </p:cNvPr>
          <p:cNvSpPr>
            <a:spLocks xmlns:a="http://schemas.openxmlformats.org/drawingml/2006/main" noGrp="1"/>
          </p:cNvSpPr>
          <p:nvPr>
            <p:ph type="title" idx="0"/>
          </p:nvPr>
        </p:nvSpPr>
        <p:spPr>
          <a:xfrm xmlns:a="http://schemas.openxmlformats.org/drawingml/2006/main">
            <a:off x="1524000" y="8334375"/>
            <a:ext cx="12192000" cy="3333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525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419FFF9-F8D7-4440-AA19-DE32DD024B9F}"/>
              </a:ext>
            </a:extLst>
          </p:cNvPr>
          <p:cNvSpPr>
            <a:spLocks xmlns:a="http://schemas.openxmlformats.org/drawingml/2006/main" noGrp="1"/>
          </p:cNvSpPr>
          <p:nvPr>
            <p:ph type="title" idx="0"/>
          </p:nvPr>
        </p:nvSpPr>
        <p:spPr>
          <a:xfrm xmlns:a="http://schemas.openxmlformats.org/drawingml/2006/main">
            <a:off x="857250" y="1555750"/>
            <a:ext cx="13525500" cy="2444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901BDFEA-2A4F-4240-ADDA-4E6EAD78B125}"/>
              </a:ext>
            </a:extLst>
          </p:cNvPr>
          <p:cNvSpPr>
            <a:spLocks xmlns:a="http://schemas.openxmlformats.org/drawingml/2006/main" noGrp="1"/>
          </p:cNvSpPr>
          <p:nvPr>
            <p:ph type="body" idx="1"/>
          </p:nvPr>
        </p:nvSpPr>
        <p:spPr>
          <a:xfrm xmlns:a="http://schemas.openxmlformats.org/drawingml/2006/main">
            <a:off x="857250" y="5556250"/>
            <a:ext cx="13525500" cy="12446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mn-lt"/>
                <a:ea typeface="+mn-lt"/>
                <a:cs typeface="+mn-lt"/>
              </a:defRPr>
            </a:defPPr>
            <a:lvl1pPr marL="285750" indent="-285750">
              <a:lnSpc>
                <a:spcPct val="110000"/>
              </a:lnSpc>
              <a:spcBef>
                <a:spcPts val="0"/>
              </a:spcBef>
              <a:spcAft>
                <a:spcPts val="1500"/>
              </a:spcAft>
              <a:buChar char="•"/>
            </a:lvl1pPr>
            <a:lvl2pPr marL="666750" indent="-285750">
              <a:lnSpc>
                <a:spcPct val="110000"/>
              </a:lnSpc>
              <a:spcBef>
                <a:spcPts val="0"/>
              </a:spcBef>
              <a:spcAft>
                <a:spcPts val="1500"/>
              </a:spcAft>
              <a:buChar char="•"/>
            </a:lvl2pPr>
            <a:lvl3pPr marL="1047750" indent="-285750">
              <a:lnSpc>
                <a:spcPct val="110000"/>
              </a:lnSpc>
              <a:spcBef>
                <a:spcPts val="0"/>
              </a:spcBef>
              <a:spcAft>
                <a:spcPts val="1500"/>
              </a:spcAft>
              <a:buChar char="•"/>
            </a:lvl3pPr>
            <a:lvl4pPr marL="1428750" indent="-285750">
              <a:lnSpc>
                <a:spcPct val="110000"/>
              </a:lnSpc>
              <a:spcBef>
                <a:spcPts val="0"/>
              </a:spcBef>
              <a:spcAft>
                <a:spcPts val="1500"/>
              </a:spcAft>
              <a:buChar char="•"/>
            </a:lvl4pPr>
            <a:lvl5pPr marL="1809750" indent="-285750">
              <a:lnSpc>
                <a:spcPct val="110000"/>
              </a:lnSpc>
              <a:spcBef>
                <a:spcPts val="0"/>
              </a:spcBef>
              <a:spcAft>
                <a:spcPts val="1500"/>
              </a:spcAft>
              <a:buChar char="•"/>
            </a:lvl5pPr>
            <a:lvl6pPr marL="2190750" indent="-285750">
              <a:lnSpc>
                <a:spcPct val="110000"/>
              </a:lnSpc>
              <a:spcBef>
                <a:spcPts val="0"/>
              </a:spcBef>
              <a:spcAft>
                <a:spcPts val="1500"/>
              </a:spcAft>
              <a:buChar char="•"/>
            </a:lvl6pPr>
            <a:lvl7pPr marL="2571750" indent="-285750">
              <a:lnSpc>
                <a:spcPct val="110000"/>
              </a:lnSpc>
              <a:spcBef>
                <a:spcPts val="0"/>
              </a:spcBef>
              <a:spcAft>
                <a:spcPts val="1500"/>
              </a:spcAft>
              <a:buChar char="•"/>
            </a:lvl7pPr>
            <a:lvl8pPr marL="2952750" indent="-285750">
              <a:lnSpc>
                <a:spcPct val="110000"/>
              </a:lnSpc>
              <a:spcBef>
                <a:spcPts val="0"/>
              </a:spcBef>
              <a:spcAft>
                <a:spcPts val="1500"/>
              </a:spcAft>
              <a:buChar char="•"/>
            </a:lvl8pPr>
            <a:lvl9pPr marL="3333750" indent="-285750">
              <a:lnSpc>
                <a:spcPct val="110000"/>
              </a:lnSpc>
              <a:spcBef>
                <a:spcPts val="0"/>
              </a:spcBef>
              <a:spcAft>
                <a:spcPts val="15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33CF2F2F-BB77-401E-BBF3-2A4B2D1B8C3C}"/>
              </a:ext>
            </a:extLst>
          </p:cNvPr>
          <p:cNvSpPr>
            <a:spLocks xmlns:a="http://schemas.openxmlformats.org/drawingml/2006/main" noGrp="1"/>
          </p:cNvSpPr>
          <p:nvPr>
            <p:ph type="title" idx="0"/>
          </p:nvPr>
        </p:nvSpPr>
        <p:spPr>
          <a:xfrm xmlns:a="http://schemas.openxmlformats.org/drawingml/2006/main">
            <a:off x="857250" y="1555750"/>
            <a:ext cx="13525500" cy="2444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E5DE119-F375-48B3-8970-26CB79167A36}"/>
              </a:ext>
            </a:extLst>
          </p:cNvPr>
          <p:cNvSpPr>
            <a:spLocks xmlns:a="http://schemas.openxmlformats.org/drawingml/2006/main" noGrp="1"/>
          </p:cNvSpPr>
          <p:nvPr>
            <p:ph type="body" idx="1"/>
          </p:nvPr>
        </p:nvSpPr>
        <p:spPr>
          <a:xfrm xmlns:a="http://schemas.openxmlformats.org/drawingml/2006/main">
            <a:off x="857250" y="5556250"/>
            <a:ext cx="6286500" cy="12446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mn-lt"/>
                <a:ea typeface="+mn-lt"/>
                <a:cs typeface="+mn-lt"/>
              </a:defRPr>
            </a:defPPr>
            <a:lvl1pPr marL="285750" indent="-285750">
              <a:lnSpc>
                <a:spcPct val="110000"/>
              </a:lnSpc>
              <a:spcBef>
                <a:spcPts val="0"/>
              </a:spcBef>
              <a:spcAft>
                <a:spcPts val="1500"/>
              </a:spcAft>
              <a:buChar char="•"/>
            </a:lvl1pPr>
            <a:lvl2pPr marL="666750" indent="-285750">
              <a:lnSpc>
                <a:spcPct val="110000"/>
              </a:lnSpc>
              <a:spcBef>
                <a:spcPts val="0"/>
              </a:spcBef>
              <a:spcAft>
                <a:spcPts val="1500"/>
              </a:spcAft>
              <a:buChar char="•"/>
            </a:lvl2pPr>
            <a:lvl3pPr marL="1047750" indent="-285750">
              <a:lnSpc>
                <a:spcPct val="110000"/>
              </a:lnSpc>
              <a:spcBef>
                <a:spcPts val="0"/>
              </a:spcBef>
              <a:spcAft>
                <a:spcPts val="1500"/>
              </a:spcAft>
              <a:buChar char="•"/>
            </a:lvl3pPr>
            <a:lvl4pPr marL="1428750" indent="-285750">
              <a:lnSpc>
                <a:spcPct val="110000"/>
              </a:lnSpc>
              <a:spcBef>
                <a:spcPts val="0"/>
              </a:spcBef>
              <a:spcAft>
                <a:spcPts val="1500"/>
              </a:spcAft>
              <a:buChar char="•"/>
            </a:lvl4pPr>
            <a:lvl5pPr marL="1809750" indent="-285750">
              <a:lnSpc>
                <a:spcPct val="110000"/>
              </a:lnSpc>
              <a:spcBef>
                <a:spcPts val="0"/>
              </a:spcBef>
              <a:spcAft>
                <a:spcPts val="1500"/>
              </a:spcAft>
              <a:buChar char="•"/>
            </a:lvl5pPr>
            <a:lvl6pPr marL="2190750" indent="-285750">
              <a:lnSpc>
                <a:spcPct val="110000"/>
              </a:lnSpc>
              <a:spcBef>
                <a:spcPts val="0"/>
              </a:spcBef>
              <a:spcAft>
                <a:spcPts val="1500"/>
              </a:spcAft>
              <a:buChar char="•"/>
            </a:lvl6pPr>
            <a:lvl7pPr marL="2571750" indent="-285750">
              <a:lnSpc>
                <a:spcPct val="110000"/>
              </a:lnSpc>
              <a:spcBef>
                <a:spcPts val="0"/>
              </a:spcBef>
              <a:spcAft>
                <a:spcPts val="1500"/>
              </a:spcAft>
              <a:buChar char="•"/>
            </a:lvl7pPr>
            <a:lvl8pPr marL="2952750" indent="-285750">
              <a:lnSpc>
                <a:spcPct val="110000"/>
              </a:lnSpc>
              <a:spcBef>
                <a:spcPts val="0"/>
              </a:spcBef>
              <a:spcAft>
                <a:spcPts val="1500"/>
              </a:spcAft>
              <a:buChar char="•"/>
            </a:lvl8pPr>
            <a:lvl9pPr marL="3333750" indent="-285750">
              <a:lnSpc>
                <a:spcPct val="110000"/>
              </a:lnSpc>
              <a:spcBef>
                <a:spcPts val="0"/>
              </a:spcBef>
              <a:spcAft>
                <a:spcPts val="15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9B55CA9A-A7F5-4A22-A573-F413F04EE49E}"/>
              </a:ext>
            </a:extLst>
          </p:cNvPr>
          <p:cNvSpPr>
            <a:spLocks xmlns:a="http://schemas.openxmlformats.org/drawingml/2006/main" noGrp="1"/>
          </p:cNvSpPr>
          <p:nvPr>
            <p:ph type="body" idx="2"/>
          </p:nvPr>
        </p:nvSpPr>
        <p:spPr>
          <a:xfrm xmlns:a="http://schemas.openxmlformats.org/drawingml/2006/main">
            <a:off x="8096250" y="5556250"/>
            <a:ext cx="6286500" cy="12446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mn-lt"/>
                <a:ea typeface="+mn-lt"/>
                <a:cs typeface="+mn-lt"/>
              </a:defRPr>
            </a:defPPr>
            <a:lvl1pPr marL="285750" indent="-285750">
              <a:lnSpc>
                <a:spcPct val="110000"/>
              </a:lnSpc>
              <a:spcBef>
                <a:spcPts val="0"/>
              </a:spcBef>
              <a:spcAft>
                <a:spcPts val="1500"/>
              </a:spcAft>
              <a:buChar char="•"/>
            </a:lvl1pPr>
            <a:lvl2pPr marL="666750" indent="-285750">
              <a:lnSpc>
                <a:spcPct val="110000"/>
              </a:lnSpc>
              <a:spcBef>
                <a:spcPts val="0"/>
              </a:spcBef>
              <a:spcAft>
                <a:spcPts val="1500"/>
              </a:spcAft>
              <a:buChar char="•"/>
            </a:lvl2pPr>
            <a:lvl3pPr marL="1047750" indent="-285750">
              <a:lnSpc>
                <a:spcPct val="110000"/>
              </a:lnSpc>
              <a:spcBef>
                <a:spcPts val="0"/>
              </a:spcBef>
              <a:spcAft>
                <a:spcPts val="1500"/>
              </a:spcAft>
              <a:buChar char="•"/>
            </a:lvl3pPr>
            <a:lvl4pPr marL="1428750" indent="-285750">
              <a:lnSpc>
                <a:spcPct val="110000"/>
              </a:lnSpc>
              <a:spcBef>
                <a:spcPts val="0"/>
              </a:spcBef>
              <a:spcAft>
                <a:spcPts val="1500"/>
              </a:spcAft>
              <a:buChar char="•"/>
            </a:lvl4pPr>
            <a:lvl5pPr marL="1809750" indent="-285750">
              <a:lnSpc>
                <a:spcPct val="110000"/>
              </a:lnSpc>
              <a:spcBef>
                <a:spcPts val="0"/>
              </a:spcBef>
              <a:spcAft>
                <a:spcPts val="1500"/>
              </a:spcAft>
              <a:buChar char="•"/>
            </a:lvl5pPr>
            <a:lvl6pPr marL="2190750" indent="-285750">
              <a:lnSpc>
                <a:spcPct val="110000"/>
              </a:lnSpc>
              <a:spcBef>
                <a:spcPts val="0"/>
              </a:spcBef>
              <a:spcAft>
                <a:spcPts val="1500"/>
              </a:spcAft>
              <a:buChar char="•"/>
            </a:lvl6pPr>
            <a:lvl7pPr marL="2571750" indent="-285750">
              <a:lnSpc>
                <a:spcPct val="110000"/>
              </a:lnSpc>
              <a:spcBef>
                <a:spcPts val="0"/>
              </a:spcBef>
              <a:spcAft>
                <a:spcPts val="1500"/>
              </a:spcAft>
              <a:buChar char="•"/>
            </a:lvl7pPr>
            <a:lvl8pPr marL="2952750" indent="-285750">
              <a:lnSpc>
                <a:spcPct val="110000"/>
              </a:lnSpc>
              <a:spcBef>
                <a:spcPts val="0"/>
              </a:spcBef>
              <a:spcAft>
                <a:spcPts val="1500"/>
              </a:spcAft>
              <a:buChar char="•"/>
            </a:lvl8pPr>
            <a:lvl9pPr marL="3333750" indent="-285750">
              <a:lnSpc>
                <a:spcPct val="110000"/>
              </a:lnSpc>
              <a:spcBef>
                <a:spcPts val="0"/>
              </a:spcBef>
              <a:spcAft>
                <a:spcPts val="15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C8CAA51-F625-4B1F-8650-8270D2368CCB}"/>
              </a:ext>
            </a:extLst>
          </p:cNvPr>
          <p:cNvSpPr>
            <a:spLocks xmlns:a="http://schemas.openxmlformats.org/drawingml/2006/main" noGrp="1"/>
          </p:cNvSpPr>
          <p:nvPr>
            <p:ph type="title" idx="0"/>
          </p:nvPr>
        </p:nvSpPr>
        <p:spPr>
          <a:xfrm xmlns:a="http://schemas.openxmlformats.org/drawingml/2006/main">
            <a:off x="857250" y="1555750"/>
            <a:ext cx="13525500" cy="2444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47D412D-111F-48B3-A01E-FD938EFA4200}"/>
              </a:ext>
            </a:extLst>
          </p:cNvPr>
          <p:cNvSpPr>
            <a:spLocks xmlns:a="http://schemas.openxmlformats.org/drawingml/2006/main" noGrp="1"/>
          </p:cNvSpPr>
          <p:nvPr>
            <p:ph type="body" idx="1"/>
          </p:nvPr>
        </p:nvSpPr>
        <p:spPr>
          <a:xfrm xmlns:a="http://schemas.openxmlformats.org/drawingml/2006/main">
            <a:off x="857250" y="5556250"/>
            <a:ext cx="6286500" cy="12446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mn-lt"/>
                <a:ea typeface="+mn-lt"/>
                <a:cs typeface="+mn-lt"/>
              </a:defRPr>
            </a:defPPr>
            <a:lvl1pPr marL="285750" indent="-285750">
              <a:lnSpc>
                <a:spcPct val="110000"/>
              </a:lnSpc>
              <a:spcBef>
                <a:spcPts val="0"/>
              </a:spcBef>
              <a:spcAft>
                <a:spcPts val="1500"/>
              </a:spcAft>
              <a:buChar char="•"/>
            </a:lvl1pPr>
            <a:lvl2pPr marL="666750" indent="-285750">
              <a:lnSpc>
                <a:spcPct val="110000"/>
              </a:lnSpc>
              <a:spcBef>
                <a:spcPts val="0"/>
              </a:spcBef>
              <a:spcAft>
                <a:spcPts val="1500"/>
              </a:spcAft>
              <a:buChar char="•"/>
            </a:lvl2pPr>
            <a:lvl3pPr marL="1047750" indent="-285750">
              <a:lnSpc>
                <a:spcPct val="110000"/>
              </a:lnSpc>
              <a:spcBef>
                <a:spcPts val="0"/>
              </a:spcBef>
              <a:spcAft>
                <a:spcPts val="1500"/>
              </a:spcAft>
              <a:buChar char="•"/>
            </a:lvl3pPr>
            <a:lvl4pPr marL="1428750" indent="-285750">
              <a:lnSpc>
                <a:spcPct val="110000"/>
              </a:lnSpc>
              <a:spcBef>
                <a:spcPts val="0"/>
              </a:spcBef>
              <a:spcAft>
                <a:spcPts val="1500"/>
              </a:spcAft>
              <a:buChar char="•"/>
            </a:lvl4pPr>
            <a:lvl5pPr marL="1809750" indent="-285750">
              <a:lnSpc>
                <a:spcPct val="110000"/>
              </a:lnSpc>
              <a:spcBef>
                <a:spcPts val="0"/>
              </a:spcBef>
              <a:spcAft>
                <a:spcPts val="1500"/>
              </a:spcAft>
              <a:buChar char="•"/>
            </a:lvl5pPr>
            <a:lvl6pPr marL="2190750" indent="-285750">
              <a:lnSpc>
                <a:spcPct val="110000"/>
              </a:lnSpc>
              <a:spcBef>
                <a:spcPts val="0"/>
              </a:spcBef>
              <a:spcAft>
                <a:spcPts val="1500"/>
              </a:spcAft>
              <a:buChar char="•"/>
            </a:lvl6pPr>
            <a:lvl7pPr marL="2571750" indent="-285750">
              <a:lnSpc>
                <a:spcPct val="110000"/>
              </a:lnSpc>
              <a:spcBef>
                <a:spcPts val="0"/>
              </a:spcBef>
              <a:spcAft>
                <a:spcPts val="1500"/>
              </a:spcAft>
              <a:buChar char="•"/>
            </a:lvl7pPr>
            <a:lvl8pPr marL="2952750" indent="-285750">
              <a:lnSpc>
                <a:spcPct val="110000"/>
              </a:lnSpc>
              <a:spcBef>
                <a:spcPts val="0"/>
              </a:spcBef>
              <a:spcAft>
                <a:spcPts val="1500"/>
              </a:spcAft>
              <a:buChar char="•"/>
            </a:lvl8pPr>
            <a:lvl9pPr marL="3333750" indent="-285750">
              <a:lnSpc>
                <a:spcPct val="110000"/>
              </a:lnSpc>
              <a:spcBef>
                <a:spcPts val="0"/>
              </a:spcBef>
              <a:spcAft>
                <a:spcPts val="15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ab05b0938da4e57" /><Relationship Type="http://schemas.openxmlformats.org/officeDocument/2006/relationships/slideLayout" Target="/ppt/slideLayouts/slideLayout1.xml" Id="R699cb517b6134163" /><Relationship Type="http://schemas.openxmlformats.org/officeDocument/2006/relationships/slideLayout" Target="/ppt/slideLayouts/slideLayout2.xml" Id="R80cbf824a17e4284" /><Relationship Type="http://schemas.openxmlformats.org/officeDocument/2006/relationships/slideLayout" Target="/ppt/slideLayouts/slideLayout3.xml" Id="R0ca2af56aa94408f" /><Relationship Type="http://schemas.openxmlformats.org/officeDocument/2006/relationships/slideLayout" Target="/ppt/slideLayouts/slideLayout4.xml" Id="R8225015ae14e4748" /><Relationship Type="http://schemas.openxmlformats.org/officeDocument/2006/relationships/slideLayout" Target="/ppt/slideLayouts/slideLayout5.xml" Id="R7826c4ee60854684" /><Relationship Type="http://schemas.openxmlformats.org/officeDocument/2006/relationships/slideLayout" Target="/ppt/slideLayouts/slideLayout6.xml" Id="R85d505513a954f7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99cb517b6134163"/>
    <p:sldLayoutId xmlns:r="http://schemas.openxmlformats.org/officeDocument/2006/relationships" id="2147483650" r:id="R80cbf824a17e4284"/>
    <p:sldLayoutId xmlns:r="http://schemas.openxmlformats.org/officeDocument/2006/relationships" id="2147483651" r:id="R0ca2af56aa94408f"/>
    <p:sldLayoutId xmlns:r="http://schemas.openxmlformats.org/officeDocument/2006/relationships" id="2147483652" r:id="R8225015ae14e4748"/>
    <p:sldLayoutId xmlns:r="http://schemas.openxmlformats.org/officeDocument/2006/relationships" id="2147483653" r:id="R7826c4ee60854684"/>
    <p:sldLayoutId xmlns:r="http://schemas.openxmlformats.org/officeDocument/2006/relationships" id="2147483654" r:id="R85d505513a954f7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b9df20d522a34c1f" /><Relationship Type="http://schemas.openxmlformats.org/officeDocument/2006/relationships/image" Target="/ppt/media/image.png" Id="R93d04532ef5f4442" /><Relationship Type="http://schemas.openxmlformats.org/officeDocument/2006/relationships/image" Target="/ppt/media/image.svg" Id="Re8f6506187904ebd" /><Relationship Type="http://schemas.openxmlformats.org/officeDocument/2006/relationships/hyperlink" Target="https://enzora-agent.com" TargetMode="External" Id="Rac50cca7297045da" /><Relationship Type="http://schemas.openxmlformats.org/officeDocument/2006/relationships/notesSlide" Target="/ppt/notesSlides/notesSlide1.xml" Id="R0e2d9be32ad04695"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ba13eb6e079f438d" /><Relationship Type="http://schemas.openxmlformats.org/officeDocument/2006/relationships/image" Target="/ppt/media/image2.png" Id="R00692200aa8447e4" /><Relationship Type="http://schemas.openxmlformats.org/officeDocument/2006/relationships/notesSlide" Target="/ppt/notesSlides/notesSlide2.xml" Id="R6f89476c7a424cc0"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c1abc370b4404137" /><Relationship Type="http://schemas.openxmlformats.org/officeDocument/2006/relationships/image" Target="/ppt/media/image3.png" Id="Rf01ce9a951604dba" /><Relationship Type="http://schemas.openxmlformats.org/officeDocument/2006/relationships/notesSlide" Target="/ppt/notesSlides/notesSlide3.xml" Id="R6c3ffef0696b4f6a"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70e2eb5de7e64c7b" /><Relationship Type="http://schemas.openxmlformats.org/officeDocument/2006/relationships/notesSlide" Target="/ppt/notesSlides/notesSlide4.xml" Id="R971859b84a5746b7"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8240694244a64be2" /><Relationship Type="http://schemas.openxmlformats.org/officeDocument/2006/relationships/image" Target="/ppt/media/image4.png" Id="Re77bc906ecfc45fc" /><Relationship Type="http://schemas.openxmlformats.org/officeDocument/2006/relationships/notesSlide" Target="/ppt/notesSlides/notesSlide5.xml" Id="R692db0fee714496b"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9c0f762b34224485" /><Relationship Type="http://schemas.openxmlformats.org/officeDocument/2006/relationships/image" Target="/ppt/media/image5.png" Id="R6e6dca0d2fa74b7a" /><Relationship Type="http://schemas.openxmlformats.org/officeDocument/2006/relationships/notesSlide" Target="/ppt/notesSlides/notesSlide6.xml" Id="Rcf95c53c3558435e"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4a06685a61f04905" /><Relationship Type="http://schemas.openxmlformats.org/officeDocument/2006/relationships/image" Target="/ppt/media/image6.png" Id="R715895ce83cf4491" /><Relationship Type="http://schemas.openxmlformats.org/officeDocument/2006/relationships/notesSlide" Target="/ppt/notesSlides/notesSlide7.xml" Id="R3f41f33d90224fa4"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e17eb267b6d849af" /><Relationship Type="http://schemas.openxmlformats.org/officeDocument/2006/relationships/image" Target="/ppt/media/image7.png" Id="R152e254b1e034b95" /><Relationship Type="http://schemas.openxmlformats.org/officeDocument/2006/relationships/notesSlide" Target="/ppt/notesSlides/notesSlide8.xml" Id="R198e678bd1b646ac"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60bf3182de674036" /><Relationship Type="http://schemas.openxmlformats.org/officeDocument/2006/relationships/image" Target="/ppt/media/image8.png" Id="Ra8f4040ddfa64faa" /><Relationship Type="http://schemas.openxmlformats.org/officeDocument/2006/relationships/notesSlide" Target="/ppt/notesSlides/notesSlide9.xml" Id="Red4169138712410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872e9915f7b24473" /><Relationship Type="http://schemas.openxmlformats.org/officeDocument/2006/relationships/image" Target="/ppt/media/image9.png" Id="R04eae4421c83480d" /><Relationship Type="http://schemas.openxmlformats.org/officeDocument/2006/relationships/notesSlide" Target="/ppt/notesSlides/notesSlide10.xml" Id="Rc5e8228e9341405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877c20647fa94228" /><Relationship Type="http://schemas.openxmlformats.org/officeDocument/2006/relationships/image" Target="/ppt/media/image10.png" Id="Ree70096a6ec646b2" /><Relationship Type="http://schemas.openxmlformats.org/officeDocument/2006/relationships/notesSlide" Target="/ppt/notesSlides/notesSlide11.xml" Id="R5ee7f5cfd9ae430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63d5aa742a8d4c1b" /><Relationship Type="http://schemas.openxmlformats.org/officeDocument/2006/relationships/image" Target="/ppt/media/image11.png" Id="R5daef70d10d44d7a" /><Relationship Type="http://schemas.openxmlformats.org/officeDocument/2006/relationships/notesSlide" Target="/ppt/notesSlides/notesSlide12.xml" Id="Rb5cfdf69e3674192"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272d3ec97f7647a9" /><Relationship Type="http://schemas.openxmlformats.org/officeDocument/2006/relationships/notesSlide" Target="/ppt/notesSlides/notesSlide13.xml" Id="Rf7fa913299f54e2b"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f14f58afc4034d53" /><Relationship Type="http://schemas.openxmlformats.org/officeDocument/2006/relationships/image" Target="/ppt/media/image12.png" Id="R46e8cd3468a3420d" /><Relationship Type="http://schemas.openxmlformats.org/officeDocument/2006/relationships/notesSlide" Target="/ppt/notesSlides/notesSlide14.xml" Id="R9305728bc902463e"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3cff064130e34434" /><Relationship Type="http://schemas.openxmlformats.org/officeDocument/2006/relationships/notesSlide" Target="/ppt/notesSlides/notesSlide15.xml" Id="R131f5a315a4946a6"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dc43370e7b1640bc" /><Relationship Type="http://schemas.openxmlformats.org/officeDocument/2006/relationships/notesSlide" Target="/ppt/notesSlides/notesSlide16.xml" Id="Rf75ea49199534ede"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92a200d6d7024137" /><Relationship Type="http://schemas.openxmlformats.org/officeDocument/2006/relationships/notesSlide" Target="/ppt/notesSlides/notesSlide17.xml" Id="Rce83c9c9f0444560"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e7f937e6359e42eb" /><Relationship Type="http://schemas.openxmlformats.org/officeDocument/2006/relationships/notesSlide" Target="/ppt/notesSlides/notesSlide18.xml" Id="Rba60ce2832db4dc1"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E7E45A14-A496-46FA-A487-10293BC31219}"/>
              </a:ext>
            </a:extLst>
          </p:cNvPr>
          <p:cNvSpPr>
            <a:spLocks xmlns:a="http://schemas.openxmlformats.org/drawingml/2006/main" noGrp="1"/>
          </p:cNvSpPr>
          <p:nvPr/>
        </p:nvSpPr>
        <p:spPr>
          <a:xfrm xmlns:a="http://schemas.openxmlformats.org/drawingml/2006/main">
            <a:off x="762000" y="361950"/>
            <a:ext cx="13239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725" b="1">
                <a:solidFill>
                  <a:srgbClr val="4B606D"/>
                </a:solidFill>
                <a:latin typeface="Arial"/>
                <a:ea typeface="Arial"/>
                <a:cs typeface="Arial"/>
              </a:defRPr>
            </a:defPPr>
          </a:lstStyle>
          <a:p xmlns:a="http://schemas.openxmlformats.org/drawingml/2006/main">
            <a:pPr>
              <a:defRPr sz="1725" b="1">
                <a:solidFill>
                  <a:srgbClr val="4B606D"/>
                </a:solidFill>
                <a:latin typeface="Arial"/>
                <a:ea typeface="Arial"/>
                <a:cs typeface="Arial"/>
              </a:defRPr>
            </a:pPr>
            <a:r>
              <a:rPr sz="1725" b="1">
                <a:solidFill>
                  <a:srgbClr val="4B606D"/>
                </a:solidFill>
                <a:latin typeface="Arial"/>
                <a:ea typeface="Arial"/>
                <a:cs typeface="Arial"/>
              </a:rPr>
              <a:t>ENZORA  /  USER GUIDE</a:t>
            </a:r>
          </a:p>
        </p:txBody>
      </p:sp>
      <p:sp>
        <p:nvSpPr>
          <p:cNvPr id="2" name="">
            <a:extLst xmlns:a="http://schemas.openxmlformats.org/drawingml/2006/main">
              <a:ext uri="{FF2B5EF4-FFF2-40B4-BE49-F238E27FC236}">
                <a16:creationId xmlns:a16="http://schemas.microsoft.com/office/drawing/2014/main" id="{DF2B120E-606A-4536-8076-55CB0C31F2A9}"/>
              </a:ext>
            </a:extLst>
          </p:cNvPr>
          <p:cNvSpPr>
            <a:spLocks xmlns:a="http://schemas.openxmlformats.org/drawingml/2006/main" noGrp="1"/>
          </p:cNvSpPr>
          <p:nvPr/>
        </p:nvSpPr>
        <p:spPr>
          <a:xfrm xmlns:a="http://schemas.openxmlformats.org/drawingml/2006/main">
            <a:off x="762000" y="952500"/>
            <a:ext cx="13716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4875" b="1">
                <a:solidFill>
                  <a:srgbClr val="20333D"/>
                </a:solidFill>
                <a:latin typeface="Arial"/>
                <a:ea typeface="Arial"/>
                <a:cs typeface="Arial"/>
              </a:defRPr>
            </a:defPPr>
          </a:lstStyle>
          <a:p xmlns:a="http://schemas.openxmlformats.org/drawingml/2006/main">
            <a:pPr>
              <a:defRPr sz="4875" b="1">
                <a:solidFill>
                  <a:srgbClr val="20333D"/>
                </a:solidFill>
                <a:latin typeface="Arial"/>
                <a:ea typeface="Arial"/>
                <a:cs typeface="Arial"/>
              </a:defRPr>
            </a:pPr>
            <a:r>
              <a:rPr sz="4875" b="1">
                <a:solidFill>
                  <a:srgbClr val="20333D"/>
                </a:solidFill>
                <a:latin typeface="Arial"/>
                <a:ea typeface="Arial"/>
                <a:cs typeface="Arial"/>
              </a:rPr>
              <a:t>Enzora</a:t>
            </a:r>
          </a:p>
          <a:p xmlns:a="http://schemas.openxmlformats.org/drawingml/2006/main">
            <a:pPr>
              <a:defRPr sz="4875" b="1">
                <a:solidFill>
                  <a:srgbClr val="20333D"/>
                </a:solidFill>
                <a:latin typeface="Arial"/>
                <a:ea typeface="Arial"/>
                <a:cs typeface="Arial"/>
              </a:defRPr>
            </a:pPr>
            <a:r>
              <a:rPr sz="4875" b="1">
                <a:solidFill>
                  <a:srgbClr val="20333D"/>
                </a:solidFill>
                <a:latin typeface="Arial"/>
                <a:ea typeface="Arial"/>
                <a:cs typeface="Arial"/>
              </a:rPr>
              <a:t>User Guide</a:t>
            </a:r>
          </a:p>
        </p:txBody>
      </p:sp>
      <p:sp>
        <p:nvSpPr>
          <p:cNvPr id="3" name="">
            <a:extLst xmlns:a="http://schemas.openxmlformats.org/drawingml/2006/main">
              <a:ext uri="{FF2B5EF4-FFF2-40B4-BE49-F238E27FC236}">
                <a16:creationId xmlns:a16="http://schemas.microsoft.com/office/drawing/2014/main" id="{22DAD470-4ABC-47C7-9D6A-CB4BCEC732D2}"/>
              </a:ext>
            </a:extLst>
          </p:cNvPr>
          <p:cNvSpPr>
            <a:spLocks xmlns:a="http://schemas.openxmlformats.org/drawingml/2006/main" noGrp="1"/>
          </p:cNvSpPr>
          <p:nvPr/>
        </p:nvSpPr>
        <p:spPr>
          <a:xfrm xmlns:a="http://schemas.openxmlformats.org/drawingml/2006/main">
            <a:off x="762000" y="2524125"/>
            <a:ext cx="13716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550" b="1">
                <a:solidFill>
                  <a:srgbClr val="4B606D"/>
                </a:solidFill>
                <a:latin typeface="Arial"/>
                <a:ea typeface="Arial"/>
                <a:cs typeface="Arial"/>
              </a:defRPr>
            </a:defPPr>
          </a:lstStyle>
          <a:p xmlns:a="http://schemas.openxmlformats.org/drawingml/2006/main">
            <a:pPr>
              <a:defRPr sz="2550" b="1">
                <a:solidFill>
                  <a:srgbClr val="4B606D"/>
                </a:solidFill>
                <a:latin typeface="Arial"/>
                <a:ea typeface="Arial"/>
                <a:cs typeface="Arial"/>
              </a:defRPr>
            </a:pPr>
            <a:r>
              <a:rPr sz="2550" b="1">
                <a:solidFill>
                  <a:srgbClr val="4B606D"/>
                </a:solidFill>
                <a:latin typeface="Arial"/>
                <a:ea typeface="Arial"/>
                <a:cs typeface="Arial"/>
              </a:rPr>
              <a:t>Mutation-library construction, evidence-informed screening and candidate delivery</a:t>
            </a:r>
          </a:p>
        </p:txBody>
      </p:sp>
      <p:sp>
        <p:nvSpPr>
          <p:cNvPr id="4" name="">
            <a:extLst xmlns:a="http://schemas.openxmlformats.org/drawingml/2006/main">
              <a:ext uri="{FF2B5EF4-FFF2-40B4-BE49-F238E27FC236}">
                <a16:creationId xmlns:a16="http://schemas.microsoft.com/office/drawing/2014/main" id="{CB41A1EF-EC93-4476-AFFC-899790EADCFC}"/>
              </a:ext>
            </a:extLst>
          </p:cNvPr>
          <p:cNvSpPr>
            <a:spLocks xmlns:a="http://schemas.openxmlformats.org/drawingml/2006/main" noGrp="1"/>
          </p:cNvSpPr>
          <p:nvPr/>
        </p:nvSpPr>
        <p:spPr>
          <a:xfrm xmlns:a="http://schemas.openxmlformats.org/drawingml/2006/main">
            <a:off x="762000" y="19240500"/>
            <a:ext cx="1238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650" b="1">
                <a:solidFill>
                  <a:srgbClr val="4B606D"/>
                </a:solidFill>
                <a:latin typeface="Arial"/>
                <a:ea typeface="Arial"/>
                <a:cs typeface="Arial"/>
              </a:defRPr>
            </a:defPPr>
          </a:lstStyle>
          <a:p xmlns:a="http://schemas.openxmlformats.org/drawingml/2006/main">
            <a:pPr>
              <a:defRPr sz="1650" b="1">
                <a:solidFill>
                  <a:srgbClr val="4B606D"/>
                </a:solidFill>
                <a:latin typeface="Arial"/>
                <a:ea typeface="Arial"/>
                <a:cs typeface="Arial"/>
              </a:defRPr>
            </a:pPr>
            <a:r>
              <a:rPr sz="1650" b="1">
                <a:solidFill>
                  <a:srgbClr val="4B606D"/>
                </a:solidFill>
                <a:latin typeface="Arial"/>
                <a:ea typeface="Arial"/>
                <a:cs typeface="Arial"/>
              </a:rPr>
              <a:t>Enzora web platform • 16 October 2026</a:t>
            </a:r>
          </a:p>
        </p:txBody>
      </p:sp>
      <p:sp>
        <p:nvSpPr>
          <p:cNvPr id="5" name="">
            <a:extLst xmlns:a="http://schemas.openxmlformats.org/drawingml/2006/main">
              <a:ext uri="{FF2B5EF4-FFF2-40B4-BE49-F238E27FC236}">
                <a16:creationId xmlns:a16="http://schemas.microsoft.com/office/drawing/2014/main" id="{2BA15282-04F1-43C2-99E0-6E6E7B0C19E5}"/>
              </a:ext>
            </a:extLst>
          </p:cNvPr>
          <p:cNvSpPr>
            <a:spLocks xmlns:a="http://schemas.openxmlformats.org/drawingml/2006/main" noGrp="1"/>
          </p:cNvSpPr>
          <p:nvPr/>
        </p:nvSpPr>
        <p:spPr>
          <a:xfrm xmlns:a="http://schemas.openxmlformats.org/drawingml/2006/main">
            <a:off x="13811250" y="19240500"/>
            <a:ext cx="762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00" b="1">
                <a:solidFill>
                  <a:srgbClr val="4B606D"/>
                </a:solidFill>
                <a:latin typeface="Arial"/>
                <a:ea typeface="Arial"/>
                <a:cs typeface="Arial"/>
              </a:defRPr>
            </a:defPPr>
          </a:lstStyle>
          <a:p xmlns:a="http://schemas.openxmlformats.org/drawingml/2006/main">
            <a:pPr>
              <a:defRPr sz="1800" b="1">
                <a:solidFill>
                  <a:srgbClr val="4B606D"/>
                </a:solidFill>
                <a:latin typeface="Arial"/>
                <a:ea typeface="Arial"/>
                <a:cs typeface="Arial"/>
              </a:defRPr>
            </a:pPr>
            <a:r>
              <a:rPr sz="1800" b="1">
                <a:solidFill>
                  <a:srgbClr val="4B606D"/>
                </a:solidFill>
                <a:latin typeface="Arial"/>
                <a:ea typeface="Arial"/>
                <a:cs typeface="Arial"/>
              </a:rPr>
              <a:t>1</a:t>
            </a:r>
          </a:p>
        </p:txBody>
      </p:sp>
      <p:pic>
        <p:nvPicPr>
          <p:cNvPr id="6" name="">
            <a:extLst xmlns:a="http://schemas.openxmlformats.org/drawingml/2006/main">
              <a:ext uri="{FF2B5EF4-FFF2-40B4-BE49-F238E27FC236}">
                <a16:creationId xmlns:a16="http://schemas.microsoft.com/office/drawing/2014/main" id="{46562EDC-B2CB-4657-9744-F804EDF43198}"/>
              </a:ext>
            </a:extLst>
          </p:cNvPr>
          <p:cNvPicPr>
            <a:picLocks xmlns:a="http://schemas.openxmlformats.org/drawingml/2006/main" noChangeAspect="1"/>
          </p:cNvPicPr>
          <p:nvPr/>
        </p:nvPicPr>
        <p:blipFill>
          <a:blip xmlns:r="http://schemas.openxmlformats.org/officeDocument/2006/relationships" xmlns:a="http://schemas.openxmlformats.org/drawingml/2006/main" r:embed="R93d04532ef5f4442">
            <a:extLst>
              <a:ext uri="{96DAC541-7B7A-43D3-8B79-37D633B846F1}">
                <asvg:svgBlip xmlns:asvg="http://schemas.microsoft.com/office/drawing/2016/SVG/main" r:embed="Re8f6506187904ebd"/>
              </a:ext>
            </a:extLst>
          </a:blip>
          <a:stretch xmlns:a="http://schemas.openxmlformats.org/drawingml/2006/main"/>
        </p:blipFill>
        <p:spPr>
          <a:xfrm xmlns:a="http://schemas.openxmlformats.org/drawingml/2006/main">
            <a:off x="6096000" y="4238625"/>
            <a:ext cx="3048000" cy="30480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58708736-A847-4EA1-8A37-BBFF4C581AFD}"/>
              </a:ext>
            </a:extLst>
          </p:cNvPr>
          <p:cNvSpPr>
            <a:spLocks xmlns:a="http://schemas.openxmlformats.org/drawingml/2006/main" noGrp="1"/>
          </p:cNvSpPr>
          <p:nvPr/>
        </p:nvSpPr>
        <p:spPr>
          <a:xfrm xmlns:a="http://schemas.openxmlformats.org/drawingml/2006/main">
            <a:off x="762000" y="7429500"/>
            <a:ext cx="13716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600" b="1">
                <a:solidFill>
                  <a:srgbClr val="20333D"/>
                </a:solidFill>
                <a:latin typeface="Arial"/>
                <a:ea typeface="Arial"/>
                <a:cs typeface="Arial"/>
              </a:defRPr>
            </a:defPPr>
          </a:lstStyle>
          <a:p xmlns:a="http://schemas.openxmlformats.org/drawingml/2006/main">
            <a:pPr>
              <a:defRPr sz="3600" b="1">
                <a:solidFill>
                  <a:srgbClr val="20333D"/>
                </a:solidFill>
                <a:latin typeface="Arial"/>
                <a:ea typeface="Arial"/>
                <a:cs typeface="Arial"/>
              </a:defRPr>
            </a:pPr>
            <a:r>
              <a:rPr sz="3600" b="1">
                <a:solidFill>
                  <a:srgbClr val="20333D"/>
                </a:solidFill>
                <a:latin typeface="Arial"/>
                <a:ea typeface="Arial"/>
                <a:cs typeface="Arial"/>
              </a:rPr>
              <a:t>A practical guide to the current web workspace</a:t>
            </a:r>
          </a:p>
        </p:txBody>
      </p:sp>
      <p:sp>
        <p:nvSpPr>
          <p:cNvPr id="8" name="">
            <a:extLst xmlns:a="http://schemas.openxmlformats.org/drawingml/2006/main">
              <a:ext uri="{FF2B5EF4-FFF2-40B4-BE49-F238E27FC236}">
                <a16:creationId xmlns:a16="http://schemas.microsoft.com/office/drawing/2014/main" id="{3F92E959-7E5D-4500-8628-EAC7893A13DD}"/>
              </a:ext>
            </a:extLst>
          </p:cNvPr>
          <p:cNvSpPr>
            <a:spLocks xmlns:a="http://schemas.openxmlformats.org/drawingml/2006/main" noGrp="1"/>
          </p:cNvSpPr>
          <p:nvPr/>
        </p:nvSpPr>
        <p:spPr>
          <a:xfrm xmlns:a="http://schemas.openxmlformats.org/drawingml/2006/main">
            <a:off x="762000" y="8953500"/>
            <a:ext cx="13716000" cy="2190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000" b="1">
                <a:solidFill>
                  <a:srgbClr val="20333D"/>
                </a:solidFill>
                <a:latin typeface="Arial"/>
                <a:ea typeface="Arial"/>
                <a:cs typeface="Arial"/>
              </a:defRPr>
            </a:defPPr>
          </a:lstStyle>
          <a:p xmlns:a="http://schemas.openxmlformats.org/drawingml/2006/main">
            <a:pPr>
              <a:defRPr sz="3000" b="1">
                <a:solidFill>
                  <a:srgbClr val="20333D"/>
                </a:solidFill>
                <a:latin typeface="Arial"/>
                <a:ea typeface="Arial"/>
                <a:cs typeface="Arial"/>
              </a:defRPr>
            </a:pPr>
            <a:r>
              <a:rPr sz="3000" b="1">
                <a:solidFill>
                  <a:srgbClr val="20333D"/>
                </a:solidFill>
                <a:latin typeface="Arial"/>
                <a:ea typeface="Arial"/>
                <a:cs typeface="Arial"/>
              </a:rPr>
              <a:t>Start with your enzyme and substrate. Build a candidate library, compare predicted properties, then review a shortlist for the next experiment.</a:t>
            </a:r>
          </a:p>
        </p:txBody>
      </p:sp>
      <p:sp>
        <p:nvSpPr>
          <p:cNvPr id="9" name="">
            <a:extLst xmlns:a="http://schemas.openxmlformats.org/drawingml/2006/main">
              <a:ext uri="{FF2B5EF4-FFF2-40B4-BE49-F238E27FC236}">
                <a16:creationId xmlns:a16="http://schemas.microsoft.com/office/drawing/2014/main" id="{086C2995-B132-4E26-BC06-A915A0E4764B}"/>
              </a:ext>
            </a:extLst>
          </p:cNvPr>
          <p:cNvSpPr>
            <a:spLocks xmlns:a="http://schemas.openxmlformats.org/drawingml/2006/main" noGrp="1"/>
          </p:cNvSpPr>
          <p:nvPr/>
        </p:nvSpPr>
        <p:spPr>
          <a:xfrm xmlns:a="http://schemas.openxmlformats.org/drawingml/2006/main">
            <a:off x="762000" y="11811000"/>
            <a:ext cx="13716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700" b="1">
                <a:solidFill>
                  <a:srgbClr val="20333D"/>
                </a:solidFill>
                <a:latin typeface="Arial"/>
                <a:ea typeface="Arial"/>
                <a:cs typeface="Arial"/>
              </a:defRPr>
            </a:defPPr>
          </a:lstStyle>
          <a:p xmlns:a="http://schemas.openxmlformats.org/drawingml/2006/main">
            <a:pPr>
              <a:defRPr sz="2700" b="1">
                <a:solidFill>
                  <a:srgbClr val="20333D"/>
                </a:solidFill>
                <a:latin typeface="Arial"/>
                <a:ea typeface="Arial"/>
                <a:cs typeface="Arial"/>
              </a:defRPr>
            </a:pPr>
            <a:r>
              <a:rPr sz="2700" b="1">
                <a:solidFill>
                  <a:srgbClr val="20333D"/>
                </a:solidFill>
                <a:latin typeface="Arial"/>
                <a:ea typeface="Arial"/>
                <a:cs typeface="Arial"/>
              </a:rPr>
              <a:t>Website</a:t>
            </a:r>
          </a:p>
        </p:txBody>
      </p:sp>
      <p:sp>
        <p:nvSpPr>
          <p:cNvPr id="10" name="">
            <a:extLst xmlns:a="http://schemas.openxmlformats.org/drawingml/2006/main">
              <a:ext uri="{FF2B5EF4-FFF2-40B4-BE49-F238E27FC236}">
                <a16:creationId xmlns:a16="http://schemas.microsoft.com/office/drawing/2014/main" id="{9DC686E1-3B58-422A-8948-0EDF6B13AF02}"/>
              </a:ext>
            </a:extLst>
          </p:cNvPr>
          <p:cNvSpPr>
            <a:spLocks xmlns:a="http://schemas.openxmlformats.org/drawingml/2006/main" noGrp="1"/>
          </p:cNvSpPr>
          <p:nvPr/>
        </p:nvSpPr>
        <p:spPr>
          <a:xfrm xmlns:a="http://schemas.openxmlformats.org/drawingml/2006/main">
            <a:off x="762000" y="12477750"/>
            <a:ext cx="13716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300" b="1">
                <a:solidFill>
                  <a:srgbClr val="245E91"/>
                </a:solidFill>
                <a:latin typeface="Arial"/>
                <a:ea typeface="Arial"/>
                <a:cs typeface="Arial"/>
              </a:defRPr>
            </a:defPPr>
          </a:lstStyle>
          <a:p xmlns:a="http://schemas.openxmlformats.org/drawingml/2006/main">
            <a:pPr>
              <a:defRPr sz="3300" b="1">
                <a:solidFill>
                  <a:srgbClr val="245E91"/>
                </a:solidFill>
                <a:latin typeface="Arial"/>
                <a:ea typeface="Arial"/>
                <a:cs typeface="Arial"/>
              </a:defRPr>
            </a:pPr>
            <a:r>
              <a:rPr>
                <a:hlinkClick xmlns:r="http://schemas.openxmlformats.org/officeDocument/2006/relationships" r:id="Rac50cca7297045da"/>
              </a:rPr>
              <a:t>https://enzora-agent.com</a:t>
            </a:r>
          </a:p>
        </p:txBody>
      </p:sp>
      <p:sp>
        <p:nvSpPr>
          <p:cNvPr id="11" name="">
            <a:extLst xmlns:a="http://schemas.openxmlformats.org/drawingml/2006/main">
              <a:ext uri="{FF2B5EF4-FFF2-40B4-BE49-F238E27FC236}">
                <a16:creationId xmlns:a16="http://schemas.microsoft.com/office/drawing/2014/main" id="{C78424CA-5816-497D-A86B-B150D46D787E}"/>
              </a:ext>
            </a:extLst>
          </p:cNvPr>
          <p:cNvSpPr>
            <a:spLocks xmlns:a="http://schemas.openxmlformats.org/drawingml/2006/main" noGrp="1"/>
          </p:cNvSpPr>
          <p:nvPr/>
        </p:nvSpPr>
        <p:spPr>
          <a:xfrm xmlns:a="http://schemas.openxmlformats.org/drawingml/2006/main">
            <a:off x="762000" y="14287500"/>
            <a:ext cx="1371600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625" b="1">
                <a:solidFill>
                  <a:srgbClr val="4B606D"/>
                </a:solidFill>
                <a:latin typeface="Arial"/>
                <a:ea typeface="Arial"/>
                <a:cs typeface="Arial"/>
              </a:defRPr>
            </a:defPPr>
          </a:lstStyle>
          <a:p xmlns:a="http://schemas.openxmlformats.org/drawingml/2006/main">
            <a:pPr>
              <a:defRPr sz="2625" b="1">
                <a:solidFill>
                  <a:srgbClr val="4B606D"/>
                </a:solidFill>
                <a:latin typeface="Arial"/>
                <a:ea typeface="Arial"/>
                <a:cs typeface="Arial"/>
              </a:defRPr>
            </a:pPr>
            <a:r>
              <a:rPr sz="2625" b="1">
                <a:solidFill>
                  <a:srgbClr val="4B606D"/>
                </a:solidFill>
                <a:latin typeface="Arial"/>
                <a:ea typeface="Arial"/>
                <a:cs typeface="Arial"/>
              </a:rPr>
              <a:t>For researchers using the browser, follow Sections 1–13.</a:t>
            </a:r>
          </a:p>
          <a:p xmlns:a="http://schemas.openxmlformats.org/drawingml/2006/main">
            <a:pPr>
              <a:defRPr sz="2625" b="1">
                <a:solidFill>
                  <a:srgbClr val="4B606D"/>
                </a:solidFill>
                <a:latin typeface="Arial"/>
                <a:ea typeface="Arial"/>
                <a:cs typeface="Arial"/>
              </a:defRPr>
            </a:pPr>
            <a:r>
              <a:rPr sz="2625" b="1">
                <a:solidFill>
                  <a:srgbClr val="4B606D"/>
                </a:solidFill>
                <a:latin typeface="Arial"/>
                <a:ea typeface="Arial"/>
                <a:cs typeface="Arial"/>
              </a:rPr>
              <a:t>For local installation and model resources, see Section 14.</a:t>
            </a:r>
          </a:p>
          <a:p xmlns:a="http://schemas.openxmlformats.org/drawingml/2006/main">
            <a:pPr>
              <a:defRPr sz="2625" b="1">
                <a:solidFill>
                  <a:srgbClr val="4B606D"/>
                </a:solidFill>
                <a:latin typeface="Arial"/>
                <a:ea typeface="Arial"/>
                <a:cs typeface="Arial"/>
              </a:defRPr>
            </a:pPr>
            <a:r>
              <a:rPr sz="2625" b="1">
                <a:solidFill>
                  <a:srgbClr val="4B606D"/>
                </a:solidFill>
                <a:latin typeface="Arial"/>
                <a:ea typeface="Arial"/>
                <a:cs typeface="Arial"/>
              </a:rPr>
              <a:t>For recovery and interpretation checks, see Sections 15–16.</a:t>
            </a:r>
          </a:p>
        </p:txBody>
      </p:sp>
    </p:spTree>
    <p:extLst>
      <p:ext uri="{BB962C8B-B14F-4D97-AF65-F5344CB8AC3E}">
        <p14:creationId xmlns:p14="http://schemas.microsoft.com/office/powerpoint/2010/main" val="48961711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2A212F03-8AAB-4EAE-BCEC-43CE392A6369}"/>
              </a:ext>
            </a:extLst>
          </p:cNvPr>
          <p:cNvSpPr>
            <a:spLocks xmlns:a="http://schemas.openxmlformats.org/drawingml/2006/main" noGrp="1"/>
          </p:cNvSpPr>
          <p:nvPr/>
        </p:nvSpPr>
        <p:spPr>
          <a:xfrm xmlns:a="http://schemas.openxmlformats.org/drawingml/2006/main">
            <a:off x="762000" y="361950"/>
            <a:ext cx="13239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725" b="1">
                <a:solidFill>
                  <a:srgbClr val="4B606D"/>
                </a:solidFill>
                <a:latin typeface="Arial"/>
                <a:ea typeface="Arial"/>
                <a:cs typeface="Arial"/>
              </a:defRPr>
            </a:defPPr>
          </a:lstStyle>
          <a:p xmlns:a="http://schemas.openxmlformats.org/drawingml/2006/main">
            <a:pPr>
              <a:defRPr sz="1725" b="1">
                <a:solidFill>
                  <a:srgbClr val="4B606D"/>
                </a:solidFill>
                <a:latin typeface="Arial"/>
                <a:ea typeface="Arial"/>
                <a:cs typeface="Arial"/>
              </a:defRPr>
            </a:pPr>
            <a:r>
              <a:rPr sz="1725" b="1">
                <a:solidFill>
                  <a:srgbClr val="4B606D"/>
                </a:solidFill>
                <a:latin typeface="Arial"/>
                <a:ea typeface="Arial"/>
                <a:cs typeface="Arial"/>
              </a:rPr>
              <a:t>ENZORA  /  USER GUIDE</a:t>
            </a:r>
          </a:p>
        </p:txBody>
      </p:sp>
      <p:sp>
        <p:nvSpPr>
          <p:cNvPr id="2" name="">
            <a:extLst xmlns:a="http://schemas.openxmlformats.org/drawingml/2006/main">
              <a:ext uri="{FF2B5EF4-FFF2-40B4-BE49-F238E27FC236}">
                <a16:creationId xmlns:a16="http://schemas.microsoft.com/office/drawing/2014/main" id="{9BDCEB6A-4D94-4D85-BC65-320088210D73}"/>
              </a:ext>
            </a:extLst>
          </p:cNvPr>
          <p:cNvSpPr>
            <a:spLocks xmlns:a="http://schemas.openxmlformats.org/drawingml/2006/main" noGrp="1"/>
          </p:cNvSpPr>
          <p:nvPr/>
        </p:nvSpPr>
        <p:spPr>
          <a:xfrm xmlns:a="http://schemas.openxmlformats.org/drawingml/2006/main">
            <a:off x="762000" y="952500"/>
            <a:ext cx="13716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4875" b="1">
                <a:solidFill>
                  <a:srgbClr val="20333D"/>
                </a:solidFill>
                <a:latin typeface="Arial"/>
                <a:ea typeface="Arial"/>
                <a:cs typeface="Arial"/>
              </a:defRPr>
            </a:defPPr>
          </a:lstStyle>
          <a:p xmlns:a="http://schemas.openxmlformats.org/drawingml/2006/main">
            <a:pPr>
              <a:defRPr sz="4875" b="1">
                <a:solidFill>
                  <a:srgbClr val="20333D"/>
                </a:solidFill>
                <a:latin typeface="Arial"/>
                <a:ea typeface="Arial"/>
                <a:cs typeface="Arial"/>
              </a:defRPr>
            </a:pPr>
            <a:r>
              <a:rPr sz="4875" b="1">
                <a:solidFill>
                  <a:srgbClr val="20333D"/>
                </a:solidFill>
                <a:latin typeface="Arial"/>
                <a:ea typeface="Arial"/>
                <a:cs typeface="Arial"/>
              </a:rPr>
              <a:t>1. The three-stage workflow</a:t>
            </a:r>
          </a:p>
        </p:txBody>
      </p:sp>
      <p:sp>
        <p:nvSpPr>
          <p:cNvPr id="3" name="">
            <a:extLst xmlns:a="http://schemas.openxmlformats.org/drawingml/2006/main">
              <a:ext uri="{FF2B5EF4-FFF2-40B4-BE49-F238E27FC236}">
                <a16:creationId xmlns:a16="http://schemas.microsoft.com/office/drawing/2014/main" id="{706D9D26-0E1A-443C-B2DE-A0DA6C14DE54}"/>
              </a:ext>
            </a:extLst>
          </p:cNvPr>
          <p:cNvSpPr>
            <a:spLocks xmlns:a="http://schemas.openxmlformats.org/drawingml/2006/main" noGrp="1"/>
          </p:cNvSpPr>
          <p:nvPr/>
        </p:nvSpPr>
        <p:spPr>
          <a:xfrm xmlns:a="http://schemas.openxmlformats.org/drawingml/2006/main">
            <a:off x="762000" y="2524125"/>
            <a:ext cx="13716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550" b="1">
                <a:solidFill>
                  <a:srgbClr val="4B606D"/>
                </a:solidFill>
                <a:latin typeface="Arial"/>
                <a:ea typeface="Arial"/>
                <a:cs typeface="Arial"/>
              </a:defRPr>
            </a:defPPr>
          </a:lstStyle>
          <a:p xmlns:a="http://schemas.openxmlformats.org/drawingml/2006/main">
            <a:pPr>
              <a:defRPr sz="2550" b="1">
                <a:solidFill>
                  <a:srgbClr val="4B606D"/>
                </a:solidFill>
                <a:latin typeface="Arial"/>
                <a:ea typeface="Arial"/>
                <a:cs typeface="Arial"/>
              </a:defRPr>
            </a:pPr>
            <a:r>
              <a:rPr sz="2550" b="1">
                <a:solidFill>
                  <a:srgbClr val="4B606D"/>
                </a:solidFill>
                <a:latin typeface="Arial"/>
                <a:ea typeface="Arial"/>
                <a:cs typeface="Arial"/>
              </a:rPr>
              <a:t>Each stage has a clear input, action and saved result</a:t>
            </a:r>
          </a:p>
        </p:txBody>
      </p:sp>
      <p:sp>
        <p:nvSpPr>
          <p:cNvPr id="4" name="">
            <a:extLst xmlns:a="http://schemas.openxmlformats.org/drawingml/2006/main">
              <a:ext uri="{FF2B5EF4-FFF2-40B4-BE49-F238E27FC236}">
                <a16:creationId xmlns:a16="http://schemas.microsoft.com/office/drawing/2014/main" id="{ECBF4132-140C-4CCC-A3A3-7E1ED04495D9}"/>
              </a:ext>
            </a:extLst>
          </p:cNvPr>
          <p:cNvSpPr>
            <a:spLocks xmlns:a="http://schemas.openxmlformats.org/drawingml/2006/main" noGrp="1"/>
          </p:cNvSpPr>
          <p:nvPr/>
        </p:nvSpPr>
        <p:spPr>
          <a:xfrm xmlns:a="http://schemas.openxmlformats.org/drawingml/2006/main">
            <a:off x="762000" y="19240500"/>
            <a:ext cx="1238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650" b="1">
                <a:solidFill>
                  <a:srgbClr val="4B606D"/>
                </a:solidFill>
                <a:latin typeface="Arial"/>
                <a:ea typeface="Arial"/>
                <a:cs typeface="Arial"/>
              </a:defRPr>
            </a:defPPr>
          </a:lstStyle>
          <a:p xmlns:a="http://schemas.openxmlformats.org/drawingml/2006/main">
            <a:pPr>
              <a:defRPr sz="1650" b="1">
                <a:solidFill>
                  <a:srgbClr val="4B606D"/>
                </a:solidFill>
                <a:latin typeface="Arial"/>
                <a:ea typeface="Arial"/>
                <a:cs typeface="Arial"/>
              </a:defRPr>
            </a:pPr>
            <a:r>
              <a:rPr sz="1650" b="1">
                <a:solidFill>
                  <a:srgbClr val="4B606D"/>
                </a:solidFill>
                <a:latin typeface="Arial"/>
                <a:ea typeface="Arial"/>
                <a:cs typeface="Arial"/>
              </a:rPr>
              <a:t>Enzora web platform • 16 October 2026</a:t>
            </a:r>
          </a:p>
        </p:txBody>
      </p:sp>
      <p:sp>
        <p:nvSpPr>
          <p:cNvPr id="5" name="">
            <a:extLst xmlns:a="http://schemas.openxmlformats.org/drawingml/2006/main">
              <a:ext uri="{FF2B5EF4-FFF2-40B4-BE49-F238E27FC236}">
                <a16:creationId xmlns:a16="http://schemas.microsoft.com/office/drawing/2014/main" id="{538AE0E8-4069-4BD4-A7B3-B54980535FA5}"/>
              </a:ext>
            </a:extLst>
          </p:cNvPr>
          <p:cNvSpPr>
            <a:spLocks xmlns:a="http://schemas.openxmlformats.org/drawingml/2006/main" noGrp="1"/>
          </p:cNvSpPr>
          <p:nvPr/>
        </p:nvSpPr>
        <p:spPr>
          <a:xfrm xmlns:a="http://schemas.openxmlformats.org/drawingml/2006/main">
            <a:off x="13811250" y="19240500"/>
            <a:ext cx="762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00" b="1">
                <a:solidFill>
                  <a:srgbClr val="4B606D"/>
                </a:solidFill>
                <a:latin typeface="Arial"/>
                <a:ea typeface="Arial"/>
                <a:cs typeface="Arial"/>
              </a:defRPr>
            </a:defPPr>
          </a:lstStyle>
          <a:p xmlns:a="http://schemas.openxmlformats.org/drawingml/2006/main">
            <a:pPr>
              <a:defRPr sz="1800" b="1">
                <a:solidFill>
                  <a:srgbClr val="4B606D"/>
                </a:solidFill>
                <a:latin typeface="Arial"/>
                <a:ea typeface="Arial"/>
                <a:cs typeface="Arial"/>
              </a:defRPr>
            </a:pPr>
            <a:r>
              <a:rPr sz="1800" b="1">
                <a:solidFill>
                  <a:srgbClr val="4B606D"/>
                </a:solidFill>
                <a:latin typeface="Arial"/>
                <a:ea typeface="Arial"/>
                <a:cs typeface="Arial"/>
              </a:rPr>
              <a:t>2</a:t>
            </a:r>
          </a:p>
        </p:txBody>
      </p:sp>
      <p:pic>
        <p:nvPicPr>
          <p:cNvPr id="6" name="">
            <a:extLst xmlns:a="http://schemas.openxmlformats.org/drawingml/2006/main">
              <a:ext uri="{FF2B5EF4-FFF2-40B4-BE49-F238E27FC236}">
                <a16:creationId xmlns:a16="http://schemas.microsoft.com/office/drawing/2014/main" id="{8E01D24D-4B94-4FB1-8361-1FB8BEDD6245}"/>
              </a:ext>
            </a:extLst>
          </p:cNvPr>
          <p:cNvPicPr>
            <a:picLocks xmlns:a="http://schemas.openxmlformats.org/drawingml/2006/main" noChangeAspect="1"/>
          </p:cNvPicPr>
          <p:nvPr/>
        </p:nvPicPr>
        <p:blipFill>
          <a:blip xmlns:r="http://schemas.openxmlformats.org/officeDocument/2006/relationships" xmlns:a="http://schemas.openxmlformats.org/drawingml/2006/main" r:embed="R00692200aa8447e4"/>
          <a:stretch xmlns:a="http://schemas.openxmlformats.org/drawingml/2006/main"/>
        </p:blipFill>
        <p:spPr>
          <a:xfrm xmlns:a="http://schemas.openxmlformats.org/drawingml/2006/main">
            <a:off x="762000" y="3967163"/>
            <a:ext cx="13716000" cy="1011555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CB6D51AD-B9A6-4AFD-9564-480528D16BDE}"/>
              </a:ext>
            </a:extLst>
          </p:cNvPr>
          <p:cNvSpPr>
            <a:spLocks xmlns:a="http://schemas.openxmlformats.org/drawingml/2006/main" noGrp="1"/>
          </p:cNvSpPr>
          <p:nvPr/>
        </p:nvSpPr>
        <p:spPr>
          <a:xfrm xmlns:a="http://schemas.openxmlformats.org/drawingml/2006/main">
            <a:off x="762000" y="14573250"/>
            <a:ext cx="13716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925" b="1">
                <a:solidFill>
                  <a:srgbClr val="20333D"/>
                </a:solidFill>
                <a:latin typeface="Arial"/>
                <a:ea typeface="Arial"/>
                <a:cs typeface="Arial"/>
              </a:defRPr>
            </a:defPPr>
          </a:lstStyle>
          <a:p xmlns:a="http://schemas.openxmlformats.org/drawingml/2006/main">
            <a:pPr>
              <a:defRPr sz="2925" b="1">
                <a:solidFill>
                  <a:srgbClr val="20333D"/>
                </a:solidFill>
                <a:latin typeface="Arial"/>
                <a:ea typeface="Arial"/>
                <a:cs typeface="Arial"/>
              </a:defRPr>
            </a:pPr>
            <a:r>
              <a:rPr sz="2925" b="1">
                <a:solidFill>
                  <a:srgbClr val="20333D"/>
                </a:solidFill>
                <a:latin typeface="Arial"/>
                <a:ea typeface="Arial"/>
                <a:cs typeface="Arial"/>
              </a:rPr>
              <a:t>Library: Build library</a:t>
            </a:r>
          </a:p>
        </p:txBody>
      </p:sp>
      <p:sp>
        <p:nvSpPr>
          <p:cNvPr id="8" name="">
            <a:extLst xmlns:a="http://schemas.openxmlformats.org/drawingml/2006/main">
              <a:ext uri="{FF2B5EF4-FFF2-40B4-BE49-F238E27FC236}">
                <a16:creationId xmlns:a16="http://schemas.microsoft.com/office/drawing/2014/main" id="{3380483B-D0AB-40FF-9AE9-4DDDBD35082B}"/>
              </a:ext>
            </a:extLst>
          </p:cNvPr>
          <p:cNvSpPr>
            <a:spLocks xmlns:a="http://schemas.openxmlformats.org/drawingml/2006/main" noGrp="1"/>
          </p:cNvSpPr>
          <p:nvPr/>
        </p:nvSpPr>
        <p:spPr>
          <a:xfrm xmlns:a="http://schemas.openxmlformats.org/drawingml/2006/main">
            <a:off x="762000" y="15240000"/>
            <a:ext cx="13716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550" b="1">
                <a:solidFill>
                  <a:srgbClr val="4B606D"/>
                </a:solidFill>
                <a:latin typeface="Arial"/>
                <a:ea typeface="Arial"/>
                <a:cs typeface="Arial"/>
              </a:defRPr>
            </a:defPPr>
          </a:lstStyle>
          <a:p xmlns:a="http://schemas.openxmlformats.org/drawingml/2006/main">
            <a:pPr>
              <a:defRPr sz="2550" b="1">
                <a:solidFill>
                  <a:srgbClr val="4B606D"/>
                </a:solidFill>
                <a:latin typeface="Arial"/>
                <a:ea typeface="Arial"/>
                <a:cs typeface="Arial"/>
              </a:defRPr>
            </a:pPr>
            <a:r>
              <a:rPr sz="2550" b="1">
                <a:solidFill>
                  <a:srgbClr val="4B606D"/>
                </a:solidFill>
                <a:latin typeface="Arial"/>
                <a:ea typeface="Arial"/>
                <a:cs typeface="Arial"/>
              </a:rPr>
              <a:t>Supply the WT protein and substrate, then choose the mutation budget.</a:t>
            </a:r>
          </a:p>
        </p:txBody>
      </p:sp>
      <p:sp>
        <p:nvSpPr>
          <p:cNvPr id="9" name="">
            <a:extLst xmlns:a="http://schemas.openxmlformats.org/drawingml/2006/main">
              <a:ext uri="{FF2B5EF4-FFF2-40B4-BE49-F238E27FC236}">
                <a16:creationId xmlns:a16="http://schemas.microsoft.com/office/drawing/2014/main" id="{BA69B278-99D0-4CA5-B4D5-638DB81C2905}"/>
              </a:ext>
            </a:extLst>
          </p:cNvPr>
          <p:cNvSpPr>
            <a:spLocks xmlns:a="http://schemas.openxmlformats.org/drawingml/2006/main" noGrp="1"/>
          </p:cNvSpPr>
          <p:nvPr/>
        </p:nvSpPr>
        <p:spPr>
          <a:xfrm xmlns:a="http://schemas.openxmlformats.org/drawingml/2006/main">
            <a:off x="762000" y="16240125"/>
            <a:ext cx="13716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925" b="1">
                <a:solidFill>
                  <a:srgbClr val="20333D"/>
                </a:solidFill>
                <a:latin typeface="Arial"/>
                <a:ea typeface="Arial"/>
                <a:cs typeface="Arial"/>
              </a:defRPr>
            </a:defPPr>
          </a:lstStyle>
          <a:p xmlns:a="http://schemas.openxmlformats.org/drawingml/2006/main">
            <a:pPr>
              <a:defRPr sz="2925" b="1">
                <a:solidFill>
                  <a:srgbClr val="20333D"/>
                </a:solidFill>
                <a:latin typeface="Arial"/>
                <a:ea typeface="Arial"/>
                <a:cs typeface="Arial"/>
              </a:defRPr>
            </a:pPr>
            <a:r>
              <a:rPr sz="2925" b="1">
                <a:solidFill>
                  <a:srgbClr val="20333D"/>
                </a:solidFill>
                <a:latin typeface="Arial"/>
                <a:ea typeface="Arial"/>
                <a:cs typeface="Arial"/>
              </a:rPr>
              <a:t>Screening: Start Screening</a:t>
            </a:r>
          </a:p>
        </p:txBody>
      </p:sp>
      <p:sp>
        <p:nvSpPr>
          <p:cNvPr id="10" name="">
            <a:extLst xmlns:a="http://schemas.openxmlformats.org/drawingml/2006/main">
              <a:ext uri="{FF2B5EF4-FFF2-40B4-BE49-F238E27FC236}">
                <a16:creationId xmlns:a16="http://schemas.microsoft.com/office/drawing/2014/main" id="{F2982709-A50F-4CF7-932E-87894FF73901}"/>
              </a:ext>
            </a:extLst>
          </p:cNvPr>
          <p:cNvSpPr>
            <a:spLocks xmlns:a="http://schemas.openxmlformats.org/drawingml/2006/main" noGrp="1"/>
          </p:cNvSpPr>
          <p:nvPr/>
        </p:nvSpPr>
        <p:spPr>
          <a:xfrm xmlns:a="http://schemas.openxmlformats.org/drawingml/2006/main">
            <a:off x="762000" y="16906875"/>
            <a:ext cx="13716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550" b="1">
                <a:solidFill>
                  <a:srgbClr val="4B606D"/>
                </a:solidFill>
                <a:latin typeface="Arial"/>
                <a:ea typeface="Arial"/>
                <a:cs typeface="Arial"/>
              </a:defRPr>
            </a:defPPr>
          </a:lstStyle>
          <a:p xmlns:a="http://schemas.openxmlformats.org/drawingml/2006/main">
            <a:pPr>
              <a:defRPr sz="2550" b="1">
                <a:solidFill>
                  <a:srgbClr val="4B606D"/>
                </a:solidFill>
                <a:latin typeface="Arial"/>
                <a:ea typeface="Arial"/>
                <a:cs typeface="Arial"/>
              </a:defRPr>
            </a:pPr>
            <a:r>
              <a:rPr sz="2550" b="1">
                <a:solidFill>
                  <a:srgbClr val="4B606D"/>
                </a:solidFill>
                <a:latin typeface="Arial"/>
                <a:ea typeface="Arial"/>
                <a:cs typeface="Arial"/>
              </a:rPr>
              <a:t>Run the three predictors. Review priorities and uncertainty before selection.</a:t>
            </a:r>
          </a:p>
        </p:txBody>
      </p:sp>
      <p:sp>
        <p:nvSpPr>
          <p:cNvPr id="11" name="">
            <a:extLst xmlns:a="http://schemas.openxmlformats.org/drawingml/2006/main">
              <a:ext uri="{FF2B5EF4-FFF2-40B4-BE49-F238E27FC236}">
                <a16:creationId xmlns:a16="http://schemas.microsoft.com/office/drawing/2014/main" id="{CBFBE361-0903-4DD0-A642-5AF8C9B6F0F0}"/>
              </a:ext>
            </a:extLst>
          </p:cNvPr>
          <p:cNvSpPr>
            <a:spLocks xmlns:a="http://schemas.openxmlformats.org/drawingml/2006/main" noGrp="1"/>
          </p:cNvSpPr>
          <p:nvPr/>
        </p:nvSpPr>
        <p:spPr>
          <a:xfrm xmlns:a="http://schemas.openxmlformats.org/drawingml/2006/main">
            <a:off x="762000" y="18288000"/>
            <a:ext cx="13716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550" b="1">
                <a:solidFill>
                  <a:srgbClr val="20333D"/>
                </a:solidFill>
                <a:latin typeface="Arial"/>
                <a:ea typeface="Arial"/>
                <a:cs typeface="Arial"/>
              </a:defRPr>
            </a:defPPr>
          </a:lstStyle>
          <a:p xmlns:a="http://schemas.openxmlformats.org/drawingml/2006/main">
            <a:pPr>
              <a:defRPr sz="2550" b="1">
                <a:solidFill>
                  <a:srgbClr val="20333D"/>
                </a:solidFill>
                <a:latin typeface="Arial"/>
                <a:ea typeface="Arial"/>
                <a:cs typeface="Arial"/>
              </a:defRPr>
            </a:pPr>
            <a:r>
              <a:rPr sz="2550" b="1">
                <a:solidFill>
                  <a:srgbClr val="20333D"/>
                </a:solidFill>
                <a:latin typeface="Arial"/>
                <a:ea typeface="Arial"/>
                <a:cs typeface="Arial"/>
              </a:rPr>
              <a:t>Output: Select Top-K &amp; generate report, then inspect and export.</a:t>
            </a:r>
          </a:p>
        </p:txBody>
      </p:sp>
    </p:spTree>
    <p:extLst>
      <p:ext uri="{BB962C8B-B14F-4D97-AF65-F5344CB8AC3E}">
        <p14:creationId xmlns:p14="http://schemas.microsoft.com/office/powerpoint/2010/main" val="66946019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E8CF5C8A-2416-443C-A613-1AEBFF74B82E}"/>
              </a:ext>
            </a:extLst>
          </p:cNvPr>
          <p:cNvSpPr>
            <a:spLocks xmlns:a="http://schemas.openxmlformats.org/drawingml/2006/main" noGrp="1"/>
          </p:cNvSpPr>
          <p:nvPr/>
        </p:nvSpPr>
        <p:spPr>
          <a:xfrm xmlns:a="http://schemas.openxmlformats.org/drawingml/2006/main">
            <a:off x="762000" y="361950"/>
            <a:ext cx="13239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725" b="1">
                <a:solidFill>
                  <a:srgbClr val="4B606D"/>
                </a:solidFill>
                <a:latin typeface="Arial"/>
                <a:ea typeface="Arial"/>
                <a:cs typeface="Arial"/>
              </a:defRPr>
            </a:defPPr>
          </a:lstStyle>
          <a:p xmlns:a="http://schemas.openxmlformats.org/drawingml/2006/main">
            <a:pPr>
              <a:defRPr sz="1725" b="1">
                <a:solidFill>
                  <a:srgbClr val="4B606D"/>
                </a:solidFill>
                <a:latin typeface="Arial"/>
                <a:ea typeface="Arial"/>
                <a:cs typeface="Arial"/>
              </a:defRPr>
            </a:pPr>
            <a:r>
              <a:rPr sz="1725" b="1">
                <a:solidFill>
                  <a:srgbClr val="4B606D"/>
                </a:solidFill>
                <a:latin typeface="Arial"/>
                <a:ea typeface="Arial"/>
                <a:cs typeface="Arial"/>
              </a:rPr>
              <a:t>ENZORA  /  USER GUIDE</a:t>
            </a:r>
          </a:p>
        </p:txBody>
      </p:sp>
      <p:sp>
        <p:nvSpPr>
          <p:cNvPr id="2" name="">
            <a:extLst xmlns:a="http://schemas.openxmlformats.org/drawingml/2006/main">
              <a:ext uri="{FF2B5EF4-FFF2-40B4-BE49-F238E27FC236}">
                <a16:creationId xmlns:a16="http://schemas.microsoft.com/office/drawing/2014/main" id="{154A36BD-3FB8-4CE9-B0CA-594A79D7BEC1}"/>
              </a:ext>
            </a:extLst>
          </p:cNvPr>
          <p:cNvSpPr>
            <a:spLocks xmlns:a="http://schemas.openxmlformats.org/drawingml/2006/main" noGrp="1"/>
          </p:cNvSpPr>
          <p:nvPr/>
        </p:nvSpPr>
        <p:spPr>
          <a:xfrm xmlns:a="http://schemas.openxmlformats.org/drawingml/2006/main">
            <a:off x="762000" y="952500"/>
            <a:ext cx="13716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4875" b="1">
                <a:solidFill>
                  <a:srgbClr val="20333D"/>
                </a:solidFill>
                <a:latin typeface="Arial"/>
                <a:ea typeface="Arial"/>
                <a:cs typeface="Arial"/>
              </a:defRPr>
            </a:defPPr>
          </a:lstStyle>
          <a:p xmlns:a="http://schemas.openxmlformats.org/drawingml/2006/main">
            <a:pPr>
              <a:defRPr sz="4875" b="1">
                <a:solidFill>
                  <a:srgbClr val="20333D"/>
                </a:solidFill>
                <a:latin typeface="Arial"/>
                <a:ea typeface="Arial"/>
                <a:cs typeface="Arial"/>
              </a:defRPr>
            </a:pPr>
            <a:r>
              <a:rPr sz="4875" b="1">
                <a:solidFill>
                  <a:srgbClr val="20333D"/>
                </a:solidFill>
                <a:latin typeface="Arial"/>
                <a:ea typeface="Arial"/>
                <a:cs typeface="Arial"/>
              </a:rPr>
              <a:t>2. Access and Demo mode</a:t>
            </a:r>
          </a:p>
        </p:txBody>
      </p:sp>
      <p:sp>
        <p:nvSpPr>
          <p:cNvPr id="3" name="">
            <a:extLst xmlns:a="http://schemas.openxmlformats.org/drawingml/2006/main">
              <a:ext uri="{FF2B5EF4-FFF2-40B4-BE49-F238E27FC236}">
                <a16:creationId xmlns:a16="http://schemas.microsoft.com/office/drawing/2014/main" id="{185034C3-7767-4F82-825B-B0C2B3858C00}"/>
              </a:ext>
            </a:extLst>
          </p:cNvPr>
          <p:cNvSpPr>
            <a:spLocks xmlns:a="http://schemas.openxmlformats.org/drawingml/2006/main" noGrp="1"/>
          </p:cNvSpPr>
          <p:nvPr/>
        </p:nvSpPr>
        <p:spPr>
          <a:xfrm xmlns:a="http://schemas.openxmlformats.org/drawingml/2006/main">
            <a:off x="762000" y="2524125"/>
            <a:ext cx="13716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550" b="1">
                <a:solidFill>
                  <a:srgbClr val="4B606D"/>
                </a:solidFill>
                <a:latin typeface="Arial"/>
                <a:ea typeface="Arial"/>
                <a:cs typeface="Arial"/>
              </a:defRPr>
            </a:defPPr>
          </a:lstStyle>
          <a:p xmlns:a="http://schemas.openxmlformats.org/drawingml/2006/main">
            <a:pPr>
              <a:defRPr sz="2550" b="1">
                <a:solidFill>
                  <a:srgbClr val="4B606D"/>
                </a:solidFill>
                <a:latin typeface="Arial"/>
                <a:ea typeface="Arial"/>
                <a:cs typeface="Arial"/>
              </a:defRPr>
            </a:pPr>
            <a:r>
              <a:rPr sz="2550" b="1">
                <a:solidFill>
                  <a:srgbClr val="4B606D"/>
                </a:solidFill>
                <a:latin typeface="Arial"/>
                <a:ea typeface="Arial"/>
                <a:cs typeface="Arial"/>
              </a:rPr>
              <a:t>The access code opens the workspace. Provider credentials stay on the server</a:t>
            </a:r>
          </a:p>
        </p:txBody>
      </p:sp>
      <p:sp>
        <p:nvSpPr>
          <p:cNvPr id="4" name="">
            <a:extLst xmlns:a="http://schemas.openxmlformats.org/drawingml/2006/main">
              <a:ext uri="{FF2B5EF4-FFF2-40B4-BE49-F238E27FC236}">
                <a16:creationId xmlns:a16="http://schemas.microsoft.com/office/drawing/2014/main" id="{4DE34BD5-B02D-4972-9A3F-CE670A36E54D}"/>
              </a:ext>
            </a:extLst>
          </p:cNvPr>
          <p:cNvSpPr>
            <a:spLocks xmlns:a="http://schemas.openxmlformats.org/drawingml/2006/main" noGrp="1"/>
          </p:cNvSpPr>
          <p:nvPr/>
        </p:nvSpPr>
        <p:spPr>
          <a:xfrm xmlns:a="http://schemas.openxmlformats.org/drawingml/2006/main">
            <a:off x="762000" y="19240500"/>
            <a:ext cx="1238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650" b="1">
                <a:solidFill>
                  <a:srgbClr val="4B606D"/>
                </a:solidFill>
                <a:latin typeface="Arial"/>
                <a:ea typeface="Arial"/>
                <a:cs typeface="Arial"/>
              </a:defRPr>
            </a:defPPr>
          </a:lstStyle>
          <a:p xmlns:a="http://schemas.openxmlformats.org/drawingml/2006/main">
            <a:pPr>
              <a:defRPr sz="1650" b="1">
                <a:solidFill>
                  <a:srgbClr val="4B606D"/>
                </a:solidFill>
                <a:latin typeface="Arial"/>
                <a:ea typeface="Arial"/>
                <a:cs typeface="Arial"/>
              </a:defRPr>
            </a:pPr>
            <a:r>
              <a:rPr sz="1650" b="1">
                <a:solidFill>
                  <a:srgbClr val="4B606D"/>
                </a:solidFill>
                <a:latin typeface="Arial"/>
                <a:ea typeface="Arial"/>
                <a:cs typeface="Arial"/>
              </a:rPr>
              <a:t>Enzora web platform • 16 October 2026</a:t>
            </a:r>
          </a:p>
        </p:txBody>
      </p:sp>
      <p:sp>
        <p:nvSpPr>
          <p:cNvPr id="5" name="">
            <a:extLst xmlns:a="http://schemas.openxmlformats.org/drawingml/2006/main">
              <a:ext uri="{FF2B5EF4-FFF2-40B4-BE49-F238E27FC236}">
                <a16:creationId xmlns:a16="http://schemas.microsoft.com/office/drawing/2014/main" id="{8DBA121B-32BD-4B31-9E5B-E45F8928464E}"/>
              </a:ext>
            </a:extLst>
          </p:cNvPr>
          <p:cNvSpPr>
            <a:spLocks xmlns:a="http://schemas.openxmlformats.org/drawingml/2006/main" noGrp="1"/>
          </p:cNvSpPr>
          <p:nvPr/>
        </p:nvSpPr>
        <p:spPr>
          <a:xfrm xmlns:a="http://schemas.openxmlformats.org/drawingml/2006/main">
            <a:off x="13811250" y="19240500"/>
            <a:ext cx="762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00" b="1">
                <a:solidFill>
                  <a:srgbClr val="4B606D"/>
                </a:solidFill>
                <a:latin typeface="Arial"/>
                <a:ea typeface="Arial"/>
                <a:cs typeface="Arial"/>
              </a:defRPr>
            </a:defPPr>
          </a:lstStyle>
          <a:p xmlns:a="http://schemas.openxmlformats.org/drawingml/2006/main">
            <a:pPr>
              <a:defRPr sz="1800" b="1">
                <a:solidFill>
                  <a:srgbClr val="4B606D"/>
                </a:solidFill>
                <a:latin typeface="Arial"/>
                <a:ea typeface="Arial"/>
                <a:cs typeface="Arial"/>
              </a:defRPr>
            </a:pPr>
            <a:r>
              <a:rPr sz="1800" b="1">
                <a:solidFill>
                  <a:srgbClr val="4B606D"/>
                </a:solidFill>
                <a:latin typeface="Arial"/>
                <a:ea typeface="Arial"/>
                <a:cs typeface="Arial"/>
              </a:rPr>
              <a:t>3</a:t>
            </a:r>
          </a:p>
        </p:txBody>
      </p:sp>
      <p:sp>
        <p:nvSpPr>
          <p:cNvPr id="6" name="">
            <a:extLst xmlns:a="http://schemas.openxmlformats.org/drawingml/2006/main">
              <a:ext uri="{FF2B5EF4-FFF2-40B4-BE49-F238E27FC236}">
                <a16:creationId xmlns:a16="http://schemas.microsoft.com/office/drawing/2014/main" id="{9A667C29-B2A5-4EA7-9391-5E9B1B3453E7}"/>
              </a:ext>
            </a:extLst>
          </p:cNvPr>
          <p:cNvSpPr>
            <a:spLocks xmlns:a="http://schemas.openxmlformats.org/drawingml/2006/main" noGrp="1"/>
          </p:cNvSpPr>
          <p:nvPr/>
        </p:nvSpPr>
        <p:spPr>
          <a:xfrm xmlns:a="http://schemas.openxmlformats.org/drawingml/2006/main">
            <a:off x="762000" y="4095750"/>
            <a:ext cx="13716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925" b="1">
                <a:solidFill>
                  <a:srgbClr val="20333D"/>
                </a:solidFill>
                <a:latin typeface="Arial"/>
                <a:ea typeface="Arial"/>
                <a:cs typeface="Arial"/>
              </a:defRPr>
            </a:defPPr>
          </a:lstStyle>
          <a:p xmlns:a="http://schemas.openxmlformats.org/drawingml/2006/main">
            <a:pPr>
              <a:defRPr sz="2925" b="1">
                <a:solidFill>
                  <a:srgbClr val="20333D"/>
                </a:solidFill>
                <a:latin typeface="Arial"/>
                <a:ea typeface="Arial"/>
                <a:cs typeface="Arial"/>
              </a:defRPr>
            </a:pPr>
            <a:r>
              <a:rPr sz="2925" b="1">
                <a:solidFill>
                  <a:srgbClr val="20333D"/>
                </a:solidFill>
                <a:latin typeface="Arial"/>
                <a:ea typeface="Arial"/>
                <a:cs typeface="Arial"/>
              </a:rPr>
              <a:t>Open the production platform</a:t>
            </a:r>
          </a:p>
        </p:txBody>
      </p:sp>
      <p:sp>
        <p:nvSpPr>
          <p:cNvPr id="7" name="">
            <a:extLst xmlns:a="http://schemas.openxmlformats.org/drawingml/2006/main">
              <a:ext uri="{FF2B5EF4-FFF2-40B4-BE49-F238E27FC236}">
                <a16:creationId xmlns:a16="http://schemas.microsoft.com/office/drawing/2014/main" id="{02C9DE4C-3036-4D77-8ABF-146491FC6863}"/>
              </a:ext>
            </a:extLst>
          </p:cNvPr>
          <p:cNvSpPr>
            <a:spLocks xmlns:a="http://schemas.openxmlformats.org/drawingml/2006/main" noGrp="1"/>
          </p:cNvSpPr>
          <p:nvPr/>
        </p:nvSpPr>
        <p:spPr>
          <a:xfrm xmlns:a="http://schemas.openxmlformats.org/drawingml/2006/main">
            <a:off x="762000" y="4762500"/>
            <a:ext cx="13716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550" b="1">
                <a:solidFill>
                  <a:srgbClr val="4B606D"/>
                </a:solidFill>
                <a:latin typeface="Arial"/>
                <a:ea typeface="Arial"/>
                <a:cs typeface="Arial"/>
              </a:defRPr>
            </a:defPPr>
          </a:lstStyle>
          <a:p xmlns:a="http://schemas.openxmlformats.org/drawingml/2006/main">
            <a:pPr>
              <a:defRPr sz="2550" b="1">
                <a:solidFill>
                  <a:srgbClr val="4B606D"/>
                </a:solidFill>
                <a:latin typeface="Arial"/>
                <a:ea typeface="Arial"/>
                <a:cs typeface="Arial"/>
              </a:defRPr>
            </a:pPr>
            <a:r>
              <a:rPr sz="2550" b="1">
                <a:solidFill>
                  <a:srgbClr val="4B606D"/>
                </a:solidFill>
                <a:latin typeface="Arial"/>
                <a:ea typeface="Arial"/>
                <a:cs typeface="Arial"/>
              </a:rPr>
              <a:t>Visit enzora-agent.com. Enter the workspace access code when requested. The access code is separate from the MiniMax API credential.</a:t>
            </a:r>
          </a:p>
        </p:txBody>
      </p:sp>
      <p:sp>
        <p:nvSpPr>
          <p:cNvPr id="8" name="">
            <a:extLst xmlns:a="http://schemas.openxmlformats.org/drawingml/2006/main">
              <a:ext uri="{FF2B5EF4-FFF2-40B4-BE49-F238E27FC236}">
                <a16:creationId xmlns:a16="http://schemas.microsoft.com/office/drawing/2014/main" id="{8475BC6A-4803-4B4D-AA20-C0EBAB95F68A}"/>
              </a:ext>
            </a:extLst>
          </p:cNvPr>
          <p:cNvSpPr>
            <a:spLocks xmlns:a="http://schemas.openxmlformats.org/drawingml/2006/main" noGrp="1"/>
          </p:cNvSpPr>
          <p:nvPr/>
        </p:nvSpPr>
        <p:spPr>
          <a:xfrm xmlns:a="http://schemas.openxmlformats.org/drawingml/2006/main">
            <a:off x="762000" y="7048500"/>
            <a:ext cx="13716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925" b="1">
                <a:solidFill>
                  <a:srgbClr val="20333D"/>
                </a:solidFill>
                <a:latin typeface="Arial"/>
                <a:ea typeface="Arial"/>
                <a:cs typeface="Arial"/>
              </a:defRPr>
            </a:defPPr>
          </a:lstStyle>
          <a:p xmlns:a="http://schemas.openxmlformats.org/drawingml/2006/main">
            <a:pPr>
              <a:defRPr sz="2925" b="1">
                <a:solidFill>
                  <a:srgbClr val="20333D"/>
                </a:solidFill>
                <a:latin typeface="Arial"/>
                <a:ea typeface="Arial"/>
                <a:cs typeface="Arial"/>
              </a:defRPr>
            </a:pPr>
            <a:r>
              <a:rPr sz="2925" b="1">
                <a:solidFill>
                  <a:srgbClr val="20333D"/>
                </a:solidFill>
                <a:latin typeface="Arial"/>
                <a:ea typeface="Arial"/>
                <a:cs typeface="Arial"/>
              </a:rPr>
              <a:t>Try the interface before submitting a real job</a:t>
            </a:r>
          </a:p>
        </p:txBody>
      </p:sp>
      <p:sp>
        <p:nvSpPr>
          <p:cNvPr id="9" name="">
            <a:extLst xmlns:a="http://schemas.openxmlformats.org/drawingml/2006/main">
              <a:ext uri="{FF2B5EF4-FFF2-40B4-BE49-F238E27FC236}">
                <a16:creationId xmlns:a16="http://schemas.microsoft.com/office/drawing/2014/main" id="{8C2152E8-0058-4E1A-A76F-DEFA8CAE37A6}"/>
              </a:ext>
            </a:extLst>
          </p:cNvPr>
          <p:cNvSpPr>
            <a:spLocks xmlns:a="http://schemas.openxmlformats.org/drawingml/2006/main" noGrp="1"/>
          </p:cNvSpPr>
          <p:nvPr/>
        </p:nvSpPr>
        <p:spPr>
          <a:xfrm xmlns:a="http://schemas.openxmlformats.org/drawingml/2006/main">
            <a:off x="762000" y="7715250"/>
            <a:ext cx="13716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550" b="1">
                <a:solidFill>
                  <a:srgbClr val="4B606D"/>
                </a:solidFill>
                <a:latin typeface="Arial"/>
                <a:ea typeface="Arial"/>
                <a:cs typeface="Arial"/>
              </a:defRPr>
            </a:defPPr>
          </a:lstStyle>
          <a:p xmlns:a="http://schemas.openxmlformats.org/drawingml/2006/main">
            <a:pPr>
              <a:defRPr sz="2550" b="1">
                <a:solidFill>
                  <a:srgbClr val="4B606D"/>
                </a:solidFill>
                <a:latin typeface="Arial"/>
                <a:ea typeface="Arial"/>
                <a:cs typeface="Arial"/>
              </a:defRPr>
            </a:pPr>
            <a:r>
              <a:rPr sz="2550" b="1">
                <a:solidFill>
                  <a:srgbClr val="4B606D"/>
                </a:solidFill>
                <a:latin typeface="Arial"/>
                <a:ea typeface="Arial"/>
                <a:cs typeface="Arial"/>
              </a:rPr>
              <a:t>The Demo toggle runs local simulated data. Its fixed example is the project’s 544 aa carbonic anhydrase with CO2, entered as O=C=O. Demo predictions and its projection are simulated.</a:t>
            </a:r>
          </a:p>
        </p:txBody>
      </p:sp>
      <p:pic>
        <p:nvPicPr>
          <p:cNvPr id="10" name="">
            <a:extLst xmlns:a="http://schemas.openxmlformats.org/drawingml/2006/main">
              <a:ext uri="{FF2B5EF4-FFF2-40B4-BE49-F238E27FC236}">
                <a16:creationId xmlns:a16="http://schemas.microsoft.com/office/drawing/2014/main" id="{79B44DC0-1B8D-45DD-8340-F08D9707F4AA}"/>
              </a:ext>
            </a:extLst>
          </p:cNvPr>
          <p:cNvPicPr>
            <a:picLocks xmlns:a="http://schemas.openxmlformats.org/drawingml/2006/main" noChangeAspect="1"/>
          </p:cNvPicPr>
          <p:nvPr/>
        </p:nvPicPr>
        <p:blipFill>
          <a:blip xmlns:r="http://schemas.openxmlformats.org/officeDocument/2006/relationships" xmlns:a="http://schemas.openxmlformats.org/drawingml/2006/main" r:embed="Rf01ce9a951604dba"/>
          <a:stretch xmlns:a="http://schemas.openxmlformats.org/drawingml/2006/main"/>
        </p:blipFill>
        <p:spPr>
          <a:xfrm xmlns:a="http://schemas.openxmlformats.org/drawingml/2006/main">
            <a:off x="1447800" y="10477500"/>
            <a:ext cx="12344400" cy="7715250"/>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22B2CE5B-F540-4DF3-85CB-8C884CA49F17}"/>
              </a:ext>
            </a:extLst>
          </p:cNvPr>
          <p:cNvSpPr>
            <a:spLocks xmlns:a="http://schemas.openxmlformats.org/drawingml/2006/main" noGrp="1"/>
          </p:cNvSpPr>
          <p:nvPr/>
        </p:nvSpPr>
        <p:spPr>
          <a:xfrm xmlns:a="http://schemas.openxmlformats.org/drawingml/2006/main">
            <a:off x="762000" y="18383250"/>
            <a:ext cx="13716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250" b="1">
                <a:solidFill>
                  <a:srgbClr val="4B606D"/>
                </a:solidFill>
                <a:latin typeface="Arial"/>
                <a:ea typeface="Arial"/>
                <a:cs typeface="Arial"/>
              </a:defRPr>
            </a:defPPr>
          </a:lstStyle>
          <a:p xmlns:a="http://schemas.openxmlformats.org/drawingml/2006/main">
            <a:pPr>
              <a:defRPr sz="2250" b="1">
                <a:solidFill>
                  <a:srgbClr val="4B606D"/>
                </a:solidFill>
                <a:latin typeface="Arial"/>
                <a:ea typeface="Arial"/>
                <a:cs typeface="Arial"/>
              </a:defRPr>
            </a:pPr>
            <a:r>
              <a:rPr sz="2250" b="1">
                <a:solidFill>
                  <a:srgbClr val="4B606D"/>
                </a:solidFill>
                <a:latin typeface="Arial"/>
                <a:ea typeface="Arial"/>
                <a:cs typeface="Arial"/>
              </a:rPr>
              <a:t>Scrolling changes the view. It does not authorize a new computation.</a:t>
            </a:r>
          </a:p>
        </p:txBody>
      </p:sp>
    </p:spTree>
    <p:extLst>
      <p:ext uri="{BB962C8B-B14F-4D97-AF65-F5344CB8AC3E}">
        <p14:creationId xmlns:p14="http://schemas.microsoft.com/office/powerpoint/2010/main" val="555830071"/>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E92029F4-92A0-4D73-90A9-12E05993D709}"/>
              </a:ext>
            </a:extLst>
          </p:cNvPr>
          <p:cNvSpPr>
            <a:spLocks xmlns:a="http://schemas.openxmlformats.org/drawingml/2006/main" noGrp="1"/>
          </p:cNvSpPr>
          <p:nvPr/>
        </p:nvSpPr>
        <p:spPr>
          <a:xfrm xmlns:a="http://schemas.openxmlformats.org/drawingml/2006/main">
            <a:off x="762000" y="361950"/>
            <a:ext cx="13239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725" b="1">
                <a:solidFill>
                  <a:srgbClr val="4B606D"/>
                </a:solidFill>
                <a:latin typeface="Arial"/>
                <a:ea typeface="Arial"/>
                <a:cs typeface="Arial"/>
              </a:defRPr>
            </a:defPPr>
          </a:lstStyle>
          <a:p xmlns:a="http://schemas.openxmlformats.org/drawingml/2006/main">
            <a:pPr>
              <a:defRPr sz="1725" b="1">
                <a:solidFill>
                  <a:srgbClr val="4B606D"/>
                </a:solidFill>
                <a:latin typeface="Arial"/>
                <a:ea typeface="Arial"/>
                <a:cs typeface="Arial"/>
              </a:defRPr>
            </a:pPr>
            <a:r>
              <a:rPr sz="1725" b="1">
                <a:solidFill>
                  <a:srgbClr val="4B606D"/>
                </a:solidFill>
                <a:latin typeface="Arial"/>
                <a:ea typeface="Arial"/>
                <a:cs typeface="Arial"/>
              </a:rPr>
              <a:t>ENZORA  /  USER GUIDE</a:t>
            </a:r>
          </a:p>
        </p:txBody>
      </p:sp>
      <p:sp>
        <p:nvSpPr>
          <p:cNvPr id="2" name="">
            <a:extLst xmlns:a="http://schemas.openxmlformats.org/drawingml/2006/main">
              <a:ext uri="{FF2B5EF4-FFF2-40B4-BE49-F238E27FC236}">
                <a16:creationId xmlns:a16="http://schemas.microsoft.com/office/drawing/2014/main" id="{4EC459C4-EC81-41C3-8106-D4E5163B7ECF}"/>
              </a:ext>
            </a:extLst>
          </p:cNvPr>
          <p:cNvSpPr>
            <a:spLocks xmlns:a="http://schemas.openxmlformats.org/drawingml/2006/main" noGrp="1"/>
          </p:cNvSpPr>
          <p:nvPr/>
        </p:nvSpPr>
        <p:spPr>
          <a:xfrm xmlns:a="http://schemas.openxmlformats.org/drawingml/2006/main">
            <a:off x="762000" y="952500"/>
            <a:ext cx="13716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4875" b="1">
                <a:solidFill>
                  <a:srgbClr val="20333D"/>
                </a:solidFill>
                <a:latin typeface="Arial"/>
                <a:ea typeface="Arial"/>
                <a:cs typeface="Arial"/>
              </a:defRPr>
            </a:defPPr>
          </a:lstStyle>
          <a:p xmlns:a="http://schemas.openxmlformats.org/drawingml/2006/main">
            <a:pPr>
              <a:defRPr sz="4875" b="1">
                <a:solidFill>
                  <a:srgbClr val="20333D"/>
                </a:solidFill>
                <a:latin typeface="Arial"/>
                <a:ea typeface="Arial"/>
                <a:cs typeface="Arial"/>
              </a:defRPr>
            </a:pPr>
            <a:r>
              <a:rPr sz="4875" b="1">
                <a:solidFill>
                  <a:srgbClr val="20333D"/>
                </a:solidFill>
                <a:latin typeface="Arial"/>
                <a:ea typeface="Arial"/>
                <a:cs typeface="Arial"/>
              </a:rPr>
              <a:t>3. Enzyme and substrate inputs</a:t>
            </a:r>
          </a:p>
        </p:txBody>
      </p:sp>
      <p:sp>
        <p:nvSpPr>
          <p:cNvPr id="3" name="">
            <a:extLst xmlns:a="http://schemas.openxmlformats.org/drawingml/2006/main">
              <a:ext uri="{FF2B5EF4-FFF2-40B4-BE49-F238E27FC236}">
                <a16:creationId xmlns:a16="http://schemas.microsoft.com/office/drawing/2014/main" id="{8B4041FE-C9B2-412C-932C-17EC5D525AD5}"/>
              </a:ext>
            </a:extLst>
          </p:cNvPr>
          <p:cNvSpPr>
            <a:spLocks xmlns:a="http://schemas.openxmlformats.org/drawingml/2006/main" noGrp="1"/>
          </p:cNvSpPr>
          <p:nvPr/>
        </p:nvSpPr>
        <p:spPr>
          <a:xfrm xmlns:a="http://schemas.openxmlformats.org/drawingml/2006/main">
            <a:off x="762000" y="2524125"/>
            <a:ext cx="13716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550" b="1">
                <a:solidFill>
                  <a:srgbClr val="4B606D"/>
                </a:solidFill>
                <a:latin typeface="Arial"/>
                <a:ea typeface="Arial"/>
                <a:cs typeface="Arial"/>
              </a:defRPr>
            </a:defPPr>
          </a:lstStyle>
          <a:p xmlns:a="http://schemas.openxmlformats.org/drawingml/2006/main">
            <a:pPr>
              <a:defRPr sz="2550" b="1">
                <a:solidFill>
                  <a:srgbClr val="4B606D"/>
                </a:solidFill>
                <a:latin typeface="Arial"/>
                <a:ea typeface="Arial"/>
                <a:cs typeface="Arial"/>
              </a:defRPr>
            </a:pPr>
            <a:r>
              <a:rPr sz="2550" b="1">
                <a:solidFill>
                  <a:srgbClr val="4B606D"/>
                </a:solidFill>
                <a:latin typeface="Arial"/>
                <a:ea typeface="Arial"/>
                <a:cs typeface="Arial"/>
              </a:rPr>
              <a:t>Check the protein identity before starting a run</a:t>
            </a:r>
          </a:p>
        </p:txBody>
      </p:sp>
      <p:sp>
        <p:nvSpPr>
          <p:cNvPr id="4" name="">
            <a:extLst xmlns:a="http://schemas.openxmlformats.org/drawingml/2006/main">
              <a:ext uri="{FF2B5EF4-FFF2-40B4-BE49-F238E27FC236}">
                <a16:creationId xmlns:a16="http://schemas.microsoft.com/office/drawing/2014/main" id="{2F73B47E-55DD-4199-A53D-6E428F9423CE}"/>
              </a:ext>
            </a:extLst>
          </p:cNvPr>
          <p:cNvSpPr>
            <a:spLocks xmlns:a="http://schemas.openxmlformats.org/drawingml/2006/main" noGrp="1"/>
          </p:cNvSpPr>
          <p:nvPr/>
        </p:nvSpPr>
        <p:spPr>
          <a:xfrm xmlns:a="http://schemas.openxmlformats.org/drawingml/2006/main">
            <a:off x="762000" y="19240500"/>
            <a:ext cx="1238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650" b="1">
                <a:solidFill>
                  <a:srgbClr val="4B606D"/>
                </a:solidFill>
                <a:latin typeface="Arial"/>
                <a:ea typeface="Arial"/>
                <a:cs typeface="Arial"/>
              </a:defRPr>
            </a:defPPr>
          </a:lstStyle>
          <a:p xmlns:a="http://schemas.openxmlformats.org/drawingml/2006/main">
            <a:pPr>
              <a:defRPr sz="1650" b="1">
                <a:solidFill>
                  <a:srgbClr val="4B606D"/>
                </a:solidFill>
                <a:latin typeface="Arial"/>
                <a:ea typeface="Arial"/>
                <a:cs typeface="Arial"/>
              </a:defRPr>
            </a:pPr>
            <a:r>
              <a:rPr sz="1650" b="1">
                <a:solidFill>
                  <a:srgbClr val="4B606D"/>
                </a:solidFill>
                <a:latin typeface="Arial"/>
                <a:ea typeface="Arial"/>
                <a:cs typeface="Arial"/>
              </a:rPr>
              <a:t>Enzora web platform • 16 October 2026</a:t>
            </a:r>
          </a:p>
        </p:txBody>
      </p:sp>
      <p:sp>
        <p:nvSpPr>
          <p:cNvPr id="5" name="">
            <a:extLst xmlns:a="http://schemas.openxmlformats.org/drawingml/2006/main">
              <a:ext uri="{FF2B5EF4-FFF2-40B4-BE49-F238E27FC236}">
                <a16:creationId xmlns:a16="http://schemas.microsoft.com/office/drawing/2014/main" id="{448E0366-5749-48D1-A77C-B205C8467FB4}"/>
              </a:ext>
            </a:extLst>
          </p:cNvPr>
          <p:cNvSpPr>
            <a:spLocks xmlns:a="http://schemas.openxmlformats.org/drawingml/2006/main" noGrp="1"/>
          </p:cNvSpPr>
          <p:nvPr/>
        </p:nvSpPr>
        <p:spPr>
          <a:xfrm xmlns:a="http://schemas.openxmlformats.org/drawingml/2006/main">
            <a:off x="13811250" y="19240500"/>
            <a:ext cx="762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00" b="1">
                <a:solidFill>
                  <a:srgbClr val="4B606D"/>
                </a:solidFill>
                <a:latin typeface="Arial"/>
                <a:ea typeface="Arial"/>
                <a:cs typeface="Arial"/>
              </a:defRPr>
            </a:defPPr>
          </a:lstStyle>
          <a:p xmlns:a="http://schemas.openxmlformats.org/drawingml/2006/main">
            <a:pPr>
              <a:defRPr sz="1800" b="1">
                <a:solidFill>
                  <a:srgbClr val="4B606D"/>
                </a:solidFill>
                <a:latin typeface="Arial"/>
                <a:ea typeface="Arial"/>
                <a:cs typeface="Arial"/>
              </a:defRPr>
            </a:pPr>
            <a:r>
              <a:rPr sz="1800" b="1">
                <a:solidFill>
                  <a:srgbClr val="4B606D"/>
                </a:solidFill>
                <a:latin typeface="Arial"/>
                <a:ea typeface="Arial"/>
                <a:cs typeface="Arial"/>
              </a:rPr>
              <a:t>4</a:t>
            </a:r>
          </a:p>
        </p:txBody>
      </p:sp>
      <p:sp>
        <p:nvSpPr>
          <p:cNvPr id="6" name="">
            <a:extLst xmlns:a="http://schemas.openxmlformats.org/drawingml/2006/main">
              <a:ext uri="{FF2B5EF4-FFF2-40B4-BE49-F238E27FC236}">
                <a16:creationId xmlns:a16="http://schemas.microsoft.com/office/drawing/2014/main" id="{CAA241AB-BCA1-4B1B-B28B-2628281207A6}"/>
              </a:ext>
            </a:extLst>
          </p:cNvPr>
          <p:cNvSpPr>
            <a:spLocks xmlns:a="http://schemas.openxmlformats.org/drawingml/2006/main" noGrp="1"/>
          </p:cNvSpPr>
          <p:nvPr/>
        </p:nvSpPr>
        <p:spPr>
          <a:xfrm xmlns:a="http://schemas.openxmlformats.org/drawingml/2006/main">
            <a:off x="762000" y="4095750"/>
            <a:ext cx="13716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925" b="1">
                <a:solidFill>
                  <a:srgbClr val="20333D"/>
                </a:solidFill>
                <a:latin typeface="Arial"/>
                <a:ea typeface="Arial"/>
                <a:cs typeface="Arial"/>
              </a:defRPr>
            </a:defPPr>
          </a:lstStyle>
          <a:p xmlns:a="http://schemas.openxmlformats.org/drawingml/2006/main">
            <a:pPr>
              <a:defRPr sz="2925" b="1">
                <a:solidFill>
                  <a:srgbClr val="20333D"/>
                </a:solidFill>
                <a:latin typeface="Arial"/>
                <a:ea typeface="Arial"/>
                <a:cs typeface="Arial"/>
              </a:defRPr>
            </a:pPr>
            <a:r>
              <a:rPr sz="2925" b="1">
                <a:solidFill>
                  <a:srgbClr val="20333D"/>
                </a:solidFill>
                <a:latin typeface="Arial"/>
                <a:ea typeface="Arial"/>
                <a:cs typeface="Arial"/>
              </a:rPr>
              <a:t>Protein sequence</a:t>
            </a:r>
          </a:p>
        </p:txBody>
      </p:sp>
      <p:sp>
        <p:nvSpPr>
          <p:cNvPr id="7" name="">
            <a:extLst xmlns:a="http://schemas.openxmlformats.org/drawingml/2006/main">
              <a:ext uri="{FF2B5EF4-FFF2-40B4-BE49-F238E27FC236}">
                <a16:creationId xmlns:a16="http://schemas.microsoft.com/office/drawing/2014/main" id="{8AD0D16E-C1AE-4D60-ABE2-E4A57B01ADAC}"/>
              </a:ext>
            </a:extLst>
          </p:cNvPr>
          <p:cNvSpPr>
            <a:spLocks xmlns:a="http://schemas.openxmlformats.org/drawingml/2006/main" noGrp="1"/>
          </p:cNvSpPr>
          <p:nvPr/>
        </p:nvSpPr>
        <p:spPr>
          <a:xfrm xmlns:a="http://schemas.openxmlformats.org/drawingml/2006/main">
            <a:off x="762000" y="4762500"/>
            <a:ext cx="13716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550" b="1">
                <a:solidFill>
                  <a:srgbClr val="4B606D"/>
                </a:solidFill>
                <a:latin typeface="Arial"/>
                <a:ea typeface="Arial"/>
                <a:cs typeface="Arial"/>
              </a:defRPr>
            </a:defPPr>
          </a:lstStyle>
          <a:p xmlns:a="http://schemas.openxmlformats.org/drawingml/2006/main">
            <a:pPr>
              <a:defRPr sz="2550" b="1">
                <a:solidFill>
                  <a:srgbClr val="4B606D"/>
                </a:solidFill>
                <a:latin typeface="Arial"/>
                <a:ea typeface="Arial"/>
                <a:cs typeface="Arial"/>
              </a:defRPr>
            </a:pPr>
            <a:r>
              <a:rPr sz="2550" b="1">
                <a:solidFill>
                  <a:srgbClr val="4B606D"/>
                </a:solidFill>
                <a:latin typeface="Arial"/>
                <a:ea typeface="Arial"/>
                <a:cs typeface="Arial"/>
              </a:rPr>
              <a:t>Paste a canonical amino-acid sequence or use FASTA / DNA / Database import. The joint workflow accepts 1–1,000 residues. Translate DNA/RNA and confirm the protein before submission.</a:t>
            </a:r>
          </a:p>
        </p:txBody>
      </p:sp>
      <p:sp>
        <p:nvSpPr>
          <p:cNvPr id="8" name="">
            <a:extLst xmlns:a="http://schemas.openxmlformats.org/drawingml/2006/main">
              <a:ext uri="{FF2B5EF4-FFF2-40B4-BE49-F238E27FC236}">
                <a16:creationId xmlns:a16="http://schemas.microsoft.com/office/drawing/2014/main" id="{F08B4677-DA8F-4B0D-AE55-C411995B8737}"/>
              </a:ext>
            </a:extLst>
          </p:cNvPr>
          <p:cNvSpPr>
            <a:spLocks xmlns:a="http://schemas.openxmlformats.org/drawingml/2006/main" noGrp="1"/>
          </p:cNvSpPr>
          <p:nvPr/>
        </p:nvSpPr>
        <p:spPr>
          <a:xfrm xmlns:a="http://schemas.openxmlformats.org/drawingml/2006/main">
            <a:off x="762000" y="7334250"/>
            <a:ext cx="13716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925" b="1">
                <a:solidFill>
                  <a:srgbClr val="20333D"/>
                </a:solidFill>
                <a:latin typeface="Arial"/>
                <a:ea typeface="Arial"/>
                <a:cs typeface="Arial"/>
              </a:defRPr>
            </a:defPPr>
          </a:lstStyle>
          <a:p xmlns:a="http://schemas.openxmlformats.org/drawingml/2006/main">
            <a:pPr>
              <a:defRPr sz="2925" b="1">
                <a:solidFill>
                  <a:srgbClr val="20333D"/>
                </a:solidFill>
                <a:latin typeface="Arial"/>
                <a:ea typeface="Arial"/>
                <a:cs typeface="Arial"/>
              </a:defRPr>
            </a:pPr>
            <a:r>
              <a:rPr sz="2925" b="1">
                <a:solidFill>
                  <a:srgbClr val="20333D"/>
                </a:solidFill>
                <a:latin typeface="Arial"/>
                <a:ea typeface="Arial"/>
                <a:cs typeface="Arial"/>
              </a:rPr>
              <a:t>Substrate SMILES</a:t>
            </a:r>
          </a:p>
        </p:txBody>
      </p:sp>
      <p:sp>
        <p:nvSpPr>
          <p:cNvPr id="9" name="">
            <a:extLst xmlns:a="http://schemas.openxmlformats.org/drawingml/2006/main">
              <a:ext uri="{FF2B5EF4-FFF2-40B4-BE49-F238E27FC236}">
                <a16:creationId xmlns:a16="http://schemas.microsoft.com/office/drawing/2014/main" id="{B8C6473C-795C-4C21-8A40-8AC46F3C847C}"/>
              </a:ext>
            </a:extLst>
          </p:cNvPr>
          <p:cNvSpPr>
            <a:spLocks xmlns:a="http://schemas.openxmlformats.org/drawingml/2006/main" noGrp="1"/>
          </p:cNvSpPr>
          <p:nvPr/>
        </p:nvSpPr>
        <p:spPr>
          <a:xfrm xmlns:a="http://schemas.openxmlformats.org/drawingml/2006/main">
            <a:off x="762000" y="8001000"/>
            <a:ext cx="13716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550" b="1">
                <a:solidFill>
                  <a:srgbClr val="4B606D"/>
                </a:solidFill>
                <a:latin typeface="Arial"/>
                <a:ea typeface="Arial"/>
                <a:cs typeface="Arial"/>
              </a:defRPr>
            </a:defPPr>
          </a:lstStyle>
          <a:p xmlns:a="http://schemas.openxmlformats.org/drawingml/2006/main">
            <a:pPr>
              <a:defRPr sz="2550" b="1">
                <a:solidFill>
                  <a:srgbClr val="4B606D"/>
                </a:solidFill>
                <a:latin typeface="Arial"/>
                <a:ea typeface="Arial"/>
                <a:cs typeface="Arial"/>
              </a:defRPr>
            </a:pPr>
            <a:r>
              <a:rPr sz="2550" b="1">
                <a:solidFill>
                  <a:srgbClr val="4B606D"/>
                </a:solidFill>
                <a:latin typeface="Arial"/>
                <a:ea typeface="Arial"/>
                <a:cs typeface="Arial"/>
              </a:rPr>
              <a:t>Phenom needs an enzyme–substrate pair. For the carbonic anhydrase example, carbon dioxide is O=C=O. A pH target alone does not replace the substrate.</a:t>
            </a:r>
          </a:p>
        </p:txBody>
      </p:sp>
      <p:sp>
        <p:nvSpPr>
          <p:cNvPr id="10" name="">
            <a:extLst xmlns:a="http://schemas.openxmlformats.org/drawingml/2006/main">
              <a:ext uri="{FF2B5EF4-FFF2-40B4-BE49-F238E27FC236}">
                <a16:creationId xmlns:a16="http://schemas.microsoft.com/office/drawing/2014/main" id="{FDEF5FB9-4138-4CDA-BAA0-FEAD9AE2534C}"/>
              </a:ext>
            </a:extLst>
          </p:cNvPr>
          <p:cNvSpPr>
            <a:spLocks xmlns:a="http://schemas.openxmlformats.org/drawingml/2006/main" noGrp="1"/>
          </p:cNvSpPr>
          <p:nvPr/>
        </p:nvSpPr>
        <p:spPr>
          <a:xfrm xmlns:a="http://schemas.openxmlformats.org/drawingml/2006/main">
            <a:off x="762000" y="10572750"/>
            <a:ext cx="13716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925" b="1">
                <a:solidFill>
                  <a:srgbClr val="20333D"/>
                </a:solidFill>
                <a:latin typeface="Arial"/>
                <a:ea typeface="Arial"/>
                <a:cs typeface="Arial"/>
              </a:defRPr>
            </a:defPPr>
          </a:lstStyle>
          <a:p xmlns:a="http://schemas.openxmlformats.org/drawingml/2006/main">
            <a:pPr>
              <a:defRPr sz="2925" b="1">
                <a:solidFill>
                  <a:srgbClr val="20333D"/>
                </a:solidFill>
                <a:latin typeface="Arial"/>
                <a:ea typeface="Arial"/>
                <a:cs typeface="Arial"/>
              </a:defRPr>
            </a:pPr>
            <a:r>
              <a:rPr sz="2925" b="1">
                <a:solidFill>
                  <a:srgbClr val="20333D"/>
                </a:solidFill>
                <a:latin typeface="Arial"/>
                <a:ea typeface="Arial"/>
                <a:cs typeface="Arial"/>
              </a:rPr>
              <a:t>Files and the unified object</a:t>
            </a:r>
          </a:p>
        </p:txBody>
      </p:sp>
      <p:sp>
        <p:nvSpPr>
          <p:cNvPr id="11" name="">
            <a:extLst xmlns:a="http://schemas.openxmlformats.org/drawingml/2006/main">
              <a:ext uri="{FF2B5EF4-FFF2-40B4-BE49-F238E27FC236}">
                <a16:creationId xmlns:a16="http://schemas.microsoft.com/office/drawing/2014/main" id="{A91B09BB-B3D8-4F99-AEBA-8FD181CC78F6}"/>
              </a:ext>
            </a:extLst>
          </p:cNvPr>
          <p:cNvSpPr>
            <a:spLocks xmlns:a="http://schemas.openxmlformats.org/drawingml/2006/main" noGrp="1"/>
          </p:cNvSpPr>
          <p:nvPr/>
        </p:nvSpPr>
        <p:spPr>
          <a:xfrm xmlns:a="http://schemas.openxmlformats.org/drawingml/2006/main">
            <a:off x="762000" y="11239500"/>
            <a:ext cx="13716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550" b="1">
                <a:solidFill>
                  <a:srgbClr val="4B606D"/>
                </a:solidFill>
                <a:latin typeface="Arial"/>
                <a:ea typeface="Arial"/>
                <a:cs typeface="Arial"/>
              </a:defRPr>
            </a:defPPr>
          </a:lstStyle>
          <a:p xmlns:a="http://schemas.openxmlformats.org/drawingml/2006/main">
            <a:pPr>
              <a:defRPr sz="2550" b="1">
                <a:solidFill>
                  <a:srgbClr val="4B606D"/>
                </a:solidFill>
                <a:latin typeface="Arial"/>
                <a:ea typeface="Arial"/>
                <a:cs typeface="Arial"/>
              </a:defRPr>
            </a:pPr>
            <a:r>
              <a:rPr sz="2550" b="1">
                <a:solidFill>
                  <a:srgbClr val="4B606D"/>
                </a:solidFill>
                <a:latin typeface="Arial"/>
                <a:ea typeface="Arial"/>
                <a:cs typeface="Arial"/>
              </a:rPr>
              <a:t>The import route accepts FASTA, CSV, BioArtifact JSON, GenBank and sequence-bearing SBOL. Review the parsed records and choose the intended protein. The file-entry limit is 100 records.</a:t>
            </a:r>
          </a:p>
        </p:txBody>
      </p:sp>
      <p:sp>
        <p:nvSpPr>
          <p:cNvPr id="12" name="">
            <a:extLst xmlns:a="http://schemas.openxmlformats.org/drawingml/2006/main">
              <a:ext uri="{FF2B5EF4-FFF2-40B4-BE49-F238E27FC236}">
                <a16:creationId xmlns:a16="http://schemas.microsoft.com/office/drawing/2014/main" id="{14933887-B2D4-4A0A-A001-9686EC1FE006}"/>
              </a:ext>
            </a:extLst>
          </p:cNvPr>
          <p:cNvSpPr>
            <a:spLocks xmlns:a="http://schemas.openxmlformats.org/drawingml/2006/main" noGrp="1"/>
          </p:cNvSpPr>
          <p:nvPr/>
        </p:nvSpPr>
        <p:spPr>
          <a:xfrm xmlns:a="http://schemas.openxmlformats.org/drawingml/2006/main">
            <a:off x="762000" y="13811250"/>
            <a:ext cx="13716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925" b="1">
                <a:solidFill>
                  <a:srgbClr val="20333D"/>
                </a:solidFill>
                <a:latin typeface="Arial"/>
                <a:ea typeface="Arial"/>
                <a:cs typeface="Arial"/>
              </a:defRPr>
            </a:defPPr>
          </a:lstStyle>
          <a:p xmlns:a="http://schemas.openxmlformats.org/drawingml/2006/main">
            <a:pPr>
              <a:defRPr sz="2925" b="1">
                <a:solidFill>
                  <a:srgbClr val="20333D"/>
                </a:solidFill>
                <a:latin typeface="Arial"/>
                <a:ea typeface="Arial"/>
                <a:cs typeface="Arial"/>
              </a:defRPr>
            </a:pPr>
            <a:r>
              <a:rPr sz="2925" b="1">
                <a:solidFill>
                  <a:srgbClr val="20333D"/>
                </a:solidFill>
                <a:latin typeface="Arial"/>
                <a:ea typeface="Arial"/>
                <a:cs typeface="Arial"/>
              </a:rPr>
              <a:t>Structure correspondence</a:t>
            </a:r>
          </a:p>
        </p:txBody>
      </p:sp>
      <p:sp>
        <p:nvSpPr>
          <p:cNvPr id="13" name="">
            <a:extLst xmlns:a="http://schemas.openxmlformats.org/drawingml/2006/main">
              <a:ext uri="{FF2B5EF4-FFF2-40B4-BE49-F238E27FC236}">
                <a16:creationId xmlns:a16="http://schemas.microsoft.com/office/drawing/2014/main" id="{7A6EE96C-5F7E-4906-8FD7-20A032A32211}"/>
              </a:ext>
            </a:extLst>
          </p:cNvPr>
          <p:cNvSpPr>
            <a:spLocks xmlns:a="http://schemas.openxmlformats.org/drawingml/2006/main" noGrp="1"/>
          </p:cNvSpPr>
          <p:nvPr/>
        </p:nvSpPr>
        <p:spPr>
          <a:xfrm xmlns:a="http://schemas.openxmlformats.org/drawingml/2006/main">
            <a:off x="762000" y="14478000"/>
            <a:ext cx="13716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550" b="1">
                <a:solidFill>
                  <a:srgbClr val="4B606D"/>
                </a:solidFill>
                <a:latin typeface="Arial"/>
                <a:ea typeface="Arial"/>
                <a:cs typeface="Arial"/>
              </a:defRPr>
            </a:defPPr>
          </a:lstStyle>
          <a:p xmlns:a="http://schemas.openxmlformats.org/drawingml/2006/main">
            <a:pPr>
              <a:defRPr sz="2550" b="1">
                <a:solidFill>
                  <a:srgbClr val="4B606D"/>
                </a:solidFill>
                <a:latin typeface="Arial"/>
                <a:ea typeface="Arial"/>
                <a:cs typeface="Arial"/>
              </a:defRPr>
            </a:pPr>
            <a:r>
              <a:rPr sz="2550" b="1">
                <a:solidFill>
                  <a:srgbClr val="4B606D"/>
                </a:solidFill>
                <a:latin typeface="Arial"/>
                <a:ea typeface="Arial"/>
                <a:cs typeface="Arial"/>
              </a:rPr>
              <a:t>The inverse-folding path needs the configured structure and chain to match the WT. Use a matching structure or ask the administrator to verify the mapping before a new enzyme is run.</a:t>
            </a:r>
          </a:p>
        </p:txBody>
      </p:sp>
      <p:sp>
        <p:nvSpPr>
          <p:cNvPr id="14" name="">
            <a:extLst xmlns:a="http://schemas.openxmlformats.org/drawingml/2006/main">
              <a:ext uri="{FF2B5EF4-FFF2-40B4-BE49-F238E27FC236}">
                <a16:creationId xmlns:a16="http://schemas.microsoft.com/office/drawing/2014/main" id="{31EF4DED-D1A2-4143-9DF2-FFCE1303C0C0}"/>
              </a:ext>
            </a:extLst>
          </p:cNvPr>
          <p:cNvSpPr>
            <a:spLocks xmlns:a="http://schemas.openxmlformats.org/drawingml/2006/main" noGrp="1"/>
          </p:cNvSpPr>
          <p:nvPr/>
        </p:nvSpPr>
        <p:spPr>
          <a:xfrm xmlns:a="http://schemas.openxmlformats.org/drawingml/2006/main">
            <a:off x="762000" y="17335500"/>
            <a:ext cx="13716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625" b="1">
                <a:solidFill>
                  <a:srgbClr val="20333D"/>
                </a:solidFill>
                <a:latin typeface="Arial"/>
                <a:ea typeface="Arial"/>
                <a:cs typeface="Arial"/>
              </a:defRPr>
            </a:defPPr>
          </a:lstStyle>
          <a:p xmlns:a="http://schemas.openxmlformats.org/drawingml/2006/main">
            <a:pPr>
              <a:defRPr sz="2625" b="1">
                <a:solidFill>
                  <a:srgbClr val="20333D"/>
                </a:solidFill>
                <a:latin typeface="Arial"/>
                <a:ea typeface="Arial"/>
                <a:cs typeface="Arial"/>
              </a:defRPr>
            </a:pPr>
            <a:r>
              <a:rPr sz="2625" b="1">
                <a:solidFill>
                  <a:srgbClr val="20333D"/>
                </a:solidFill>
                <a:latin typeface="Arial"/>
                <a:ea typeface="Arial"/>
                <a:cs typeface="Arial"/>
              </a:rPr>
              <a:t>Keep the original protein identifier. It links mutations, model predictions and exported files.</a:t>
            </a:r>
          </a:p>
        </p:txBody>
      </p:sp>
    </p:spTree>
    <p:extLst>
      <p:ext uri="{BB962C8B-B14F-4D97-AF65-F5344CB8AC3E}">
        <p14:creationId xmlns:p14="http://schemas.microsoft.com/office/powerpoint/2010/main" val="881511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1A9A75D-2F84-465F-8D86-8169CA984946}"/>
              </a:ext>
            </a:extLst>
          </p:cNvPr>
          <p:cNvSpPr>
            <a:spLocks xmlns:a="http://schemas.openxmlformats.org/drawingml/2006/main" noGrp="1"/>
          </p:cNvSpPr>
          <p:nvPr/>
        </p:nvSpPr>
        <p:spPr>
          <a:xfrm xmlns:a="http://schemas.openxmlformats.org/drawingml/2006/main">
            <a:off x="762000" y="361950"/>
            <a:ext cx="13239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725" b="1">
                <a:solidFill>
                  <a:srgbClr val="4B606D"/>
                </a:solidFill>
                <a:latin typeface="Arial"/>
                <a:ea typeface="Arial"/>
                <a:cs typeface="Arial"/>
              </a:defRPr>
            </a:defPPr>
          </a:lstStyle>
          <a:p xmlns:a="http://schemas.openxmlformats.org/drawingml/2006/main">
            <a:pPr>
              <a:defRPr sz="1725" b="1">
                <a:solidFill>
                  <a:srgbClr val="4B606D"/>
                </a:solidFill>
                <a:latin typeface="Arial"/>
                <a:ea typeface="Arial"/>
                <a:cs typeface="Arial"/>
              </a:defRPr>
            </a:pPr>
            <a:r>
              <a:rPr sz="1725" b="1">
                <a:solidFill>
                  <a:srgbClr val="4B606D"/>
                </a:solidFill>
                <a:latin typeface="Arial"/>
                <a:ea typeface="Arial"/>
                <a:cs typeface="Arial"/>
              </a:rPr>
              <a:t>ENZORA  /  USER GUIDE</a:t>
            </a:r>
          </a:p>
        </p:txBody>
      </p:sp>
      <p:sp>
        <p:nvSpPr>
          <p:cNvPr id="2" name="">
            <a:extLst xmlns:a="http://schemas.openxmlformats.org/drawingml/2006/main">
              <a:ext uri="{FF2B5EF4-FFF2-40B4-BE49-F238E27FC236}">
                <a16:creationId xmlns:a16="http://schemas.microsoft.com/office/drawing/2014/main" id="{389B93E7-2A5D-4044-9EF7-2F228E317019}"/>
              </a:ext>
            </a:extLst>
          </p:cNvPr>
          <p:cNvSpPr>
            <a:spLocks xmlns:a="http://schemas.openxmlformats.org/drawingml/2006/main" noGrp="1"/>
          </p:cNvSpPr>
          <p:nvPr/>
        </p:nvSpPr>
        <p:spPr>
          <a:xfrm xmlns:a="http://schemas.openxmlformats.org/drawingml/2006/main">
            <a:off x="762000" y="952500"/>
            <a:ext cx="13716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4875" b="1">
                <a:solidFill>
                  <a:srgbClr val="20333D"/>
                </a:solidFill>
                <a:latin typeface="Arial"/>
                <a:ea typeface="Arial"/>
                <a:cs typeface="Arial"/>
              </a:defRPr>
            </a:defPPr>
          </a:lstStyle>
          <a:p xmlns:a="http://schemas.openxmlformats.org/drawingml/2006/main">
            <a:pPr>
              <a:defRPr sz="4875" b="1">
                <a:solidFill>
                  <a:srgbClr val="20333D"/>
                </a:solidFill>
                <a:latin typeface="Arial"/>
                <a:ea typeface="Arial"/>
                <a:cs typeface="Arial"/>
              </a:defRPr>
            </a:pPr>
            <a:r>
              <a:rPr sz="4875" b="1">
                <a:solidFill>
                  <a:srgbClr val="20333D"/>
                </a:solidFill>
                <a:latin typeface="Arial"/>
                <a:ea typeface="Arial"/>
                <a:cs typeface="Arial"/>
              </a:rPr>
              <a:t>4. Library settings</a:t>
            </a:r>
          </a:p>
        </p:txBody>
      </p:sp>
      <p:sp>
        <p:nvSpPr>
          <p:cNvPr id="3" name="">
            <a:extLst xmlns:a="http://schemas.openxmlformats.org/drawingml/2006/main">
              <a:ext uri="{FF2B5EF4-FFF2-40B4-BE49-F238E27FC236}">
                <a16:creationId xmlns:a16="http://schemas.microsoft.com/office/drawing/2014/main" id="{AF47FA36-88FD-48F1-963B-3D9664BB08D8}"/>
              </a:ext>
            </a:extLst>
          </p:cNvPr>
          <p:cNvSpPr>
            <a:spLocks xmlns:a="http://schemas.openxmlformats.org/drawingml/2006/main" noGrp="1"/>
          </p:cNvSpPr>
          <p:nvPr/>
        </p:nvSpPr>
        <p:spPr>
          <a:xfrm xmlns:a="http://schemas.openxmlformats.org/drawingml/2006/main">
            <a:off x="762000" y="2524125"/>
            <a:ext cx="13716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550" b="1">
                <a:solidFill>
                  <a:srgbClr val="4B606D"/>
                </a:solidFill>
                <a:latin typeface="Arial"/>
                <a:ea typeface="Arial"/>
                <a:cs typeface="Arial"/>
              </a:defRPr>
            </a:defPPr>
          </a:lstStyle>
          <a:p xmlns:a="http://schemas.openxmlformats.org/drawingml/2006/main">
            <a:pPr>
              <a:defRPr sz="2550" b="1">
                <a:solidFill>
                  <a:srgbClr val="4B606D"/>
                </a:solidFill>
                <a:latin typeface="Arial"/>
                <a:ea typeface="Arial"/>
                <a:cs typeface="Arial"/>
              </a:defRPr>
            </a:pPr>
            <a:r>
              <a:rPr sz="2550" b="1">
                <a:solidFill>
                  <a:srgbClr val="4B606D"/>
                </a:solidFill>
                <a:latin typeface="Arial"/>
                <a:ea typeface="Arial"/>
                <a:cs typeface="Arial"/>
              </a:rPr>
              <a:t>The budget controls how many unique variants enter screening</a:t>
            </a:r>
          </a:p>
        </p:txBody>
      </p:sp>
      <p:sp>
        <p:nvSpPr>
          <p:cNvPr id="4" name="">
            <a:extLst xmlns:a="http://schemas.openxmlformats.org/drawingml/2006/main">
              <a:ext uri="{FF2B5EF4-FFF2-40B4-BE49-F238E27FC236}">
                <a16:creationId xmlns:a16="http://schemas.microsoft.com/office/drawing/2014/main" id="{E7FEA3C2-2C4F-4E52-A195-25F861D90967}"/>
              </a:ext>
            </a:extLst>
          </p:cNvPr>
          <p:cNvSpPr>
            <a:spLocks xmlns:a="http://schemas.openxmlformats.org/drawingml/2006/main" noGrp="1"/>
          </p:cNvSpPr>
          <p:nvPr/>
        </p:nvSpPr>
        <p:spPr>
          <a:xfrm xmlns:a="http://schemas.openxmlformats.org/drawingml/2006/main">
            <a:off x="762000" y="19240500"/>
            <a:ext cx="1238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650" b="1">
                <a:solidFill>
                  <a:srgbClr val="4B606D"/>
                </a:solidFill>
                <a:latin typeface="Arial"/>
                <a:ea typeface="Arial"/>
                <a:cs typeface="Arial"/>
              </a:defRPr>
            </a:defPPr>
          </a:lstStyle>
          <a:p xmlns:a="http://schemas.openxmlformats.org/drawingml/2006/main">
            <a:pPr>
              <a:defRPr sz="1650" b="1">
                <a:solidFill>
                  <a:srgbClr val="4B606D"/>
                </a:solidFill>
                <a:latin typeface="Arial"/>
                <a:ea typeface="Arial"/>
                <a:cs typeface="Arial"/>
              </a:defRPr>
            </a:pPr>
            <a:r>
              <a:rPr sz="1650" b="1">
                <a:solidFill>
                  <a:srgbClr val="4B606D"/>
                </a:solidFill>
                <a:latin typeface="Arial"/>
                <a:ea typeface="Arial"/>
                <a:cs typeface="Arial"/>
              </a:rPr>
              <a:t>Enzora web platform • 16 October 2026</a:t>
            </a:r>
          </a:p>
        </p:txBody>
      </p:sp>
      <p:sp>
        <p:nvSpPr>
          <p:cNvPr id="5" name="">
            <a:extLst xmlns:a="http://schemas.openxmlformats.org/drawingml/2006/main">
              <a:ext uri="{FF2B5EF4-FFF2-40B4-BE49-F238E27FC236}">
                <a16:creationId xmlns:a16="http://schemas.microsoft.com/office/drawing/2014/main" id="{2D3E95DC-CC57-4100-9F2A-52C478F3FA6F}"/>
              </a:ext>
            </a:extLst>
          </p:cNvPr>
          <p:cNvSpPr>
            <a:spLocks xmlns:a="http://schemas.openxmlformats.org/drawingml/2006/main" noGrp="1"/>
          </p:cNvSpPr>
          <p:nvPr/>
        </p:nvSpPr>
        <p:spPr>
          <a:xfrm xmlns:a="http://schemas.openxmlformats.org/drawingml/2006/main">
            <a:off x="13811250" y="19240500"/>
            <a:ext cx="762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00" b="1">
                <a:solidFill>
                  <a:srgbClr val="4B606D"/>
                </a:solidFill>
                <a:latin typeface="Arial"/>
                <a:ea typeface="Arial"/>
                <a:cs typeface="Arial"/>
              </a:defRPr>
            </a:defPPr>
          </a:lstStyle>
          <a:p xmlns:a="http://schemas.openxmlformats.org/drawingml/2006/main">
            <a:pPr>
              <a:defRPr sz="1800" b="1">
                <a:solidFill>
                  <a:srgbClr val="4B606D"/>
                </a:solidFill>
                <a:latin typeface="Arial"/>
                <a:ea typeface="Arial"/>
                <a:cs typeface="Arial"/>
              </a:defRPr>
            </a:pPr>
            <a:r>
              <a:rPr sz="1800" b="1">
                <a:solidFill>
                  <a:srgbClr val="4B606D"/>
                </a:solidFill>
                <a:latin typeface="Arial"/>
                <a:ea typeface="Arial"/>
                <a:cs typeface="Arial"/>
              </a:rPr>
              <a:t>5</a:t>
            </a:r>
          </a:p>
        </p:txBody>
      </p:sp>
      <p:sp>
        <p:nvSpPr>
          <p:cNvPr id="6" name="">
            <a:extLst xmlns:a="http://schemas.openxmlformats.org/drawingml/2006/main">
              <a:ext uri="{FF2B5EF4-FFF2-40B4-BE49-F238E27FC236}">
                <a16:creationId xmlns:a16="http://schemas.microsoft.com/office/drawing/2014/main" id="{DFF492EB-AB70-442D-BF18-57AAEC833B51}"/>
              </a:ext>
            </a:extLst>
          </p:cNvPr>
          <p:cNvSpPr>
            <a:spLocks xmlns:a="http://schemas.openxmlformats.org/drawingml/2006/main" noGrp="1"/>
          </p:cNvSpPr>
          <p:nvPr/>
        </p:nvSpPr>
        <p:spPr>
          <a:xfrm xmlns:a="http://schemas.openxmlformats.org/drawingml/2006/main">
            <a:off x="762000" y="4048125"/>
            <a:ext cx="13716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925" b="1">
                <a:solidFill>
                  <a:srgbClr val="20333D"/>
                </a:solidFill>
                <a:latin typeface="Arial"/>
                <a:ea typeface="Arial"/>
                <a:cs typeface="Arial"/>
              </a:defRPr>
            </a:defPPr>
          </a:lstStyle>
          <a:p xmlns:a="http://schemas.openxmlformats.org/drawingml/2006/main">
            <a:pPr>
              <a:defRPr sz="2925" b="1">
                <a:solidFill>
                  <a:srgbClr val="20333D"/>
                </a:solidFill>
                <a:latin typeface="Arial"/>
                <a:ea typeface="Arial"/>
                <a:cs typeface="Arial"/>
              </a:defRPr>
            </a:pPr>
            <a:r>
              <a:rPr sz="2925" b="1">
                <a:solidFill>
                  <a:srgbClr val="20333D"/>
                </a:solidFill>
                <a:latin typeface="Arial"/>
                <a:ea typeface="Arial"/>
                <a:cs typeface="Arial"/>
              </a:rPr>
              <a:t>Budget, mutation order and Top-K</a:t>
            </a:r>
          </a:p>
        </p:txBody>
      </p:sp>
      <p:sp>
        <p:nvSpPr>
          <p:cNvPr id="7" name="">
            <a:extLst xmlns:a="http://schemas.openxmlformats.org/drawingml/2006/main">
              <a:ext uri="{FF2B5EF4-FFF2-40B4-BE49-F238E27FC236}">
                <a16:creationId xmlns:a16="http://schemas.microsoft.com/office/drawing/2014/main" id="{1828D40F-F7F1-4ADC-9DF8-0CA72DC5E738}"/>
              </a:ext>
            </a:extLst>
          </p:cNvPr>
          <p:cNvSpPr>
            <a:spLocks xmlns:a="http://schemas.openxmlformats.org/drawingml/2006/main" noGrp="1"/>
          </p:cNvSpPr>
          <p:nvPr/>
        </p:nvSpPr>
        <p:spPr>
          <a:xfrm xmlns:a="http://schemas.openxmlformats.org/drawingml/2006/main">
            <a:off x="762000" y="4714875"/>
            <a:ext cx="13716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550" b="1">
                <a:solidFill>
                  <a:srgbClr val="4B606D"/>
                </a:solidFill>
                <a:latin typeface="Arial"/>
                <a:ea typeface="Arial"/>
                <a:cs typeface="Arial"/>
              </a:defRPr>
            </a:defPPr>
          </a:lstStyle>
          <a:p xmlns:a="http://schemas.openxmlformats.org/drawingml/2006/main">
            <a:pPr>
              <a:defRPr sz="2550" b="1">
                <a:solidFill>
                  <a:srgbClr val="4B606D"/>
                </a:solidFill>
                <a:latin typeface="Arial"/>
                <a:ea typeface="Arial"/>
                <a:cs typeface="Arial"/>
              </a:defRPr>
            </a:pPr>
            <a:r>
              <a:rPr sz="2550" b="1">
                <a:solidFill>
                  <a:srgbClr val="4B606D"/>
                </a:solidFill>
                <a:latin typeface="Arial"/>
                <a:ea typeface="Arial"/>
                <a:cs typeface="Arial"/>
              </a:rPr>
              <a:t>The default library contains 1,000 single mutants, with five final candidates. The Settings tab changes library size, mutation order and Top-K. A double mutant changes two distinct residues.</a:t>
            </a:r>
          </a:p>
        </p:txBody>
      </p:sp>
      <p:pic>
        <p:nvPicPr>
          <p:cNvPr id="8" name="">
            <a:extLst xmlns:a="http://schemas.openxmlformats.org/drawingml/2006/main">
              <a:ext uri="{FF2B5EF4-FFF2-40B4-BE49-F238E27FC236}">
                <a16:creationId xmlns:a16="http://schemas.microsoft.com/office/drawing/2014/main" id="{5E1CB843-4A41-41C9-BB27-8532AB08DABF}"/>
              </a:ext>
            </a:extLst>
          </p:cNvPr>
          <p:cNvPicPr>
            <a:picLocks xmlns:a="http://schemas.openxmlformats.org/drawingml/2006/main" noChangeAspect="1"/>
          </p:cNvPicPr>
          <p:nvPr/>
        </p:nvPicPr>
        <p:blipFill>
          <a:blip xmlns:r="http://schemas.openxmlformats.org/officeDocument/2006/relationships" xmlns:a="http://schemas.openxmlformats.org/drawingml/2006/main" r:embed="Re77bc906ecfc45fc"/>
          <a:stretch xmlns:a="http://schemas.openxmlformats.org/drawingml/2006/main"/>
        </p:blipFill>
        <p:spPr>
          <a:xfrm xmlns:a="http://schemas.openxmlformats.org/drawingml/2006/main">
            <a:off x="762000" y="7239000"/>
            <a:ext cx="13716000" cy="857250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A977B7B5-B762-492D-B26E-626F01EB7929}"/>
              </a:ext>
            </a:extLst>
          </p:cNvPr>
          <p:cNvSpPr>
            <a:spLocks xmlns:a="http://schemas.openxmlformats.org/drawingml/2006/main" noGrp="1"/>
          </p:cNvSpPr>
          <p:nvPr/>
        </p:nvSpPr>
        <p:spPr>
          <a:xfrm xmlns:a="http://schemas.openxmlformats.org/drawingml/2006/main">
            <a:off x="762000" y="16383000"/>
            <a:ext cx="13716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925" b="1">
                <a:solidFill>
                  <a:srgbClr val="20333D"/>
                </a:solidFill>
                <a:latin typeface="Arial"/>
                <a:ea typeface="Arial"/>
                <a:cs typeface="Arial"/>
              </a:defRPr>
            </a:defPPr>
          </a:lstStyle>
          <a:p xmlns:a="http://schemas.openxmlformats.org/drawingml/2006/main">
            <a:pPr>
              <a:defRPr sz="2925" b="1">
                <a:solidFill>
                  <a:srgbClr val="20333D"/>
                </a:solidFill>
                <a:latin typeface="Arial"/>
                <a:ea typeface="Arial"/>
                <a:cs typeface="Arial"/>
              </a:defRPr>
            </a:pPr>
            <a:r>
              <a:rPr sz="2925" b="1">
                <a:solidFill>
                  <a:srgbClr val="20333D"/>
                </a:solidFill>
                <a:latin typeface="Arial"/>
                <a:ea typeface="Arial"/>
                <a:cs typeface="Arial"/>
              </a:rPr>
              <a:t>Advanced restrictions</a:t>
            </a:r>
          </a:p>
        </p:txBody>
      </p:sp>
      <p:sp>
        <p:nvSpPr>
          <p:cNvPr id="10" name="">
            <a:extLst xmlns:a="http://schemas.openxmlformats.org/drawingml/2006/main">
              <a:ext uri="{FF2B5EF4-FFF2-40B4-BE49-F238E27FC236}">
                <a16:creationId xmlns:a16="http://schemas.microsoft.com/office/drawing/2014/main" id="{DEF2C6F2-1B2D-4BA0-8190-1F2C04317C27}"/>
              </a:ext>
            </a:extLst>
          </p:cNvPr>
          <p:cNvSpPr>
            <a:spLocks xmlns:a="http://schemas.openxmlformats.org/drawingml/2006/main" noGrp="1"/>
          </p:cNvSpPr>
          <p:nvPr/>
        </p:nvSpPr>
        <p:spPr>
          <a:xfrm xmlns:a="http://schemas.openxmlformats.org/drawingml/2006/main">
            <a:off x="762000" y="17049750"/>
            <a:ext cx="13716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550" b="1">
                <a:solidFill>
                  <a:srgbClr val="4B606D"/>
                </a:solidFill>
                <a:latin typeface="Arial"/>
                <a:ea typeface="Arial"/>
                <a:cs typeface="Arial"/>
              </a:defRPr>
            </a:defPPr>
          </a:lstStyle>
          <a:p xmlns:a="http://schemas.openxmlformats.org/drawingml/2006/main">
            <a:pPr>
              <a:defRPr sz="2550" b="1">
                <a:solidFill>
                  <a:srgbClr val="4B606D"/>
                </a:solidFill>
                <a:latin typeface="Arial"/>
                <a:ea typeface="Arial"/>
                <a:cs typeface="Arial"/>
              </a:defRPr>
            </a:pPr>
            <a:r>
              <a:rPr sz="2550" b="1">
                <a:solidFill>
                  <a:srgbClr val="4B606D"/>
                </a:solidFill>
                <a:latin typeface="Arial"/>
                <a:ea typeface="Arial"/>
                <a:cs typeface="Arial"/>
              </a:rPr>
              <a:t>Allowed/excluded positions and mutation-order quotas are request fields. Review them in the preparation/parameter preview when used. Quotas must sum to the library size.</a:t>
            </a:r>
          </a:p>
        </p:txBody>
      </p:sp>
    </p:spTree>
    <p:extLst>
      <p:ext uri="{BB962C8B-B14F-4D97-AF65-F5344CB8AC3E}">
        <p14:creationId xmlns:p14="http://schemas.microsoft.com/office/powerpoint/2010/main" val="134871379"/>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E1A7FC7-8D63-492B-AFA5-14D7C05641AB}"/>
              </a:ext>
            </a:extLst>
          </p:cNvPr>
          <p:cNvSpPr>
            <a:spLocks xmlns:a="http://schemas.openxmlformats.org/drawingml/2006/main" noGrp="1"/>
          </p:cNvSpPr>
          <p:nvPr/>
        </p:nvSpPr>
        <p:spPr>
          <a:xfrm xmlns:a="http://schemas.openxmlformats.org/drawingml/2006/main">
            <a:off x="762000" y="361950"/>
            <a:ext cx="13239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725" b="1">
                <a:solidFill>
                  <a:srgbClr val="4B606D"/>
                </a:solidFill>
                <a:latin typeface="Arial"/>
                <a:ea typeface="Arial"/>
                <a:cs typeface="Arial"/>
              </a:defRPr>
            </a:defPPr>
          </a:lstStyle>
          <a:p xmlns:a="http://schemas.openxmlformats.org/drawingml/2006/main">
            <a:pPr>
              <a:defRPr sz="1725" b="1">
                <a:solidFill>
                  <a:srgbClr val="4B606D"/>
                </a:solidFill>
                <a:latin typeface="Arial"/>
                <a:ea typeface="Arial"/>
                <a:cs typeface="Arial"/>
              </a:defRPr>
            </a:pPr>
            <a:r>
              <a:rPr sz="1725" b="1">
                <a:solidFill>
                  <a:srgbClr val="4B606D"/>
                </a:solidFill>
                <a:latin typeface="Arial"/>
                <a:ea typeface="Arial"/>
                <a:cs typeface="Arial"/>
              </a:rPr>
              <a:t>ENZORA  /  USER GUIDE</a:t>
            </a:r>
          </a:p>
        </p:txBody>
      </p:sp>
      <p:sp>
        <p:nvSpPr>
          <p:cNvPr id="2" name="">
            <a:extLst xmlns:a="http://schemas.openxmlformats.org/drawingml/2006/main">
              <a:ext uri="{FF2B5EF4-FFF2-40B4-BE49-F238E27FC236}">
                <a16:creationId xmlns:a16="http://schemas.microsoft.com/office/drawing/2014/main" id="{B5E37647-F8CF-4355-B616-94BDF704B941}"/>
              </a:ext>
            </a:extLst>
          </p:cNvPr>
          <p:cNvSpPr>
            <a:spLocks xmlns:a="http://schemas.openxmlformats.org/drawingml/2006/main" noGrp="1"/>
          </p:cNvSpPr>
          <p:nvPr/>
        </p:nvSpPr>
        <p:spPr>
          <a:xfrm xmlns:a="http://schemas.openxmlformats.org/drawingml/2006/main">
            <a:off x="762000" y="952500"/>
            <a:ext cx="13716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4875" b="1">
                <a:solidFill>
                  <a:srgbClr val="20333D"/>
                </a:solidFill>
                <a:latin typeface="Arial"/>
                <a:ea typeface="Arial"/>
                <a:cs typeface="Arial"/>
              </a:defRPr>
            </a:defPPr>
          </a:lstStyle>
          <a:p xmlns:a="http://schemas.openxmlformats.org/drawingml/2006/main">
            <a:pPr>
              <a:defRPr sz="4875" b="1">
                <a:solidFill>
                  <a:srgbClr val="20333D"/>
                </a:solidFill>
                <a:latin typeface="Arial"/>
                <a:ea typeface="Arial"/>
                <a:cs typeface="Arial"/>
              </a:defRPr>
            </a:pPr>
            <a:r>
              <a:rPr sz="4875" b="1">
                <a:solidFill>
                  <a:srgbClr val="20333D"/>
                </a:solidFill>
                <a:latin typeface="Arial"/>
                <a:ea typeface="Arial"/>
                <a:cs typeface="Arial"/>
              </a:rPr>
              <a:t>5. Construction progress and LLR</a:t>
            </a:r>
          </a:p>
        </p:txBody>
      </p:sp>
      <p:sp>
        <p:nvSpPr>
          <p:cNvPr id="3" name="">
            <a:extLst xmlns:a="http://schemas.openxmlformats.org/drawingml/2006/main">
              <a:ext uri="{FF2B5EF4-FFF2-40B4-BE49-F238E27FC236}">
                <a16:creationId xmlns:a16="http://schemas.microsoft.com/office/drawing/2014/main" id="{ECD8980A-FD56-4337-AD05-E1F8FFCCE601}"/>
              </a:ext>
            </a:extLst>
          </p:cNvPr>
          <p:cNvSpPr>
            <a:spLocks xmlns:a="http://schemas.openxmlformats.org/drawingml/2006/main" noGrp="1"/>
          </p:cNvSpPr>
          <p:nvPr/>
        </p:nvSpPr>
        <p:spPr>
          <a:xfrm xmlns:a="http://schemas.openxmlformats.org/drawingml/2006/main">
            <a:off x="762000" y="2524125"/>
            <a:ext cx="13716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550" b="1">
                <a:solidFill>
                  <a:srgbClr val="4B606D"/>
                </a:solidFill>
                <a:latin typeface="Arial"/>
                <a:ea typeface="Arial"/>
                <a:cs typeface="Arial"/>
              </a:defRPr>
            </a:defPPr>
          </a:lstStyle>
          <a:p xmlns:a="http://schemas.openxmlformats.org/drawingml/2006/main">
            <a:pPr>
              <a:defRPr sz="2550" b="1">
                <a:solidFill>
                  <a:srgbClr val="4B606D"/>
                </a:solidFill>
                <a:latin typeface="Arial"/>
                <a:ea typeface="Arial"/>
                <a:cs typeface="Arial"/>
              </a:defRPr>
            </a:pPr>
            <a:r>
              <a:rPr sz="2550" b="1">
                <a:solidFill>
                  <a:srgbClr val="4B606D"/>
                </a:solidFill>
                <a:latin typeface="Arial"/>
                <a:ea typeface="Arial"/>
                <a:cs typeface="Arial"/>
              </a:rPr>
              <a:t>Saved records and model scores answer different questions</a:t>
            </a:r>
          </a:p>
        </p:txBody>
      </p:sp>
      <p:sp>
        <p:nvSpPr>
          <p:cNvPr id="4" name="">
            <a:extLst xmlns:a="http://schemas.openxmlformats.org/drawingml/2006/main">
              <a:ext uri="{FF2B5EF4-FFF2-40B4-BE49-F238E27FC236}">
                <a16:creationId xmlns:a16="http://schemas.microsoft.com/office/drawing/2014/main" id="{C15D1EA5-FF8D-4593-AE72-46A00B9E4C6F}"/>
              </a:ext>
            </a:extLst>
          </p:cNvPr>
          <p:cNvSpPr>
            <a:spLocks xmlns:a="http://schemas.openxmlformats.org/drawingml/2006/main" noGrp="1"/>
          </p:cNvSpPr>
          <p:nvPr/>
        </p:nvSpPr>
        <p:spPr>
          <a:xfrm xmlns:a="http://schemas.openxmlformats.org/drawingml/2006/main">
            <a:off x="762000" y="19240500"/>
            <a:ext cx="1238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650" b="1">
                <a:solidFill>
                  <a:srgbClr val="4B606D"/>
                </a:solidFill>
                <a:latin typeface="Arial"/>
                <a:ea typeface="Arial"/>
                <a:cs typeface="Arial"/>
              </a:defRPr>
            </a:defPPr>
          </a:lstStyle>
          <a:p xmlns:a="http://schemas.openxmlformats.org/drawingml/2006/main">
            <a:pPr>
              <a:defRPr sz="1650" b="1">
                <a:solidFill>
                  <a:srgbClr val="4B606D"/>
                </a:solidFill>
                <a:latin typeface="Arial"/>
                <a:ea typeface="Arial"/>
                <a:cs typeface="Arial"/>
              </a:defRPr>
            </a:pPr>
            <a:r>
              <a:rPr sz="1650" b="1">
                <a:solidFill>
                  <a:srgbClr val="4B606D"/>
                </a:solidFill>
                <a:latin typeface="Arial"/>
                <a:ea typeface="Arial"/>
                <a:cs typeface="Arial"/>
              </a:rPr>
              <a:t>Enzora web platform • 16 October 2026</a:t>
            </a:r>
          </a:p>
        </p:txBody>
      </p:sp>
      <p:sp>
        <p:nvSpPr>
          <p:cNvPr id="5" name="">
            <a:extLst xmlns:a="http://schemas.openxmlformats.org/drawingml/2006/main">
              <a:ext uri="{FF2B5EF4-FFF2-40B4-BE49-F238E27FC236}">
                <a16:creationId xmlns:a16="http://schemas.microsoft.com/office/drawing/2014/main" id="{CA705E52-5094-46C2-B0BE-A919E12BA42A}"/>
              </a:ext>
            </a:extLst>
          </p:cNvPr>
          <p:cNvSpPr>
            <a:spLocks xmlns:a="http://schemas.openxmlformats.org/drawingml/2006/main" noGrp="1"/>
          </p:cNvSpPr>
          <p:nvPr/>
        </p:nvSpPr>
        <p:spPr>
          <a:xfrm xmlns:a="http://schemas.openxmlformats.org/drawingml/2006/main">
            <a:off x="13811250" y="19240500"/>
            <a:ext cx="762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00" b="1">
                <a:solidFill>
                  <a:srgbClr val="4B606D"/>
                </a:solidFill>
                <a:latin typeface="Arial"/>
                <a:ea typeface="Arial"/>
                <a:cs typeface="Arial"/>
              </a:defRPr>
            </a:defPPr>
          </a:lstStyle>
          <a:p xmlns:a="http://schemas.openxmlformats.org/drawingml/2006/main">
            <a:pPr>
              <a:defRPr sz="1800" b="1">
                <a:solidFill>
                  <a:srgbClr val="4B606D"/>
                </a:solidFill>
                <a:latin typeface="Arial"/>
                <a:ea typeface="Arial"/>
                <a:cs typeface="Arial"/>
              </a:defRPr>
            </a:pPr>
            <a:r>
              <a:rPr sz="1800" b="1">
                <a:solidFill>
                  <a:srgbClr val="4B606D"/>
                </a:solidFill>
                <a:latin typeface="Arial"/>
                <a:ea typeface="Arial"/>
                <a:cs typeface="Arial"/>
              </a:rPr>
              <a:t>6</a:t>
            </a:r>
          </a:p>
        </p:txBody>
      </p:sp>
      <p:sp>
        <p:nvSpPr>
          <p:cNvPr id="6" name="">
            <a:extLst xmlns:a="http://schemas.openxmlformats.org/drawingml/2006/main">
              <a:ext uri="{FF2B5EF4-FFF2-40B4-BE49-F238E27FC236}">
                <a16:creationId xmlns:a16="http://schemas.microsoft.com/office/drawing/2014/main" id="{06BAF490-38B6-4859-A603-78059C9793EC}"/>
              </a:ext>
            </a:extLst>
          </p:cNvPr>
          <p:cNvSpPr>
            <a:spLocks xmlns:a="http://schemas.openxmlformats.org/drawingml/2006/main" noGrp="1"/>
          </p:cNvSpPr>
          <p:nvPr/>
        </p:nvSpPr>
        <p:spPr>
          <a:xfrm xmlns:a="http://schemas.openxmlformats.org/drawingml/2006/main">
            <a:off x="762000" y="4048125"/>
            <a:ext cx="13716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925" b="1">
                <a:solidFill>
                  <a:srgbClr val="20333D"/>
                </a:solidFill>
                <a:latin typeface="Arial"/>
                <a:ea typeface="Arial"/>
                <a:cs typeface="Arial"/>
              </a:defRPr>
            </a:defPPr>
          </a:lstStyle>
          <a:p xmlns:a="http://schemas.openxmlformats.org/drawingml/2006/main">
            <a:pPr>
              <a:defRPr sz="2925" b="1">
                <a:solidFill>
                  <a:srgbClr val="20333D"/>
                </a:solidFill>
                <a:latin typeface="Arial"/>
                <a:ea typeface="Arial"/>
                <a:cs typeface="Arial"/>
              </a:defRPr>
            </a:pPr>
            <a:r>
              <a:rPr sz="2925" b="1">
                <a:solidFill>
                  <a:srgbClr val="20333D"/>
                </a:solidFill>
                <a:latin typeface="Arial"/>
                <a:ea typeface="Arial"/>
                <a:cs typeface="Arial"/>
              </a:rPr>
              <a:t>The circular counter</a:t>
            </a:r>
          </a:p>
        </p:txBody>
      </p:sp>
      <p:sp>
        <p:nvSpPr>
          <p:cNvPr id="7" name="">
            <a:extLst xmlns:a="http://schemas.openxmlformats.org/drawingml/2006/main">
              <a:ext uri="{FF2B5EF4-FFF2-40B4-BE49-F238E27FC236}">
                <a16:creationId xmlns:a16="http://schemas.microsoft.com/office/drawing/2014/main" id="{DC9FE2B8-AFF1-47C9-92E1-72FB6E5250CC}"/>
              </a:ext>
            </a:extLst>
          </p:cNvPr>
          <p:cNvSpPr>
            <a:spLocks xmlns:a="http://schemas.openxmlformats.org/drawingml/2006/main" noGrp="1"/>
          </p:cNvSpPr>
          <p:nvPr/>
        </p:nvSpPr>
        <p:spPr>
          <a:xfrm xmlns:a="http://schemas.openxmlformats.org/drawingml/2006/main">
            <a:off x="762000" y="4714875"/>
            <a:ext cx="13716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550" b="1">
                <a:solidFill>
                  <a:srgbClr val="4B606D"/>
                </a:solidFill>
                <a:latin typeface="Arial"/>
                <a:ea typeface="Arial"/>
                <a:cs typeface="Arial"/>
              </a:defRPr>
            </a:defPPr>
          </a:lstStyle>
          <a:p xmlns:a="http://schemas.openxmlformats.org/drawingml/2006/main">
            <a:pPr>
              <a:defRPr sz="2550" b="1">
                <a:solidFill>
                  <a:srgbClr val="4B606D"/>
                </a:solidFill>
                <a:latin typeface="Arial"/>
                <a:ea typeface="Arial"/>
                <a:cs typeface="Arial"/>
              </a:defRPr>
            </a:pPr>
            <a:r>
              <a:rPr sz="2550" b="1">
                <a:solidFill>
                  <a:srgbClr val="4B606D"/>
                </a:solidFill>
                <a:latin typeface="Arial"/>
                <a:ea typeface="Arial"/>
                <a:cs typeface="Arial"/>
              </a:rPr>
              <a:t>The ring tracks saved candidate sequences, not a benchmark of inference speed. Library completion enables Start Screening. Wait for completion before requesting the next computation.</a:t>
            </a:r>
          </a:p>
        </p:txBody>
      </p:sp>
      <p:pic>
        <p:nvPicPr>
          <p:cNvPr id="8" name="">
            <a:extLst xmlns:a="http://schemas.openxmlformats.org/drawingml/2006/main">
              <a:ext uri="{FF2B5EF4-FFF2-40B4-BE49-F238E27FC236}">
                <a16:creationId xmlns:a16="http://schemas.microsoft.com/office/drawing/2014/main" id="{5896B992-75FA-498D-BFAA-B83D344B498E}"/>
              </a:ext>
            </a:extLst>
          </p:cNvPr>
          <p:cNvPicPr>
            <a:picLocks xmlns:a="http://schemas.openxmlformats.org/drawingml/2006/main" noChangeAspect="1"/>
          </p:cNvPicPr>
          <p:nvPr/>
        </p:nvPicPr>
        <p:blipFill>
          <a:blip xmlns:r="http://schemas.openxmlformats.org/officeDocument/2006/relationships" xmlns:a="http://schemas.openxmlformats.org/drawingml/2006/main" r:embed="R6e6dca0d2fa74b7a"/>
          <a:stretch xmlns:a="http://schemas.openxmlformats.org/drawingml/2006/main"/>
        </p:blipFill>
        <p:spPr>
          <a:xfrm xmlns:a="http://schemas.openxmlformats.org/drawingml/2006/main">
            <a:off x="762000" y="7239000"/>
            <a:ext cx="13716000" cy="857250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FC86DF65-44D3-4FAD-ADBD-C004A448C459}"/>
              </a:ext>
            </a:extLst>
          </p:cNvPr>
          <p:cNvSpPr>
            <a:spLocks xmlns:a="http://schemas.openxmlformats.org/drawingml/2006/main" noGrp="1"/>
          </p:cNvSpPr>
          <p:nvPr/>
        </p:nvSpPr>
        <p:spPr>
          <a:xfrm xmlns:a="http://schemas.openxmlformats.org/drawingml/2006/main">
            <a:off x="762000" y="16287750"/>
            <a:ext cx="13716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925" b="1">
                <a:solidFill>
                  <a:srgbClr val="20333D"/>
                </a:solidFill>
                <a:latin typeface="Arial"/>
                <a:ea typeface="Arial"/>
                <a:cs typeface="Arial"/>
              </a:defRPr>
            </a:defPPr>
          </a:lstStyle>
          <a:p xmlns:a="http://schemas.openxmlformats.org/drawingml/2006/main">
            <a:pPr>
              <a:defRPr sz="2925" b="1">
                <a:solidFill>
                  <a:srgbClr val="20333D"/>
                </a:solidFill>
                <a:latin typeface="Arial"/>
                <a:ea typeface="Arial"/>
                <a:cs typeface="Arial"/>
              </a:defRPr>
            </a:pPr>
            <a:r>
              <a:rPr sz="2925" b="1">
                <a:solidFill>
                  <a:srgbClr val="20333D"/>
                </a:solidFill>
                <a:latin typeface="Arial"/>
                <a:ea typeface="Arial"/>
                <a:cs typeface="Arial"/>
              </a:rPr>
              <a:t>The LLR distribution and attribution bar</a:t>
            </a:r>
          </a:p>
        </p:txBody>
      </p:sp>
      <p:sp>
        <p:nvSpPr>
          <p:cNvPr id="10" name="">
            <a:extLst xmlns:a="http://schemas.openxmlformats.org/drawingml/2006/main">
              <a:ext uri="{FF2B5EF4-FFF2-40B4-BE49-F238E27FC236}">
                <a16:creationId xmlns:a16="http://schemas.microsoft.com/office/drawing/2014/main" id="{EDF62B56-3C88-4D2C-9902-B663994C62A3}"/>
              </a:ext>
            </a:extLst>
          </p:cNvPr>
          <p:cNvSpPr>
            <a:spLocks xmlns:a="http://schemas.openxmlformats.org/drawingml/2006/main" noGrp="1"/>
          </p:cNvSpPr>
          <p:nvPr/>
        </p:nvSpPr>
        <p:spPr>
          <a:xfrm xmlns:a="http://schemas.openxmlformats.org/drawingml/2006/main">
            <a:off x="762000" y="16954500"/>
            <a:ext cx="13716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550" b="1">
                <a:solidFill>
                  <a:srgbClr val="4B606D"/>
                </a:solidFill>
                <a:latin typeface="Arial"/>
                <a:ea typeface="Arial"/>
                <a:cs typeface="Arial"/>
              </a:defRPr>
            </a:defPPr>
          </a:lstStyle>
          <a:p xmlns:a="http://schemas.openxmlformats.org/drawingml/2006/main">
            <a:pPr>
              <a:defRPr sz="2550" b="1">
                <a:solidFill>
                  <a:srgbClr val="4B606D"/>
                </a:solidFill>
                <a:latin typeface="Arial"/>
                <a:ea typeface="Arial"/>
                <a:cs typeface="Arial"/>
              </a:defRPr>
            </a:pPr>
            <a:r>
              <a:rPr sz="2550" b="1">
                <a:solidFill>
                  <a:srgbClr val="4B606D"/>
                </a:solidFill>
                <a:latin typeface="Arial"/>
                <a:ea typeface="Arial"/>
                <a:cs typeface="Arial"/>
              </a:rPr>
              <a:t>The curves show calibrated model scores for saved substitutions. The bar assigns each substitution to its lowest-scoring model; ties share credit. The five-second animation replays saved data.</a:t>
            </a:r>
          </a:p>
        </p:txBody>
      </p:sp>
    </p:spTree>
    <p:extLst>
      <p:ext uri="{BB962C8B-B14F-4D97-AF65-F5344CB8AC3E}">
        <p14:creationId xmlns:p14="http://schemas.microsoft.com/office/powerpoint/2010/main" val="1522674339"/>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B860C3D-278C-4A74-9C83-3D10CD318536}"/>
              </a:ext>
            </a:extLst>
          </p:cNvPr>
          <p:cNvSpPr>
            <a:spLocks xmlns:a="http://schemas.openxmlformats.org/drawingml/2006/main" noGrp="1"/>
          </p:cNvSpPr>
          <p:nvPr/>
        </p:nvSpPr>
        <p:spPr>
          <a:xfrm xmlns:a="http://schemas.openxmlformats.org/drawingml/2006/main">
            <a:off x="762000" y="361950"/>
            <a:ext cx="13239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725" b="1">
                <a:solidFill>
                  <a:srgbClr val="4B606D"/>
                </a:solidFill>
                <a:latin typeface="Arial"/>
                <a:ea typeface="Arial"/>
                <a:cs typeface="Arial"/>
              </a:defRPr>
            </a:defPPr>
          </a:lstStyle>
          <a:p xmlns:a="http://schemas.openxmlformats.org/drawingml/2006/main">
            <a:pPr>
              <a:defRPr sz="1725" b="1">
                <a:solidFill>
                  <a:srgbClr val="4B606D"/>
                </a:solidFill>
                <a:latin typeface="Arial"/>
                <a:ea typeface="Arial"/>
                <a:cs typeface="Arial"/>
              </a:defRPr>
            </a:pPr>
            <a:r>
              <a:rPr sz="1725" b="1">
                <a:solidFill>
                  <a:srgbClr val="4B606D"/>
                </a:solidFill>
                <a:latin typeface="Arial"/>
                <a:ea typeface="Arial"/>
                <a:cs typeface="Arial"/>
              </a:rPr>
              <a:t>ENZORA  /  USER GUIDE</a:t>
            </a:r>
          </a:p>
        </p:txBody>
      </p:sp>
      <p:sp>
        <p:nvSpPr>
          <p:cNvPr id="2" name="">
            <a:extLst xmlns:a="http://schemas.openxmlformats.org/drawingml/2006/main">
              <a:ext uri="{FF2B5EF4-FFF2-40B4-BE49-F238E27FC236}">
                <a16:creationId xmlns:a16="http://schemas.microsoft.com/office/drawing/2014/main" id="{586BAD25-8DFB-44AE-A7AE-0C72A38AE753}"/>
              </a:ext>
            </a:extLst>
          </p:cNvPr>
          <p:cNvSpPr>
            <a:spLocks xmlns:a="http://schemas.openxmlformats.org/drawingml/2006/main" noGrp="1"/>
          </p:cNvSpPr>
          <p:nvPr/>
        </p:nvSpPr>
        <p:spPr>
          <a:xfrm xmlns:a="http://schemas.openxmlformats.org/drawingml/2006/main">
            <a:off x="762000" y="952500"/>
            <a:ext cx="13716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4875" b="1">
                <a:solidFill>
                  <a:srgbClr val="20333D"/>
                </a:solidFill>
                <a:latin typeface="Arial"/>
                <a:ea typeface="Arial"/>
                <a:cs typeface="Arial"/>
              </a:defRPr>
            </a:defPPr>
          </a:lstStyle>
          <a:p xmlns:a="http://schemas.openxmlformats.org/drawingml/2006/main">
            <a:pPr>
              <a:defRPr sz="4875" b="1">
                <a:solidFill>
                  <a:srgbClr val="20333D"/>
                </a:solidFill>
                <a:latin typeface="Arial"/>
                <a:ea typeface="Arial"/>
                <a:cs typeface="Arial"/>
              </a:defRPr>
            </a:pPr>
            <a:r>
              <a:rPr sz="4875" b="1">
                <a:solidFill>
                  <a:srgbClr val="20333D"/>
                </a:solidFill>
                <a:latin typeface="Arial"/>
                <a:ea typeface="Arial"/>
                <a:cs typeface="Arial"/>
              </a:rPr>
              <a:t>6. Virtual screening</a:t>
            </a:r>
          </a:p>
        </p:txBody>
      </p:sp>
      <p:sp>
        <p:nvSpPr>
          <p:cNvPr id="3" name="">
            <a:extLst xmlns:a="http://schemas.openxmlformats.org/drawingml/2006/main">
              <a:ext uri="{FF2B5EF4-FFF2-40B4-BE49-F238E27FC236}">
                <a16:creationId xmlns:a16="http://schemas.microsoft.com/office/drawing/2014/main" id="{1929DD94-3823-4036-A87F-4C0F93959D47}"/>
              </a:ext>
            </a:extLst>
          </p:cNvPr>
          <p:cNvSpPr>
            <a:spLocks xmlns:a="http://schemas.openxmlformats.org/drawingml/2006/main" noGrp="1"/>
          </p:cNvSpPr>
          <p:nvPr/>
        </p:nvSpPr>
        <p:spPr>
          <a:xfrm xmlns:a="http://schemas.openxmlformats.org/drawingml/2006/main">
            <a:off x="762000" y="2524125"/>
            <a:ext cx="13716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550" b="1">
                <a:solidFill>
                  <a:srgbClr val="4B606D"/>
                </a:solidFill>
                <a:latin typeface="Arial"/>
                <a:ea typeface="Arial"/>
                <a:cs typeface="Arial"/>
              </a:defRPr>
            </a:defPPr>
          </a:lstStyle>
          <a:p xmlns:a="http://schemas.openxmlformats.org/drawingml/2006/main">
            <a:pPr>
              <a:defRPr sz="2550" b="1">
                <a:solidFill>
                  <a:srgbClr val="4B606D"/>
                </a:solidFill>
                <a:latin typeface="Arial"/>
                <a:ea typeface="Arial"/>
                <a:cs typeface="Arial"/>
              </a:defRPr>
            </a:pPr>
            <a:r>
              <a:rPr sz="2550" b="1">
                <a:solidFill>
                  <a:srgbClr val="4B606D"/>
                </a:solidFill>
                <a:latin typeface="Arial"/>
                <a:ea typeface="Arial"/>
                <a:cs typeface="Arial"/>
              </a:rPr>
              <a:t>Three predictors provide distinct biological quantities</a:t>
            </a:r>
          </a:p>
        </p:txBody>
      </p:sp>
      <p:sp>
        <p:nvSpPr>
          <p:cNvPr id="4" name="">
            <a:extLst xmlns:a="http://schemas.openxmlformats.org/drawingml/2006/main">
              <a:ext uri="{FF2B5EF4-FFF2-40B4-BE49-F238E27FC236}">
                <a16:creationId xmlns:a16="http://schemas.microsoft.com/office/drawing/2014/main" id="{A627D20E-424E-4CC0-9B11-4FFA7255C1C2}"/>
              </a:ext>
            </a:extLst>
          </p:cNvPr>
          <p:cNvSpPr>
            <a:spLocks xmlns:a="http://schemas.openxmlformats.org/drawingml/2006/main" noGrp="1"/>
          </p:cNvSpPr>
          <p:nvPr/>
        </p:nvSpPr>
        <p:spPr>
          <a:xfrm xmlns:a="http://schemas.openxmlformats.org/drawingml/2006/main">
            <a:off x="762000" y="19240500"/>
            <a:ext cx="1238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650" b="1">
                <a:solidFill>
                  <a:srgbClr val="4B606D"/>
                </a:solidFill>
                <a:latin typeface="Arial"/>
                <a:ea typeface="Arial"/>
                <a:cs typeface="Arial"/>
              </a:defRPr>
            </a:defPPr>
          </a:lstStyle>
          <a:p xmlns:a="http://schemas.openxmlformats.org/drawingml/2006/main">
            <a:pPr>
              <a:defRPr sz="1650" b="1">
                <a:solidFill>
                  <a:srgbClr val="4B606D"/>
                </a:solidFill>
                <a:latin typeface="Arial"/>
                <a:ea typeface="Arial"/>
                <a:cs typeface="Arial"/>
              </a:defRPr>
            </a:pPr>
            <a:r>
              <a:rPr sz="1650" b="1">
                <a:solidFill>
                  <a:srgbClr val="4B606D"/>
                </a:solidFill>
                <a:latin typeface="Arial"/>
                <a:ea typeface="Arial"/>
                <a:cs typeface="Arial"/>
              </a:rPr>
              <a:t>Enzora web platform • 16 October 2026</a:t>
            </a:r>
          </a:p>
        </p:txBody>
      </p:sp>
      <p:sp>
        <p:nvSpPr>
          <p:cNvPr id="5" name="">
            <a:extLst xmlns:a="http://schemas.openxmlformats.org/drawingml/2006/main">
              <a:ext uri="{FF2B5EF4-FFF2-40B4-BE49-F238E27FC236}">
                <a16:creationId xmlns:a16="http://schemas.microsoft.com/office/drawing/2014/main" id="{BC22EFF1-7E7F-4122-A745-0182DB6B697F}"/>
              </a:ext>
            </a:extLst>
          </p:cNvPr>
          <p:cNvSpPr>
            <a:spLocks xmlns:a="http://schemas.openxmlformats.org/drawingml/2006/main" noGrp="1"/>
          </p:cNvSpPr>
          <p:nvPr/>
        </p:nvSpPr>
        <p:spPr>
          <a:xfrm xmlns:a="http://schemas.openxmlformats.org/drawingml/2006/main">
            <a:off x="13811250" y="19240500"/>
            <a:ext cx="762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00" b="1">
                <a:solidFill>
                  <a:srgbClr val="4B606D"/>
                </a:solidFill>
                <a:latin typeface="Arial"/>
                <a:ea typeface="Arial"/>
                <a:cs typeface="Arial"/>
              </a:defRPr>
            </a:defPPr>
          </a:lstStyle>
          <a:p xmlns:a="http://schemas.openxmlformats.org/drawingml/2006/main">
            <a:pPr>
              <a:defRPr sz="1800" b="1">
                <a:solidFill>
                  <a:srgbClr val="4B606D"/>
                </a:solidFill>
                <a:latin typeface="Arial"/>
                <a:ea typeface="Arial"/>
                <a:cs typeface="Arial"/>
              </a:defRPr>
            </a:pPr>
            <a:r>
              <a:rPr sz="1800" b="1">
                <a:solidFill>
                  <a:srgbClr val="4B606D"/>
                </a:solidFill>
                <a:latin typeface="Arial"/>
                <a:ea typeface="Arial"/>
                <a:cs typeface="Arial"/>
              </a:rPr>
              <a:t>7</a:t>
            </a:r>
          </a:p>
        </p:txBody>
      </p:sp>
      <p:sp>
        <p:nvSpPr>
          <p:cNvPr id="6" name="">
            <a:extLst xmlns:a="http://schemas.openxmlformats.org/drawingml/2006/main">
              <a:ext uri="{FF2B5EF4-FFF2-40B4-BE49-F238E27FC236}">
                <a16:creationId xmlns:a16="http://schemas.microsoft.com/office/drawing/2014/main" id="{05C1FDAD-9BFB-4E3F-B0FD-154AA3A01085}"/>
              </a:ext>
            </a:extLst>
          </p:cNvPr>
          <p:cNvSpPr>
            <a:spLocks xmlns:a="http://schemas.openxmlformats.org/drawingml/2006/main" noGrp="1"/>
          </p:cNvSpPr>
          <p:nvPr/>
        </p:nvSpPr>
        <p:spPr>
          <a:xfrm xmlns:a="http://schemas.openxmlformats.org/drawingml/2006/main">
            <a:off x="762000" y="4048125"/>
            <a:ext cx="13716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925" b="1">
                <a:solidFill>
                  <a:srgbClr val="20333D"/>
                </a:solidFill>
                <a:latin typeface="Arial"/>
                <a:ea typeface="Arial"/>
                <a:cs typeface="Arial"/>
              </a:defRPr>
            </a:defPPr>
          </a:lstStyle>
          <a:p xmlns:a="http://schemas.openxmlformats.org/drawingml/2006/main">
            <a:pPr>
              <a:defRPr sz="2925" b="1">
                <a:solidFill>
                  <a:srgbClr val="20333D"/>
                </a:solidFill>
                <a:latin typeface="Arial"/>
                <a:ea typeface="Arial"/>
                <a:cs typeface="Arial"/>
              </a:defRPr>
            </a:pPr>
            <a:r>
              <a:rPr sz="2925" b="1">
                <a:solidFill>
                  <a:srgbClr val="20333D"/>
                </a:solidFill>
                <a:latin typeface="Arial"/>
                <a:ea typeface="Arial"/>
                <a:cs typeface="Arial"/>
              </a:rPr>
              <a:t>Phenom, EpHod and UniStab</a:t>
            </a:r>
          </a:p>
        </p:txBody>
      </p:sp>
      <p:sp>
        <p:nvSpPr>
          <p:cNvPr id="7" name="">
            <a:extLst xmlns:a="http://schemas.openxmlformats.org/drawingml/2006/main">
              <a:ext uri="{FF2B5EF4-FFF2-40B4-BE49-F238E27FC236}">
                <a16:creationId xmlns:a16="http://schemas.microsoft.com/office/drawing/2014/main" id="{44AF28C3-4955-4E83-BF90-4339CA6A1B41}"/>
              </a:ext>
            </a:extLst>
          </p:cNvPr>
          <p:cNvSpPr>
            <a:spLocks xmlns:a="http://schemas.openxmlformats.org/drawingml/2006/main" noGrp="1"/>
          </p:cNvSpPr>
          <p:nvPr/>
        </p:nvSpPr>
        <p:spPr>
          <a:xfrm xmlns:a="http://schemas.openxmlformats.org/drawingml/2006/main">
            <a:off x="762000" y="4714875"/>
            <a:ext cx="13716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550" b="1">
                <a:solidFill>
                  <a:srgbClr val="4B606D"/>
                </a:solidFill>
                <a:latin typeface="Arial"/>
                <a:ea typeface="Arial"/>
                <a:cs typeface="Arial"/>
              </a:defRPr>
            </a:defPPr>
          </a:lstStyle>
          <a:p xmlns:a="http://schemas.openxmlformats.org/drawingml/2006/main">
            <a:pPr>
              <a:defRPr sz="2550" b="1">
                <a:solidFill>
                  <a:srgbClr val="4B606D"/>
                </a:solidFill>
                <a:latin typeface="Arial"/>
                <a:ea typeface="Arial"/>
                <a:cs typeface="Arial"/>
              </a:defRPr>
            </a:pPr>
            <a:r>
              <a:rPr sz="2550" b="1">
                <a:solidFill>
                  <a:srgbClr val="4B606D"/>
                </a:solidFill>
                <a:latin typeface="Arial"/>
                <a:ea typeface="Arial"/>
                <a:cs typeface="Arial"/>
              </a:rPr>
              <a:t>Phenom predicts log10(kcat) and a Gaussian standard deviation. EpHod predicts optimal pH and reports predictor disagreement. UniStab predicts WT-relative stability change and head-dropout variation.</a:t>
            </a:r>
          </a:p>
        </p:txBody>
      </p:sp>
      <p:pic>
        <p:nvPicPr>
          <p:cNvPr id="8" name="">
            <a:extLst xmlns:a="http://schemas.openxmlformats.org/drawingml/2006/main">
              <a:ext uri="{FF2B5EF4-FFF2-40B4-BE49-F238E27FC236}">
                <a16:creationId xmlns:a16="http://schemas.microsoft.com/office/drawing/2014/main" id="{9E221CB7-6012-4147-B8F2-63D84BF586D8}"/>
              </a:ext>
            </a:extLst>
          </p:cNvPr>
          <p:cNvPicPr>
            <a:picLocks xmlns:a="http://schemas.openxmlformats.org/drawingml/2006/main" noChangeAspect="1"/>
          </p:cNvPicPr>
          <p:nvPr/>
        </p:nvPicPr>
        <p:blipFill>
          <a:blip xmlns:r="http://schemas.openxmlformats.org/officeDocument/2006/relationships" xmlns:a="http://schemas.openxmlformats.org/drawingml/2006/main" r:embed="R715895ce83cf4491"/>
          <a:stretch xmlns:a="http://schemas.openxmlformats.org/drawingml/2006/main"/>
        </p:blipFill>
        <p:spPr>
          <a:xfrm xmlns:a="http://schemas.openxmlformats.org/drawingml/2006/main">
            <a:off x="762000" y="7524750"/>
            <a:ext cx="13716000" cy="857250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59F048B2-EB02-4F4D-8924-E87CBA8158DE}"/>
              </a:ext>
            </a:extLst>
          </p:cNvPr>
          <p:cNvSpPr>
            <a:spLocks xmlns:a="http://schemas.openxmlformats.org/drawingml/2006/main" noGrp="1"/>
          </p:cNvSpPr>
          <p:nvPr/>
        </p:nvSpPr>
        <p:spPr>
          <a:xfrm xmlns:a="http://schemas.openxmlformats.org/drawingml/2006/main">
            <a:off x="762000" y="16478250"/>
            <a:ext cx="13716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925" b="1">
                <a:solidFill>
                  <a:srgbClr val="20333D"/>
                </a:solidFill>
                <a:latin typeface="Arial"/>
                <a:ea typeface="Arial"/>
                <a:cs typeface="Arial"/>
              </a:defRPr>
            </a:defPPr>
          </a:lstStyle>
          <a:p xmlns:a="http://schemas.openxmlformats.org/drawingml/2006/main">
            <a:pPr>
              <a:defRPr sz="2925" b="1">
                <a:solidFill>
                  <a:srgbClr val="20333D"/>
                </a:solidFill>
                <a:latin typeface="Arial"/>
                <a:ea typeface="Arial"/>
                <a:cs typeface="Arial"/>
              </a:defRPr>
            </a:pPr>
            <a:r>
              <a:rPr sz="2925" b="1">
                <a:solidFill>
                  <a:srgbClr val="20333D"/>
                </a:solidFill>
                <a:latin typeface="Arial"/>
                <a:ea typeface="Arial"/>
                <a:cs typeface="Arial"/>
              </a:rPr>
              <a:t>Start Screening is an execution boundary</a:t>
            </a:r>
          </a:p>
        </p:txBody>
      </p:sp>
      <p:sp>
        <p:nvSpPr>
          <p:cNvPr id="10" name="">
            <a:extLst xmlns:a="http://schemas.openxmlformats.org/drawingml/2006/main">
              <a:ext uri="{FF2B5EF4-FFF2-40B4-BE49-F238E27FC236}">
                <a16:creationId xmlns:a16="http://schemas.microsoft.com/office/drawing/2014/main" id="{ADBF2770-D1AA-4814-A977-0FE8A705CE19}"/>
              </a:ext>
            </a:extLst>
          </p:cNvPr>
          <p:cNvSpPr>
            <a:spLocks xmlns:a="http://schemas.openxmlformats.org/drawingml/2006/main" noGrp="1"/>
          </p:cNvSpPr>
          <p:nvPr/>
        </p:nvSpPr>
        <p:spPr>
          <a:xfrm xmlns:a="http://schemas.openxmlformats.org/drawingml/2006/main">
            <a:off x="762000" y="17145000"/>
            <a:ext cx="13716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550" b="1">
                <a:solidFill>
                  <a:srgbClr val="4B606D"/>
                </a:solidFill>
                <a:latin typeface="Arial"/>
                <a:ea typeface="Arial"/>
                <a:cs typeface="Arial"/>
              </a:defRPr>
            </a:defPPr>
          </a:lstStyle>
          <a:p xmlns:a="http://schemas.openxmlformats.org/drawingml/2006/main">
            <a:pPr>
              <a:defRPr sz="2550" b="1">
                <a:solidFill>
                  <a:srgbClr val="4B606D"/>
                </a:solidFill>
                <a:latin typeface="Arial"/>
                <a:ea typeface="Arial"/>
                <a:cs typeface="Arial"/>
              </a:defRPr>
            </a:pPr>
            <a:r>
              <a:rPr sz="2550" b="1">
                <a:solidFill>
                  <a:srgbClr val="4B606D"/>
                </a:solidFill>
                <a:latin typeface="Arial"/>
                <a:ea typeface="Arial"/>
                <a:cs typeface="Arial"/>
              </a:rPr>
              <a:t>Scroll to Screening and click Start Screening after the library is ready. Queue time and model execution are separate states. Missing outputs are not zero scores.</a:t>
            </a:r>
          </a:p>
        </p:txBody>
      </p:sp>
    </p:spTree>
    <p:extLst>
      <p:ext uri="{BB962C8B-B14F-4D97-AF65-F5344CB8AC3E}">
        <p14:creationId xmlns:p14="http://schemas.microsoft.com/office/powerpoint/2010/main" val="691932151"/>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E3160744-85C4-4FEC-9BA6-6AC74BB3023A}"/>
              </a:ext>
            </a:extLst>
          </p:cNvPr>
          <p:cNvSpPr>
            <a:spLocks xmlns:a="http://schemas.openxmlformats.org/drawingml/2006/main" noGrp="1"/>
          </p:cNvSpPr>
          <p:nvPr/>
        </p:nvSpPr>
        <p:spPr>
          <a:xfrm xmlns:a="http://schemas.openxmlformats.org/drawingml/2006/main">
            <a:off x="762000" y="361950"/>
            <a:ext cx="13239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725" b="1">
                <a:solidFill>
                  <a:srgbClr val="4B606D"/>
                </a:solidFill>
                <a:latin typeface="Arial"/>
                <a:ea typeface="Arial"/>
                <a:cs typeface="Arial"/>
              </a:defRPr>
            </a:defPPr>
          </a:lstStyle>
          <a:p xmlns:a="http://schemas.openxmlformats.org/drawingml/2006/main">
            <a:pPr>
              <a:defRPr sz="1725" b="1">
                <a:solidFill>
                  <a:srgbClr val="4B606D"/>
                </a:solidFill>
                <a:latin typeface="Arial"/>
                <a:ea typeface="Arial"/>
                <a:cs typeface="Arial"/>
              </a:defRPr>
            </a:pPr>
            <a:r>
              <a:rPr sz="1725" b="1">
                <a:solidFill>
                  <a:srgbClr val="4B606D"/>
                </a:solidFill>
                <a:latin typeface="Arial"/>
                <a:ea typeface="Arial"/>
                <a:cs typeface="Arial"/>
              </a:rPr>
              <a:t>ENZORA  /  USER GUIDE</a:t>
            </a:r>
          </a:p>
        </p:txBody>
      </p:sp>
      <p:sp>
        <p:nvSpPr>
          <p:cNvPr id="2" name="">
            <a:extLst xmlns:a="http://schemas.openxmlformats.org/drawingml/2006/main">
              <a:ext uri="{FF2B5EF4-FFF2-40B4-BE49-F238E27FC236}">
                <a16:creationId xmlns:a16="http://schemas.microsoft.com/office/drawing/2014/main" id="{45274590-E3A2-4A1E-98AE-87DFD22F56D5}"/>
              </a:ext>
            </a:extLst>
          </p:cNvPr>
          <p:cNvSpPr>
            <a:spLocks xmlns:a="http://schemas.openxmlformats.org/drawingml/2006/main" noGrp="1"/>
          </p:cNvSpPr>
          <p:nvPr/>
        </p:nvSpPr>
        <p:spPr>
          <a:xfrm xmlns:a="http://schemas.openxmlformats.org/drawingml/2006/main">
            <a:off x="762000" y="952500"/>
            <a:ext cx="13716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4875" b="1">
                <a:solidFill>
                  <a:srgbClr val="20333D"/>
                </a:solidFill>
                <a:latin typeface="Arial"/>
                <a:ea typeface="Arial"/>
                <a:cs typeface="Arial"/>
              </a:defRPr>
            </a:defPPr>
          </a:lstStyle>
          <a:p xmlns:a="http://schemas.openxmlformats.org/drawingml/2006/main">
            <a:pPr>
              <a:defRPr sz="4875" b="1">
                <a:solidFill>
                  <a:srgbClr val="20333D"/>
                </a:solidFill>
                <a:latin typeface="Arial"/>
                <a:ea typeface="Arial"/>
                <a:cs typeface="Arial"/>
              </a:defRPr>
            </a:pPr>
            <a:r>
              <a:rPr sz="4875" b="1">
                <a:solidFill>
                  <a:srgbClr val="20333D"/>
                </a:solidFill>
                <a:latin typeface="Arial"/>
                <a:ea typeface="Arial"/>
                <a:cs typeface="Arial"/>
              </a:rPr>
              <a:t>7. Preferences and confidence</a:t>
            </a:r>
          </a:p>
        </p:txBody>
      </p:sp>
      <p:sp>
        <p:nvSpPr>
          <p:cNvPr id="3" name="">
            <a:extLst xmlns:a="http://schemas.openxmlformats.org/drawingml/2006/main">
              <a:ext uri="{FF2B5EF4-FFF2-40B4-BE49-F238E27FC236}">
                <a16:creationId xmlns:a16="http://schemas.microsoft.com/office/drawing/2014/main" id="{98A2C411-0C81-4E2E-9DE6-C889E0166C01}"/>
              </a:ext>
            </a:extLst>
          </p:cNvPr>
          <p:cNvSpPr>
            <a:spLocks xmlns:a="http://schemas.openxmlformats.org/drawingml/2006/main" noGrp="1"/>
          </p:cNvSpPr>
          <p:nvPr/>
        </p:nvSpPr>
        <p:spPr>
          <a:xfrm xmlns:a="http://schemas.openxmlformats.org/drawingml/2006/main">
            <a:off x="762000" y="2524125"/>
            <a:ext cx="13716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550" b="1">
                <a:solidFill>
                  <a:srgbClr val="4B606D"/>
                </a:solidFill>
                <a:latin typeface="Arial"/>
                <a:ea typeface="Arial"/>
                <a:cs typeface="Arial"/>
              </a:defRPr>
            </a:defPPr>
          </a:lstStyle>
          <a:p xmlns:a="http://schemas.openxmlformats.org/drawingml/2006/main">
            <a:pPr>
              <a:defRPr sz="2550" b="1">
                <a:solidFill>
                  <a:srgbClr val="4B606D"/>
                </a:solidFill>
                <a:latin typeface="Arial"/>
                <a:ea typeface="Arial"/>
                <a:cs typeface="Arial"/>
              </a:defRPr>
            </a:pPr>
            <a:r>
              <a:rPr sz="2550" b="1">
                <a:solidFill>
                  <a:srgbClr val="4B606D"/>
                </a:solidFill>
                <a:latin typeface="Arial"/>
                <a:ea typeface="Arial"/>
                <a:cs typeface="Arial"/>
              </a:rPr>
              <a:t>The right panel changes how model evidence enters the ranking</a:t>
            </a:r>
          </a:p>
        </p:txBody>
      </p:sp>
      <p:sp>
        <p:nvSpPr>
          <p:cNvPr id="4" name="">
            <a:extLst xmlns:a="http://schemas.openxmlformats.org/drawingml/2006/main">
              <a:ext uri="{FF2B5EF4-FFF2-40B4-BE49-F238E27FC236}">
                <a16:creationId xmlns:a16="http://schemas.microsoft.com/office/drawing/2014/main" id="{E4A05D04-692D-4804-90AB-90501B818393}"/>
              </a:ext>
            </a:extLst>
          </p:cNvPr>
          <p:cNvSpPr>
            <a:spLocks xmlns:a="http://schemas.openxmlformats.org/drawingml/2006/main" noGrp="1"/>
          </p:cNvSpPr>
          <p:nvPr/>
        </p:nvSpPr>
        <p:spPr>
          <a:xfrm xmlns:a="http://schemas.openxmlformats.org/drawingml/2006/main">
            <a:off x="762000" y="19240500"/>
            <a:ext cx="1238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650" b="1">
                <a:solidFill>
                  <a:srgbClr val="4B606D"/>
                </a:solidFill>
                <a:latin typeface="Arial"/>
                <a:ea typeface="Arial"/>
                <a:cs typeface="Arial"/>
              </a:defRPr>
            </a:defPPr>
          </a:lstStyle>
          <a:p xmlns:a="http://schemas.openxmlformats.org/drawingml/2006/main">
            <a:pPr>
              <a:defRPr sz="1650" b="1">
                <a:solidFill>
                  <a:srgbClr val="4B606D"/>
                </a:solidFill>
                <a:latin typeface="Arial"/>
                <a:ea typeface="Arial"/>
                <a:cs typeface="Arial"/>
              </a:defRPr>
            </a:pPr>
            <a:r>
              <a:rPr sz="1650" b="1">
                <a:solidFill>
                  <a:srgbClr val="4B606D"/>
                </a:solidFill>
                <a:latin typeface="Arial"/>
                <a:ea typeface="Arial"/>
                <a:cs typeface="Arial"/>
              </a:rPr>
              <a:t>Enzora web platform • 16 October 2026</a:t>
            </a:r>
          </a:p>
        </p:txBody>
      </p:sp>
      <p:sp>
        <p:nvSpPr>
          <p:cNvPr id="5" name="">
            <a:extLst xmlns:a="http://schemas.openxmlformats.org/drawingml/2006/main">
              <a:ext uri="{FF2B5EF4-FFF2-40B4-BE49-F238E27FC236}">
                <a16:creationId xmlns:a16="http://schemas.microsoft.com/office/drawing/2014/main" id="{B4ACFD58-C478-455D-B1C0-E38E70F64E01}"/>
              </a:ext>
            </a:extLst>
          </p:cNvPr>
          <p:cNvSpPr>
            <a:spLocks xmlns:a="http://schemas.openxmlformats.org/drawingml/2006/main" noGrp="1"/>
          </p:cNvSpPr>
          <p:nvPr/>
        </p:nvSpPr>
        <p:spPr>
          <a:xfrm xmlns:a="http://schemas.openxmlformats.org/drawingml/2006/main">
            <a:off x="13811250" y="19240500"/>
            <a:ext cx="762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00" b="1">
                <a:solidFill>
                  <a:srgbClr val="4B606D"/>
                </a:solidFill>
                <a:latin typeface="Arial"/>
                <a:ea typeface="Arial"/>
                <a:cs typeface="Arial"/>
              </a:defRPr>
            </a:defPPr>
          </a:lstStyle>
          <a:p xmlns:a="http://schemas.openxmlformats.org/drawingml/2006/main">
            <a:pPr>
              <a:defRPr sz="1800" b="1">
                <a:solidFill>
                  <a:srgbClr val="4B606D"/>
                </a:solidFill>
                <a:latin typeface="Arial"/>
                <a:ea typeface="Arial"/>
                <a:cs typeface="Arial"/>
              </a:defRPr>
            </a:pPr>
            <a:r>
              <a:rPr sz="1800" b="1">
                <a:solidFill>
                  <a:srgbClr val="4B606D"/>
                </a:solidFill>
                <a:latin typeface="Arial"/>
                <a:ea typeface="Arial"/>
                <a:cs typeface="Arial"/>
              </a:rPr>
              <a:t>8</a:t>
            </a:r>
          </a:p>
        </p:txBody>
      </p:sp>
      <p:sp>
        <p:nvSpPr>
          <p:cNvPr id="6" name="">
            <a:extLst xmlns:a="http://schemas.openxmlformats.org/drawingml/2006/main">
              <a:ext uri="{FF2B5EF4-FFF2-40B4-BE49-F238E27FC236}">
                <a16:creationId xmlns:a16="http://schemas.microsoft.com/office/drawing/2014/main" id="{59E25F8F-F0BB-4E4F-BAB7-67AC9F4485A8}"/>
              </a:ext>
            </a:extLst>
          </p:cNvPr>
          <p:cNvSpPr>
            <a:spLocks xmlns:a="http://schemas.openxmlformats.org/drawingml/2006/main" noGrp="1"/>
          </p:cNvSpPr>
          <p:nvPr/>
        </p:nvSpPr>
        <p:spPr>
          <a:xfrm xmlns:a="http://schemas.openxmlformats.org/drawingml/2006/main">
            <a:off x="762000" y="4048125"/>
            <a:ext cx="13716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925" b="1">
                <a:solidFill>
                  <a:srgbClr val="20333D"/>
                </a:solidFill>
                <a:latin typeface="Arial"/>
                <a:ea typeface="Arial"/>
                <a:cs typeface="Arial"/>
              </a:defRPr>
            </a:defPPr>
          </a:lstStyle>
          <a:p xmlns:a="http://schemas.openxmlformats.org/drawingml/2006/main">
            <a:pPr>
              <a:defRPr sz="2925" b="1">
                <a:solidFill>
                  <a:srgbClr val="20333D"/>
                </a:solidFill>
                <a:latin typeface="Arial"/>
                <a:ea typeface="Arial"/>
                <a:cs typeface="Arial"/>
              </a:defRPr>
            </a:pPr>
            <a:r>
              <a:rPr sz="2925" b="1">
                <a:solidFill>
                  <a:srgbClr val="20333D"/>
                </a:solidFill>
                <a:latin typeface="Arial"/>
                <a:ea typeface="Arial"/>
                <a:cs typeface="Arial"/>
              </a:rPr>
              <a:t>Preference sets your priorities</a:t>
            </a:r>
          </a:p>
        </p:txBody>
      </p:sp>
      <p:sp>
        <p:nvSpPr>
          <p:cNvPr id="7" name="">
            <a:extLst xmlns:a="http://schemas.openxmlformats.org/drawingml/2006/main">
              <a:ext uri="{FF2B5EF4-FFF2-40B4-BE49-F238E27FC236}">
                <a16:creationId xmlns:a16="http://schemas.microsoft.com/office/drawing/2014/main" id="{EC2336E3-6F8B-465D-917F-52695AC27D5D}"/>
              </a:ext>
            </a:extLst>
          </p:cNvPr>
          <p:cNvSpPr>
            <a:spLocks xmlns:a="http://schemas.openxmlformats.org/drawingml/2006/main" noGrp="1"/>
          </p:cNvSpPr>
          <p:nvPr/>
        </p:nvSpPr>
        <p:spPr>
          <a:xfrm xmlns:a="http://schemas.openxmlformats.org/drawingml/2006/main">
            <a:off x="762000" y="4714875"/>
            <a:ext cx="13716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550" b="1">
                <a:solidFill>
                  <a:srgbClr val="4B606D"/>
                </a:solidFill>
                <a:latin typeface="Arial"/>
                <a:ea typeface="Arial"/>
                <a:cs typeface="Arial"/>
              </a:defRPr>
            </a:defPPr>
          </a:lstStyle>
          <a:p xmlns:a="http://schemas.openxmlformats.org/drawingml/2006/main">
            <a:pPr>
              <a:defRPr sz="2550" b="1">
                <a:solidFill>
                  <a:srgbClr val="4B606D"/>
                </a:solidFill>
                <a:latin typeface="Arial"/>
                <a:ea typeface="Arial"/>
                <a:cs typeface="Arial"/>
              </a:defRPr>
            </a:pPr>
            <a:r>
              <a:rPr sz="2550" b="1">
                <a:solidFill>
                  <a:srgbClr val="4B606D"/>
                </a:solidFill>
                <a:latin typeface="Arial"/>
                <a:ea typeface="Arial"/>
                <a:cs typeface="Arial"/>
              </a:rPr>
              <a:t>Increase a property’s preference when it matters more to your design. A positive pH weight requires a target pH. Confidence controls how strongly a predictor should influence this run.</a:t>
            </a:r>
          </a:p>
        </p:txBody>
      </p:sp>
      <p:sp>
        <p:nvSpPr>
          <p:cNvPr id="8" name="">
            <a:extLst xmlns:a="http://schemas.openxmlformats.org/drawingml/2006/main">
              <a:ext uri="{FF2B5EF4-FFF2-40B4-BE49-F238E27FC236}">
                <a16:creationId xmlns:a16="http://schemas.microsoft.com/office/drawing/2014/main" id="{DF339DB3-5F2E-4959-9CF6-EC201515C6B9}"/>
              </a:ext>
            </a:extLst>
          </p:cNvPr>
          <p:cNvSpPr>
            <a:spLocks xmlns:a="http://schemas.openxmlformats.org/drawingml/2006/main" noGrp="1"/>
          </p:cNvSpPr>
          <p:nvPr/>
        </p:nvSpPr>
        <p:spPr>
          <a:xfrm xmlns:a="http://schemas.openxmlformats.org/drawingml/2006/main">
            <a:off x="762000" y="7334250"/>
            <a:ext cx="13716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925" b="1">
                <a:solidFill>
                  <a:srgbClr val="20333D"/>
                </a:solidFill>
                <a:latin typeface="Arial"/>
                <a:ea typeface="Arial"/>
                <a:cs typeface="Arial"/>
              </a:defRPr>
            </a:defPPr>
          </a:lstStyle>
          <a:p xmlns:a="http://schemas.openxmlformats.org/drawingml/2006/main">
            <a:pPr>
              <a:defRPr sz="2925" b="1">
                <a:solidFill>
                  <a:srgbClr val="20333D"/>
                </a:solidFill>
                <a:latin typeface="Arial"/>
                <a:ea typeface="Arial"/>
                <a:cs typeface="Arial"/>
              </a:defRPr>
            </a:pPr>
            <a:r>
              <a:rPr sz="2925" b="1">
                <a:solidFill>
                  <a:srgbClr val="20333D"/>
                </a:solidFill>
                <a:latin typeface="Arial"/>
                <a:ea typeface="Arial"/>
                <a:cs typeface="Arial"/>
              </a:rPr>
              <a:t>Review the applied balance</a:t>
            </a:r>
          </a:p>
        </p:txBody>
      </p:sp>
      <p:sp>
        <p:nvSpPr>
          <p:cNvPr id="9" name="">
            <a:extLst xmlns:a="http://schemas.openxmlformats.org/drawingml/2006/main">
              <a:ext uri="{FF2B5EF4-FFF2-40B4-BE49-F238E27FC236}">
                <a16:creationId xmlns:a16="http://schemas.microsoft.com/office/drawing/2014/main" id="{75EBC7E4-8C08-4F94-B465-A9651C5368D0}"/>
              </a:ext>
            </a:extLst>
          </p:cNvPr>
          <p:cNvSpPr>
            <a:spLocks xmlns:a="http://schemas.openxmlformats.org/drawingml/2006/main" noGrp="1"/>
          </p:cNvSpPr>
          <p:nvPr/>
        </p:nvSpPr>
        <p:spPr>
          <a:xfrm xmlns:a="http://schemas.openxmlformats.org/drawingml/2006/main">
            <a:off x="762000" y="8001000"/>
            <a:ext cx="13716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550" b="1">
                <a:solidFill>
                  <a:srgbClr val="4B606D"/>
                </a:solidFill>
                <a:latin typeface="Arial"/>
                <a:ea typeface="Arial"/>
                <a:cs typeface="Arial"/>
              </a:defRPr>
            </a:defPPr>
          </a:lstStyle>
          <a:p xmlns:a="http://schemas.openxmlformats.org/drawingml/2006/main">
            <a:pPr>
              <a:defRPr sz="2550" b="1">
                <a:solidFill>
                  <a:srgbClr val="4B606D"/>
                </a:solidFill>
                <a:latin typeface="Arial"/>
                <a:ea typeface="Arial"/>
                <a:cs typeface="Arial"/>
              </a:defRPr>
            </a:pPr>
            <a:r>
              <a:rPr sz="2550" b="1">
                <a:solidFill>
                  <a:srgbClr val="4B606D"/>
                </a:solidFill>
                <a:latin typeface="Arial"/>
                <a:ea typeface="Arial"/>
                <a:cs typeface="Arial"/>
              </a:rPr>
              <a:t>The Assistant reads available predictions and uncertainty, then requests a validated balance_scores tool call. The panel shows normalized effective shares. Apply manual edits and check that the status is Applied.</a:t>
            </a:r>
          </a:p>
        </p:txBody>
      </p:sp>
      <p:pic>
        <p:nvPicPr>
          <p:cNvPr id="10" name="">
            <a:extLst xmlns:a="http://schemas.openxmlformats.org/drawingml/2006/main">
              <a:ext uri="{FF2B5EF4-FFF2-40B4-BE49-F238E27FC236}">
                <a16:creationId xmlns:a16="http://schemas.microsoft.com/office/drawing/2014/main" id="{DF9D34A9-D682-43F1-8211-1FA608BCAE87}"/>
              </a:ext>
            </a:extLst>
          </p:cNvPr>
          <p:cNvPicPr>
            <a:picLocks xmlns:a="http://schemas.openxmlformats.org/drawingml/2006/main" noChangeAspect="1"/>
          </p:cNvPicPr>
          <p:nvPr/>
        </p:nvPicPr>
        <p:blipFill>
          <a:blip xmlns:r="http://schemas.openxmlformats.org/officeDocument/2006/relationships" xmlns:a="http://schemas.openxmlformats.org/drawingml/2006/main" r:embed="R152e254b1e034b95"/>
          <a:stretch xmlns:a="http://schemas.openxmlformats.org/drawingml/2006/main"/>
        </p:blipFill>
        <p:spPr>
          <a:xfrm xmlns:a="http://schemas.openxmlformats.org/drawingml/2006/main">
            <a:off x="1828800" y="10572750"/>
            <a:ext cx="11582400" cy="7239000"/>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92B3371F-2ED6-426C-9FBC-F13008AD5ABD}"/>
              </a:ext>
            </a:extLst>
          </p:cNvPr>
          <p:cNvSpPr>
            <a:spLocks xmlns:a="http://schemas.openxmlformats.org/drawingml/2006/main" noGrp="1"/>
          </p:cNvSpPr>
          <p:nvPr/>
        </p:nvSpPr>
        <p:spPr>
          <a:xfrm xmlns:a="http://schemas.openxmlformats.org/drawingml/2006/main">
            <a:off x="762000" y="18192750"/>
            <a:ext cx="13716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400" b="1">
                <a:solidFill>
                  <a:srgbClr val="4B606D"/>
                </a:solidFill>
                <a:latin typeface="Arial"/>
                <a:ea typeface="Arial"/>
                <a:cs typeface="Arial"/>
              </a:defRPr>
            </a:defPPr>
          </a:lstStyle>
          <a:p xmlns:a="http://schemas.openxmlformats.org/drawingml/2006/main">
            <a:pPr>
              <a:defRPr sz="2400" b="1">
                <a:solidFill>
                  <a:srgbClr val="4B606D"/>
                </a:solidFill>
                <a:latin typeface="Arial"/>
                <a:ea typeface="Arial"/>
                <a:cs typeface="Arial"/>
              </a:defRPr>
            </a:pPr>
            <a:r>
              <a:rPr sz="2400" b="1">
                <a:solidFill>
                  <a:srgbClr val="4B606D"/>
                </a:solidFill>
                <a:latin typeface="Arial"/>
                <a:ea typeface="Arial"/>
                <a:cs typeface="Arial"/>
              </a:rPr>
              <a:t>Confidence is a control parameter, not an experimental success probability.</a:t>
            </a:r>
          </a:p>
        </p:txBody>
      </p:sp>
    </p:spTree>
    <p:extLst>
      <p:ext uri="{BB962C8B-B14F-4D97-AF65-F5344CB8AC3E}">
        <p14:creationId xmlns:p14="http://schemas.microsoft.com/office/powerpoint/2010/main" val="528872664"/>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FE11706-D1BA-4782-8C83-89F418C6F920}"/>
              </a:ext>
            </a:extLst>
          </p:cNvPr>
          <p:cNvSpPr>
            <a:spLocks xmlns:a="http://schemas.openxmlformats.org/drawingml/2006/main" noGrp="1"/>
          </p:cNvSpPr>
          <p:nvPr/>
        </p:nvSpPr>
        <p:spPr>
          <a:xfrm xmlns:a="http://schemas.openxmlformats.org/drawingml/2006/main">
            <a:off x="762000" y="361950"/>
            <a:ext cx="13239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725" b="1">
                <a:solidFill>
                  <a:srgbClr val="4B606D"/>
                </a:solidFill>
                <a:latin typeface="Arial"/>
                <a:ea typeface="Arial"/>
                <a:cs typeface="Arial"/>
              </a:defRPr>
            </a:defPPr>
          </a:lstStyle>
          <a:p xmlns:a="http://schemas.openxmlformats.org/drawingml/2006/main">
            <a:pPr>
              <a:defRPr sz="1725" b="1">
                <a:solidFill>
                  <a:srgbClr val="4B606D"/>
                </a:solidFill>
                <a:latin typeface="Arial"/>
                <a:ea typeface="Arial"/>
                <a:cs typeface="Arial"/>
              </a:defRPr>
            </a:pPr>
            <a:r>
              <a:rPr sz="1725" b="1">
                <a:solidFill>
                  <a:srgbClr val="4B606D"/>
                </a:solidFill>
                <a:latin typeface="Arial"/>
                <a:ea typeface="Arial"/>
                <a:cs typeface="Arial"/>
              </a:rPr>
              <a:t>ENZORA  /  USER GUIDE</a:t>
            </a:r>
          </a:p>
        </p:txBody>
      </p:sp>
      <p:sp>
        <p:nvSpPr>
          <p:cNvPr id="2" name="">
            <a:extLst xmlns:a="http://schemas.openxmlformats.org/drawingml/2006/main">
              <a:ext uri="{FF2B5EF4-FFF2-40B4-BE49-F238E27FC236}">
                <a16:creationId xmlns:a16="http://schemas.microsoft.com/office/drawing/2014/main" id="{C3C31E5B-01D9-4B73-99A0-8914E3DB947D}"/>
              </a:ext>
            </a:extLst>
          </p:cNvPr>
          <p:cNvSpPr>
            <a:spLocks xmlns:a="http://schemas.openxmlformats.org/drawingml/2006/main" noGrp="1"/>
          </p:cNvSpPr>
          <p:nvPr/>
        </p:nvSpPr>
        <p:spPr>
          <a:xfrm xmlns:a="http://schemas.openxmlformats.org/drawingml/2006/main">
            <a:off x="762000" y="952500"/>
            <a:ext cx="13716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4875" b="1">
                <a:solidFill>
                  <a:srgbClr val="20333D"/>
                </a:solidFill>
                <a:latin typeface="Arial"/>
                <a:ea typeface="Arial"/>
                <a:cs typeface="Arial"/>
              </a:defRPr>
            </a:defPPr>
          </a:lstStyle>
          <a:p xmlns:a="http://schemas.openxmlformats.org/drawingml/2006/main">
            <a:pPr>
              <a:defRPr sz="4875" b="1">
                <a:solidFill>
                  <a:srgbClr val="20333D"/>
                </a:solidFill>
                <a:latin typeface="Arial"/>
                <a:ea typeface="Arial"/>
                <a:cs typeface="Arial"/>
              </a:defRPr>
            </a:pPr>
            <a:r>
              <a:rPr sz="4875" b="1">
                <a:solidFill>
                  <a:srgbClr val="20333D"/>
                </a:solidFill>
                <a:latin typeface="Arial"/>
                <a:ea typeface="Arial"/>
                <a:cs typeface="Arial"/>
              </a:rPr>
              <a:t>8. Reading the score</a:t>
            </a:r>
          </a:p>
        </p:txBody>
      </p:sp>
      <p:sp>
        <p:nvSpPr>
          <p:cNvPr id="3" name="">
            <a:extLst xmlns:a="http://schemas.openxmlformats.org/drawingml/2006/main">
              <a:ext uri="{FF2B5EF4-FFF2-40B4-BE49-F238E27FC236}">
                <a16:creationId xmlns:a16="http://schemas.microsoft.com/office/drawing/2014/main" id="{0F20137D-2E9C-47E5-B791-A643B0E4ED2E}"/>
              </a:ext>
            </a:extLst>
          </p:cNvPr>
          <p:cNvSpPr>
            <a:spLocks xmlns:a="http://schemas.openxmlformats.org/drawingml/2006/main" noGrp="1"/>
          </p:cNvSpPr>
          <p:nvPr/>
        </p:nvSpPr>
        <p:spPr>
          <a:xfrm xmlns:a="http://schemas.openxmlformats.org/drawingml/2006/main">
            <a:off x="762000" y="2524125"/>
            <a:ext cx="13716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550" b="1">
                <a:solidFill>
                  <a:srgbClr val="4B606D"/>
                </a:solidFill>
                <a:latin typeface="Arial"/>
                <a:ea typeface="Arial"/>
                <a:cs typeface="Arial"/>
              </a:defRPr>
            </a:defPPr>
          </a:lstStyle>
          <a:p xmlns:a="http://schemas.openxmlformats.org/drawingml/2006/main">
            <a:pPr>
              <a:defRPr sz="2550" b="1">
                <a:solidFill>
                  <a:srgbClr val="4B606D"/>
                </a:solidFill>
                <a:latin typeface="Arial"/>
                <a:ea typeface="Arial"/>
                <a:cs typeface="Arial"/>
              </a:defRPr>
            </a:pPr>
            <a:r>
              <a:rPr sz="2550" b="1">
                <a:solidFill>
                  <a:srgbClr val="4B606D"/>
                </a:solidFill>
                <a:latin typeface="Arial"/>
                <a:ea typeface="Arial"/>
                <a:cs typeface="Arial"/>
              </a:rPr>
              <a:t>A fixed WT reference makes gains interpretable</a:t>
            </a:r>
          </a:p>
        </p:txBody>
      </p:sp>
      <p:sp>
        <p:nvSpPr>
          <p:cNvPr id="4" name="">
            <a:extLst xmlns:a="http://schemas.openxmlformats.org/drawingml/2006/main">
              <a:ext uri="{FF2B5EF4-FFF2-40B4-BE49-F238E27FC236}">
                <a16:creationId xmlns:a16="http://schemas.microsoft.com/office/drawing/2014/main" id="{B2F3C5D6-19DB-4C13-90FF-CD2DB9543D3F}"/>
              </a:ext>
            </a:extLst>
          </p:cNvPr>
          <p:cNvSpPr>
            <a:spLocks xmlns:a="http://schemas.openxmlformats.org/drawingml/2006/main" noGrp="1"/>
          </p:cNvSpPr>
          <p:nvPr/>
        </p:nvSpPr>
        <p:spPr>
          <a:xfrm xmlns:a="http://schemas.openxmlformats.org/drawingml/2006/main">
            <a:off x="762000" y="19240500"/>
            <a:ext cx="1238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650" b="1">
                <a:solidFill>
                  <a:srgbClr val="4B606D"/>
                </a:solidFill>
                <a:latin typeface="Arial"/>
                <a:ea typeface="Arial"/>
                <a:cs typeface="Arial"/>
              </a:defRPr>
            </a:defPPr>
          </a:lstStyle>
          <a:p xmlns:a="http://schemas.openxmlformats.org/drawingml/2006/main">
            <a:pPr>
              <a:defRPr sz="1650" b="1">
                <a:solidFill>
                  <a:srgbClr val="4B606D"/>
                </a:solidFill>
                <a:latin typeface="Arial"/>
                <a:ea typeface="Arial"/>
                <a:cs typeface="Arial"/>
              </a:defRPr>
            </a:pPr>
            <a:r>
              <a:rPr sz="1650" b="1">
                <a:solidFill>
                  <a:srgbClr val="4B606D"/>
                </a:solidFill>
                <a:latin typeface="Arial"/>
                <a:ea typeface="Arial"/>
                <a:cs typeface="Arial"/>
              </a:rPr>
              <a:t>Enzora web platform • 16 October 2026</a:t>
            </a:r>
          </a:p>
        </p:txBody>
      </p:sp>
      <p:sp>
        <p:nvSpPr>
          <p:cNvPr id="5" name="">
            <a:extLst xmlns:a="http://schemas.openxmlformats.org/drawingml/2006/main">
              <a:ext uri="{FF2B5EF4-FFF2-40B4-BE49-F238E27FC236}">
                <a16:creationId xmlns:a16="http://schemas.microsoft.com/office/drawing/2014/main" id="{FB104EF8-83B9-416D-9593-DA481C7DF523}"/>
              </a:ext>
            </a:extLst>
          </p:cNvPr>
          <p:cNvSpPr>
            <a:spLocks xmlns:a="http://schemas.openxmlformats.org/drawingml/2006/main" noGrp="1"/>
          </p:cNvSpPr>
          <p:nvPr/>
        </p:nvSpPr>
        <p:spPr>
          <a:xfrm xmlns:a="http://schemas.openxmlformats.org/drawingml/2006/main">
            <a:off x="13811250" y="19240500"/>
            <a:ext cx="762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00" b="1">
                <a:solidFill>
                  <a:srgbClr val="4B606D"/>
                </a:solidFill>
                <a:latin typeface="Arial"/>
                <a:ea typeface="Arial"/>
                <a:cs typeface="Arial"/>
              </a:defRPr>
            </a:defPPr>
          </a:lstStyle>
          <a:p xmlns:a="http://schemas.openxmlformats.org/drawingml/2006/main">
            <a:pPr>
              <a:defRPr sz="1800" b="1">
                <a:solidFill>
                  <a:srgbClr val="4B606D"/>
                </a:solidFill>
                <a:latin typeface="Arial"/>
                <a:ea typeface="Arial"/>
                <a:cs typeface="Arial"/>
              </a:defRPr>
            </a:pPr>
            <a:r>
              <a:rPr sz="1800" b="1">
                <a:solidFill>
                  <a:srgbClr val="4B606D"/>
                </a:solidFill>
                <a:latin typeface="Arial"/>
                <a:ea typeface="Arial"/>
                <a:cs typeface="Arial"/>
              </a:rPr>
              <a:t>9</a:t>
            </a:r>
          </a:p>
        </p:txBody>
      </p:sp>
      <p:pic>
        <p:nvPicPr>
          <p:cNvPr id="6" name="">
            <a:extLst xmlns:a="http://schemas.openxmlformats.org/drawingml/2006/main">
              <a:ext uri="{FF2B5EF4-FFF2-40B4-BE49-F238E27FC236}">
                <a16:creationId xmlns:a16="http://schemas.microsoft.com/office/drawing/2014/main" id="{DF4216F5-53EB-4CC9-A843-F45FF9774E6B}"/>
              </a:ext>
            </a:extLst>
          </p:cNvPr>
          <p:cNvPicPr>
            <a:picLocks xmlns:a="http://schemas.openxmlformats.org/drawingml/2006/main" noChangeAspect="1"/>
          </p:cNvPicPr>
          <p:nvPr/>
        </p:nvPicPr>
        <p:blipFill>
          <a:blip xmlns:r="http://schemas.openxmlformats.org/officeDocument/2006/relationships" xmlns:a="http://schemas.openxmlformats.org/drawingml/2006/main" r:embed="Ra8f4040ddfa64faa"/>
          <a:stretch xmlns:a="http://schemas.openxmlformats.org/drawingml/2006/main"/>
        </p:blipFill>
        <p:spPr>
          <a:xfrm xmlns:a="http://schemas.openxmlformats.org/drawingml/2006/main">
            <a:off x="762000" y="4086225"/>
            <a:ext cx="13716000" cy="92583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42EA9F26-4401-4F7A-AD45-5AAC1ED8E149}"/>
              </a:ext>
            </a:extLst>
          </p:cNvPr>
          <p:cNvSpPr>
            <a:spLocks xmlns:a="http://schemas.openxmlformats.org/drawingml/2006/main" noGrp="1"/>
          </p:cNvSpPr>
          <p:nvPr/>
        </p:nvSpPr>
        <p:spPr>
          <a:xfrm xmlns:a="http://schemas.openxmlformats.org/drawingml/2006/main">
            <a:off x="762000" y="14001750"/>
            <a:ext cx="13716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925" b="1">
                <a:solidFill>
                  <a:srgbClr val="20333D"/>
                </a:solidFill>
                <a:latin typeface="Arial"/>
                <a:ea typeface="Arial"/>
                <a:cs typeface="Arial"/>
              </a:defRPr>
            </a:defPPr>
          </a:lstStyle>
          <a:p xmlns:a="http://schemas.openxmlformats.org/drawingml/2006/main">
            <a:pPr>
              <a:defRPr sz="2925" b="1">
                <a:solidFill>
                  <a:srgbClr val="20333D"/>
                </a:solidFill>
                <a:latin typeface="Arial"/>
                <a:ea typeface="Arial"/>
                <a:cs typeface="Arial"/>
              </a:defRPr>
            </a:pPr>
            <a:r>
              <a:rPr sz="2925" b="1">
                <a:solidFill>
                  <a:srgbClr val="20333D"/>
                </a:solidFill>
                <a:latin typeface="Arial"/>
                <a:ea typeface="Arial"/>
                <a:cs typeface="Arial"/>
              </a:rPr>
              <a:t>Gain, uncertainty and the neutral point</a:t>
            </a:r>
          </a:p>
        </p:txBody>
      </p:sp>
      <p:sp>
        <p:nvSpPr>
          <p:cNvPr id="8" name="">
            <a:extLst xmlns:a="http://schemas.openxmlformats.org/drawingml/2006/main">
              <a:ext uri="{FF2B5EF4-FFF2-40B4-BE49-F238E27FC236}">
                <a16:creationId xmlns:a16="http://schemas.microsoft.com/office/drawing/2014/main" id="{65248DB0-DA8D-4FA6-A915-A23E09318676}"/>
              </a:ext>
            </a:extLst>
          </p:cNvPr>
          <p:cNvSpPr>
            <a:spLocks xmlns:a="http://schemas.openxmlformats.org/drawingml/2006/main" noGrp="1"/>
          </p:cNvSpPr>
          <p:nvPr/>
        </p:nvSpPr>
        <p:spPr>
          <a:xfrm xmlns:a="http://schemas.openxmlformats.org/drawingml/2006/main">
            <a:off x="762000" y="14668500"/>
            <a:ext cx="13716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550" b="1">
                <a:solidFill>
                  <a:srgbClr val="4B606D"/>
                </a:solidFill>
                <a:latin typeface="Arial"/>
                <a:ea typeface="Arial"/>
                <a:cs typeface="Arial"/>
              </a:defRPr>
            </a:defPPr>
          </a:lstStyle>
          <a:p xmlns:a="http://schemas.openxmlformats.org/drawingml/2006/main">
            <a:pPr>
              <a:defRPr sz="2550" b="1">
                <a:solidFill>
                  <a:srgbClr val="4B606D"/>
                </a:solidFill>
                <a:latin typeface="Arial"/>
                <a:ea typeface="Arial"/>
                <a:cs typeface="Arial"/>
              </a:defRPr>
            </a:pPr>
            <a:r>
              <a:rPr sz="2550" b="1">
                <a:solidFill>
                  <a:srgbClr val="4B606D"/>
                </a:solidFill>
                <a:latin typeface="Arial"/>
                <a:ea typeface="Arial"/>
                <a:cs typeface="Arial"/>
              </a:rPr>
              <a:t>Activity gain is candidate minus WT. pH gain is the reduction in distance to the target. Stability gain follows the configured lower-is-better ΔΔG convention. Uncertainty shrinks gains and losses towards 0.5.</a:t>
            </a:r>
          </a:p>
        </p:txBody>
      </p:sp>
      <p:sp>
        <p:nvSpPr>
          <p:cNvPr id="9" name="">
            <a:extLst xmlns:a="http://schemas.openxmlformats.org/drawingml/2006/main">
              <a:ext uri="{FF2B5EF4-FFF2-40B4-BE49-F238E27FC236}">
                <a16:creationId xmlns:a16="http://schemas.microsoft.com/office/drawing/2014/main" id="{45814966-9F8F-4FF2-BD29-CA2F73C4A25D}"/>
              </a:ext>
            </a:extLst>
          </p:cNvPr>
          <p:cNvSpPr>
            <a:spLocks xmlns:a="http://schemas.openxmlformats.org/drawingml/2006/main" noGrp="1"/>
          </p:cNvSpPr>
          <p:nvPr/>
        </p:nvSpPr>
        <p:spPr>
          <a:xfrm xmlns:a="http://schemas.openxmlformats.org/drawingml/2006/main">
            <a:off x="762000" y="16954500"/>
            <a:ext cx="13716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925" b="1">
                <a:solidFill>
                  <a:srgbClr val="20333D"/>
                </a:solidFill>
                <a:latin typeface="Arial"/>
                <a:ea typeface="Arial"/>
                <a:cs typeface="Arial"/>
              </a:defRPr>
            </a:defPPr>
          </a:lstStyle>
          <a:p xmlns:a="http://schemas.openxmlformats.org/drawingml/2006/main">
            <a:pPr>
              <a:defRPr sz="2925" b="1">
                <a:solidFill>
                  <a:srgbClr val="20333D"/>
                </a:solidFill>
                <a:latin typeface="Arial"/>
                <a:ea typeface="Arial"/>
                <a:cs typeface="Arial"/>
              </a:defRPr>
            </a:pPr>
            <a:r>
              <a:rPr sz="2925" b="1">
                <a:solidFill>
                  <a:srgbClr val="20333D"/>
                </a:solidFill>
                <a:latin typeface="Arial"/>
                <a:ea typeface="Arial"/>
                <a:cs typeface="Arial"/>
              </a:rPr>
              <a:t>Ranking and acceptance are separate</a:t>
            </a:r>
          </a:p>
        </p:txBody>
      </p:sp>
      <p:sp>
        <p:nvSpPr>
          <p:cNvPr id="10" name="">
            <a:extLst xmlns:a="http://schemas.openxmlformats.org/drawingml/2006/main">
              <a:ext uri="{FF2B5EF4-FFF2-40B4-BE49-F238E27FC236}">
                <a16:creationId xmlns:a16="http://schemas.microsoft.com/office/drawing/2014/main" id="{D64D1398-09A7-4D1E-90CD-BA7E7EAFEC81}"/>
              </a:ext>
            </a:extLst>
          </p:cNvPr>
          <p:cNvSpPr>
            <a:spLocks xmlns:a="http://schemas.openxmlformats.org/drawingml/2006/main" noGrp="1"/>
          </p:cNvSpPr>
          <p:nvPr/>
        </p:nvSpPr>
        <p:spPr>
          <a:xfrm xmlns:a="http://schemas.openxmlformats.org/drawingml/2006/main">
            <a:off x="762000" y="17621250"/>
            <a:ext cx="13716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550" b="1">
                <a:solidFill>
                  <a:srgbClr val="4B606D"/>
                </a:solidFill>
                <a:latin typeface="Arial"/>
                <a:ea typeface="Arial"/>
                <a:cs typeface="Arial"/>
              </a:defRPr>
            </a:defPPr>
          </a:lstStyle>
          <a:p xmlns:a="http://schemas.openxmlformats.org/drawingml/2006/main">
            <a:pPr>
              <a:defRPr sz="2550" b="1">
                <a:solidFill>
                  <a:srgbClr val="4B606D"/>
                </a:solidFill>
                <a:latin typeface="Arial"/>
                <a:ea typeface="Arial"/>
                <a:cs typeface="Arial"/>
              </a:defRPr>
            </a:pPr>
            <a:r>
              <a:rPr sz="2550" b="1">
                <a:solidFill>
                  <a:srgbClr val="4B606D"/>
                </a:solidFill>
                <a:latin typeface="Arial"/>
                <a:ea typeface="Arial"/>
                <a:cs typeface="Arial"/>
              </a:rPr>
              <a:t>A high rank does not mean that a candidate meets the target. Review pH tolerance, minimum activity and stability thresholds alongside the composite score.</a:t>
            </a:r>
          </a:p>
        </p:txBody>
      </p:sp>
    </p:spTree>
    <p:extLst>
      <p:ext uri="{BB962C8B-B14F-4D97-AF65-F5344CB8AC3E}">
        <p14:creationId xmlns:p14="http://schemas.microsoft.com/office/powerpoint/2010/main" val="1720588959"/>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E03E993-B720-4BDB-BB6D-F77D119AADE6}"/>
              </a:ext>
            </a:extLst>
          </p:cNvPr>
          <p:cNvSpPr>
            <a:spLocks xmlns:a="http://schemas.openxmlformats.org/drawingml/2006/main" noGrp="1"/>
          </p:cNvSpPr>
          <p:nvPr/>
        </p:nvSpPr>
        <p:spPr>
          <a:xfrm xmlns:a="http://schemas.openxmlformats.org/drawingml/2006/main">
            <a:off x="762000" y="361950"/>
            <a:ext cx="13239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725" b="1">
                <a:solidFill>
                  <a:srgbClr val="4B606D"/>
                </a:solidFill>
                <a:latin typeface="Arial"/>
                <a:ea typeface="Arial"/>
                <a:cs typeface="Arial"/>
              </a:defRPr>
            </a:defPPr>
          </a:lstStyle>
          <a:p xmlns:a="http://schemas.openxmlformats.org/drawingml/2006/main">
            <a:pPr>
              <a:defRPr sz="1725" b="1">
                <a:solidFill>
                  <a:srgbClr val="4B606D"/>
                </a:solidFill>
                <a:latin typeface="Arial"/>
                <a:ea typeface="Arial"/>
                <a:cs typeface="Arial"/>
              </a:defRPr>
            </a:pPr>
            <a:r>
              <a:rPr sz="1725" b="1">
                <a:solidFill>
                  <a:srgbClr val="4B606D"/>
                </a:solidFill>
                <a:latin typeface="Arial"/>
                <a:ea typeface="Arial"/>
                <a:cs typeface="Arial"/>
              </a:rPr>
              <a:t>ENZORA  /  USER GUIDE</a:t>
            </a:r>
          </a:p>
        </p:txBody>
      </p:sp>
      <p:sp>
        <p:nvSpPr>
          <p:cNvPr id="2" name="">
            <a:extLst xmlns:a="http://schemas.openxmlformats.org/drawingml/2006/main">
              <a:ext uri="{FF2B5EF4-FFF2-40B4-BE49-F238E27FC236}">
                <a16:creationId xmlns:a16="http://schemas.microsoft.com/office/drawing/2014/main" id="{99B5DDC9-FA25-47A7-8B79-ED67A66EF368}"/>
              </a:ext>
            </a:extLst>
          </p:cNvPr>
          <p:cNvSpPr>
            <a:spLocks xmlns:a="http://schemas.openxmlformats.org/drawingml/2006/main" noGrp="1"/>
          </p:cNvSpPr>
          <p:nvPr/>
        </p:nvSpPr>
        <p:spPr>
          <a:xfrm xmlns:a="http://schemas.openxmlformats.org/drawingml/2006/main">
            <a:off x="762000" y="952500"/>
            <a:ext cx="13716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4875" b="1">
                <a:solidFill>
                  <a:srgbClr val="20333D"/>
                </a:solidFill>
                <a:latin typeface="Arial"/>
                <a:ea typeface="Arial"/>
                <a:cs typeface="Arial"/>
              </a:defRPr>
            </a:defPPr>
          </a:lstStyle>
          <a:p xmlns:a="http://schemas.openxmlformats.org/drawingml/2006/main">
            <a:pPr>
              <a:defRPr sz="4875" b="1">
                <a:solidFill>
                  <a:srgbClr val="20333D"/>
                </a:solidFill>
                <a:latin typeface="Arial"/>
                <a:ea typeface="Arial"/>
                <a:cs typeface="Arial"/>
              </a:defRPr>
            </a:pPr>
            <a:r>
              <a:rPr sz="4875" b="1">
                <a:solidFill>
                  <a:srgbClr val="20333D"/>
                </a:solidFill>
                <a:latin typeface="Arial"/>
                <a:ea typeface="Arial"/>
                <a:cs typeface="Arial"/>
              </a:rPr>
              <a:t>9. Enzora Assistant</a:t>
            </a:r>
          </a:p>
        </p:txBody>
      </p:sp>
      <p:sp>
        <p:nvSpPr>
          <p:cNvPr id="3" name="">
            <a:extLst xmlns:a="http://schemas.openxmlformats.org/drawingml/2006/main">
              <a:ext uri="{FF2B5EF4-FFF2-40B4-BE49-F238E27FC236}">
                <a16:creationId xmlns:a16="http://schemas.microsoft.com/office/drawing/2014/main" id="{C56A4239-AB74-41A9-B837-F373812DDA01}"/>
              </a:ext>
            </a:extLst>
          </p:cNvPr>
          <p:cNvSpPr>
            <a:spLocks xmlns:a="http://schemas.openxmlformats.org/drawingml/2006/main" noGrp="1"/>
          </p:cNvSpPr>
          <p:nvPr/>
        </p:nvSpPr>
        <p:spPr>
          <a:xfrm xmlns:a="http://schemas.openxmlformats.org/drawingml/2006/main">
            <a:off x="762000" y="2524125"/>
            <a:ext cx="13716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550" b="1">
                <a:solidFill>
                  <a:srgbClr val="4B606D"/>
                </a:solidFill>
                <a:latin typeface="Arial"/>
                <a:ea typeface="Arial"/>
                <a:cs typeface="Arial"/>
              </a:defRPr>
            </a:defPPr>
          </a:lstStyle>
          <a:p xmlns:a="http://schemas.openxmlformats.org/drawingml/2006/main">
            <a:pPr>
              <a:defRPr sz="2550" b="1">
                <a:solidFill>
                  <a:srgbClr val="4B606D"/>
                </a:solidFill>
                <a:latin typeface="Arial"/>
                <a:ea typeface="Arial"/>
                <a:cs typeface="Arial"/>
              </a:defRPr>
            </a:pPr>
            <a:r>
              <a:rPr sz="2550" b="1">
                <a:solidFill>
                  <a:srgbClr val="4B606D"/>
                </a:solidFill>
                <a:latin typeface="Arial"/>
                <a:ea typeface="Arial"/>
                <a:cs typeface="Arial"/>
              </a:rPr>
              <a:t>Natural language requests call bounded, validated tools</a:t>
            </a:r>
          </a:p>
        </p:txBody>
      </p:sp>
      <p:sp>
        <p:nvSpPr>
          <p:cNvPr id="4" name="">
            <a:extLst xmlns:a="http://schemas.openxmlformats.org/drawingml/2006/main">
              <a:ext uri="{FF2B5EF4-FFF2-40B4-BE49-F238E27FC236}">
                <a16:creationId xmlns:a16="http://schemas.microsoft.com/office/drawing/2014/main" id="{E2B897A1-3B19-4083-9195-7B4F35BEA04C}"/>
              </a:ext>
            </a:extLst>
          </p:cNvPr>
          <p:cNvSpPr>
            <a:spLocks xmlns:a="http://schemas.openxmlformats.org/drawingml/2006/main" noGrp="1"/>
          </p:cNvSpPr>
          <p:nvPr/>
        </p:nvSpPr>
        <p:spPr>
          <a:xfrm xmlns:a="http://schemas.openxmlformats.org/drawingml/2006/main">
            <a:off x="762000" y="19240500"/>
            <a:ext cx="1238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650" b="1">
                <a:solidFill>
                  <a:srgbClr val="4B606D"/>
                </a:solidFill>
                <a:latin typeface="Arial"/>
                <a:ea typeface="Arial"/>
                <a:cs typeface="Arial"/>
              </a:defRPr>
            </a:defPPr>
          </a:lstStyle>
          <a:p xmlns:a="http://schemas.openxmlformats.org/drawingml/2006/main">
            <a:pPr>
              <a:defRPr sz="1650" b="1">
                <a:solidFill>
                  <a:srgbClr val="4B606D"/>
                </a:solidFill>
                <a:latin typeface="Arial"/>
                <a:ea typeface="Arial"/>
                <a:cs typeface="Arial"/>
              </a:defRPr>
            </a:pPr>
            <a:r>
              <a:rPr sz="1650" b="1">
                <a:solidFill>
                  <a:srgbClr val="4B606D"/>
                </a:solidFill>
                <a:latin typeface="Arial"/>
                <a:ea typeface="Arial"/>
                <a:cs typeface="Arial"/>
              </a:rPr>
              <a:t>Enzora web platform • 16 October 2026</a:t>
            </a:r>
          </a:p>
        </p:txBody>
      </p:sp>
      <p:sp>
        <p:nvSpPr>
          <p:cNvPr id="5" name="">
            <a:extLst xmlns:a="http://schemas.openxmlformats.org/drawingml/2006/main">
              <a:ext uri="{FF2B5EF4-FFF2-40B4-BE49-F238E27FC236}">
                <a16:creationId xmlns:a16="http://schemas.microsoft.com/office/drawing/2014/main" id="{D31EE7C8-792E-4E32-8A47-F996EEB1DF16}"/>
              </a:ext>
            </a:extLst>
          </p:cNvPr>
          <p:cNvSpPr>
            <a:spLocks xmlns:a="http://schemas.openxmlformats.org/drawingml/2006/main" noGrp="1"/>
          </p:cNvSpPr>
          <p:nvPr/>
        </p:nvSpPr>
        <p:spPr>
          <a:xfrm xmlns:a="http://schemas.openxmlformats.org/drawingml/2006/main">
            <a:off x="13811250" y="19240500"/>
            <a:ext cx="762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00" b="1">
                <a:solidFill>
                  <a:srgbClr val="4B606D"/>
                </a:solidFill>
                <a:latin typeface="Arial"/>
                <a:ea typeface="Arial"/>
                <a:cs typeface="Arial"/>
              </a:defRPr>
            </a:defPPr>
          </a:lstStyle>
          <a:p xmlns:a="http://schemas.openxmlformats.org/drawingml/2006/main">
            <a:pPr>
              <a:defRPr sz="1800" b="1">
                <a:solidFill>
                  <a:srgbClr val="4B606D"/>
                </a:solidFill>
                <a:latin typeface="Arial"/>
                <a:ea typeface="Arial"/>
                <a:cs typeface="Arial"/>
              </a:defRPr>
            </a:pPr>
            <a:r>
              <a:rPr sz="1800" b="1">
                <a:solidFill>
                  <a:srgbClr val="4B606D"/>
                </a:solidFill>
                <a:latin typeface="Arial"/>
                <a:ea typeface="Arial"/>
                <a:cs typeface="Arial"/>
              </a:rPr>
              <a:t>10</a:t>
            </a:r>
          </a:p>
        </p:txBody>
      </p:sp>
      <p:sp>
        <p:nvSpPr>
          <p:cNvPr id="6" name="">
            <a:extLst xmlns:a="http://schemas.openxmlformats.org/drawingml/2006/main">
              <a:ext uri="{FF2B5EF4-FFF2-40B4-BE49-F238E27FC236}">
                <a16:creationId xmlns:a16="http://schemas.microsoft.com/office/drawing/2014/main" id="{67B385AC-D90D-4BF1-A711-8602A634BEF6}"/>
              </a:ext>
            </a:extLst>
          </p:cNvPr>
          <p:cNvSpPr>
            <a:spLocks xmlns:a="http://schemas.openxmlformats.org/drawingml/2006/main" noGrp="1"/>
          </p:cNvSpPr>
          <p:nvPr/>
        </p:nvSpPr>
        <p:spPr>
          <a:xfrm xmlns:a="http://schemas.openxmlformats.org/drawingml/2006/main">
            <a:off x="762000" y="4048125"/>
            <a:ext cx="13716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925" b="1">
                <a:solidFill>
                  <a:srgbClr val="20333D"/>
                </a:solidFill>
                <a:latin typeface="Arial"/>
                <a:ea typeface="Arial"/>
                <a:cs typeface="Arial"/>
              </a:defRPr>
            </a:defPPr>
          </a:lstStyle>
          <a:p xmlns:a="http://schemas.openxmlformats.org/drawingml/2006/main">
            <a:pPr>
              <a:defRPr sz="2925" b="1">
                <a:solidFill>
                  <a:srgbClr val="20333D"/>
                </a:solidFill>
                <a:latin typeface="Arial"/>
                <a:ea typeface="Arial"/>
                <a:cs typeface="Arial"/>
              </a:defRPr>
            </a:pPr>
            <a:r>
              <a:rPr sz="2925" b="1">
                <a:solidFill>
                  <a:srgbClr val="20333D"/>
                </a:solidFill>
                <a:latin typeface="Arial"/>
                <a:ea typeface="Arial"/>
                <a:cs typeface="Arial"/>
              </a:rPr>
              <a:t>Context and progress</a:t>
            </a:r>
          </a:p>
        </p:txBody>
      </p:sp>
      <p:sp>
        <p:nvSpPr>
          <p:cNvPr id="7" name="">
            <a:extLst xmlns:a="http://schemas.openxmlformats.org/drawingml/2006/main">
              <a:ext uri="{FF2B5EF4-FFF2-40B4-BE49-F238E27FC236}">
                <a16:creationId xmlns:a16="http://schemas.microsoft.com/office/drawing/2014/main" id="{A17265D7-982C-4677-BB31-524A29A207FF}"/>
              </a:ext>
            </a:extLst>
          </p:cNvPr>
          <p:cNvSpPr>
            <a:spLocks xmlns:a="http://schemas.openxmlformats.org/drawingml/2006/main" noGrp="1"/>
          </p:cNvSpPr>
          <p:nvPr/>
        </p:nvSpPr>
        <p:spPr>
          <a:xfrm xmlns:a="http://schemas.openxmlformats.org/drawingml/2006/main">
            <a:off x="762000" y="4714875"/>
            <a:ext cx="13716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550" b="1">
                <a:solidFill>
                  <a:srgbClr val="4B606D"/>
                </a:solidFill>
                <a:latin typeface="Arial"/>
                <a:ea typeface="Arial"/>
                <a:cs typeface="Arial"/>
              </a:defRPr>
            </a:defPPr>
          </a:lstStyle>
          <a:p xmlns:a="http://schemas.openxmlformats.org/drawingml/2006/main">
            <a:pPr>
              <a:defRPr sz="2550" b="1">
                <a:solidFill>
                  <a:srgbClr val="4B606D"/>
                </a:solidFill>
                <a:latin typeface="Arial"/>
                <a:ea typeface="Arial"/>
                <a:cs typeface="Arial"/>
              </a:defRPr>
            </a:pPr>
            <a:r>
              <a:rPr sz="2550" b="1">
                <a:solidFill>
                  <a:srgbClr val="4B606D"/>
                </a:solidFill>
                <a:latin typeface="Arial"/>
                <a:ea typeface="Arial"/>
                <a:cs typeface="Arial"/>
              </a:rPr>
              <a:t>Open the floating Assistant, drag its header or resize its edges. Follow the named tool steps and elapsed time during a request. Recent conversation turns help preserve context.</a:t>
            </a:r>
          </a:p>
        </p:txBody>
      </p:sp>
      <p:sp>
        <p:nvSpPr>
          <p:cNvPr id="8" name="">
            <a:extLst xmlns:a="http://schemas.openxmlformats.org/drawingml/2006/main">
              <a:ext uri="{FF2B5EF4-FFF2-40B4-BE49-F238E27FC236}">
                <a16:creationId xmlns:a16="http://schemas.microsoft.com/office/drawing/2014/main" id="{159FE68F-FDDA-4407-AF13-F1BB90E31D79}"/>
              </a:ext>
            </a:extLst>
          </p:cNvPr>
          <p:cNvSpPr>
            <a:spLocks xmlns:a="http://schemas.openxmlformats.org/drawingml/2006/main" noGrp="1"/>
          </p:cNvSpPr>
          <p:nvPr/>
        </p:nvSpPr>
        <p:spPr>
          <a:xfrm xmlns:a="http://schemas.openxmlformats.org/drawingml/2006/main">
            <a:off x="762000" y="7239000"/>
            <a:ext cx="13716000" cy="1905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850" b="1">
                <a:solidFill>
                  <a:srgbClr val="20333D"/>
                </a:solidFill>
                <a:latin typeface="Arial"/>
                <a:ea typeface="Arial"/>
                <a:cs typeface="Arial"/>
              </a:defRPr>
            </a:defPPr>
          </a:lstStyle>
          <a:p xmlns:a="http://schemas.openxmlformats.org/drawingml/2006/main">
            <a:pPr>
              <a:defRPr sz="2850" b="1">
                <a:solidFill>
                  <a:srgbClr val="20333D"/>
                </a:solidFill>
                <a:latin typeface="Arial"/>
                <a:ea typeface="Arial"/>
                <a:cs typeface="Arial"/>
              </a:defRPr>
            </a:pPr>
            <a:r>
              <a:rPr sz="2850" b="1">
                <a:solidFill>
                  <a:srgbClr val="20333D"/>
                </a:solidFill>
                <a:latin typeface="Arial"/>
                <a:ea typeface="Arial"/>
                <a:cs typeface="Arial"/>
              </a:rPr>
              <a:t>“Explain why this candidate ranks first.”</a:t>
            </a:r>
          </a:p>
          <a:p xmlns:a="http://schemas.openxmlformats.org/drawingml/2006/main">
            <a:pPr>
              <a:defRPr sz="2850" b="1">
                <a:solidFill>
                  <a:srgbClr val="20333D"/>
                </a:solidFill>
                <a:latin typeface="Arial"/>
                <a:ea typeface="Arial"/>
                <a:cs typeface="Arial"/>
              </a:defRPr>
            </a:pPr>
            <a:r>
              <a:rPr sz="2850" b="1">
                <a:solidFill>
                  <a:srgbClr val="20333D"/>
                </a:solidFill>
                <a:latin typeface="Arial"/>
                <a:ea typeface="Arial"/>
                <a:cs typeface="Arial"/>
              </a:rPr>
              <a:t>“Look up UniProt P01308 in ESM Atlas.”</a:t>
            </a:r>
          </a:p>
          <a:p xmlns:a="http://schemas.openxmlformats.org/drawingml/2006/main">
            <a:pPr>
              <a:defRPr sz="2850" b="1">
                <a:solidFill>
                  <a:srgbClr val="20333D"/>
                </a:solidFill>
                <a:latin typeface="Arial"/>
                <a:ea typeface="Arial"/>
                <a:cs typeface="Arial"/>
              </a:defRPr>
            </a:pPr>
            <a:r>
              <a:rPr sz="2850" b="1">
                <a:solidFill>
                  <a:srgbClr val="20333D"/>
                </a:solidFill>
                <a:latin typeface="Arial"/>
                <a:ea typeface="Arial"/>
                <a:cs typeface="Arial"/>
              </a:rPr>
              <a:t>“Extract residues 25–300 from the supplied protein.”</a:t>
            </a:r>
          </a:p>
        </p:txBody>
      </p:sp>
      <p:pic>
        <p:nvPicPr>
          <p:cNvPr id="9" name="">
            <a:extLst xmlns:a="http://schemas.openxmlformats.org/drawingml/2006/main">
              <a:ext uri="{FF2B5EF4-FFF2-40B4-BE49-F238E27FC236}">
                <a16:creationId xmlns:a16="http://schemas.microsoft.com/office/drawing/2014/main" id="{4DC9F217-5172-441E-8365-1FEC9A26E4D3}"/>
              </a:ext>
            </a:extLst>
          </p:cNvPr>
          <p:cNvPicPr>
            <a:picLocks xmlns:a="http://schemas.openxmlformats.org/drawingml/2006/main" noChangeAspect="1"/>
          </p:cNvPicPr>
          <p:nvPr/>
        </p:nvPicPr>
        <p:blipFill>
          <a:blip xmlns:r="http://schemas.openxmlformats.org/officeDocument/2006/relationships" xmlns:a="http://schemas.openxmlformats.org/drawingml/2006/main" r:embed="R04eae4421c83480d"/>
          <a:stretch xmlns:a="http://schemas.openxmlformats.org/drawingml/2006/main"/>
        </p:blipFill>
        <p:spPr>
          <a:xfrm xmlns:a="http://schemas.openxmlformats.org/drawingml/2006/main">
            <a:off x="762000" y="10048875"/>
            <a:ext cx="13716000" cy="7715250"/>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5EE411BD-98D8-411E-BE90-D4CCF92FE3B1}"/>
              </a:ext>
            </a:extLst>
          </p:cNvPr>
          <p:cNvSpPr>
            <a:spLocks xmlns:a="http://schemas.openxmlformats.org/drawingml/2006/main" noGrp="1"/>
          </p:cNvSpPr>
          <p:nvPr/>
        </p:nvSpPr>
        <p:spPr>
          <a:xfrm xmlns:a="http://schemas.openxmlformats.org/drawingml/2006/main">
            <a:off x="762000" y="18383250"/>
            <a:ext cx="13716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4B606D"/>
                </a:solidFill>
                <a:latin typeface="Arial"/>
                <a:ea typeface="Arial"/>
                <a:cs typeface="Arial"/>
              </a:defRPr>
            </a:defPPr>
          </a:lstStyle>
          <a:p xmlns:a="http://schemas.openxmlformats.org/drawingml/2006/main">
            <a:pPr>
              <a:defRPr sz="2175" b="1">
                <a:solidFill>
                  <a:srgbClr val="4B606D"/>
                </a:solidFill>
                <a:latin typeface="Arial"/>
                <a:ea typeface="Arial"/>
                <a:cs typeface="Arial"/>
              </a:defRPr>
            </a:pPr>
            <a:r>
              <a:rPr sz="2175" b="1">
                <a:solidFill>
                  <a:srgbClr val="4B606D"/>
                </a:solidFill>
                <a:latin typeface="Arial"/>
                <a:ea typeface="Arial"/>
                <a:cs typeface="Arial"/>
              </a:rPr>
              <a:t>A residue interval must come from your instruction. The tool does not infer a cleavage site.</a:t>
            </a:r>
          </a:p>
        </p:txBody>
      </p:sp>
    </p:spTree>
    <p:extLst>
      <p:ext uri="{BB962C8B-B14F-4D97-AF65-F5344CB8AC3E}">
        <p14:creationId xmlns:p14="http://schemas.microsoft.com/office/powerpoint/2010/main" val="185275857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D043B79-F02D-40EC-A0B2-952BDCC42F6B}"/>
              </a:ext>
            </a:extLst>
          </p:cNvPr>
          <p:cNvSpPr>
            <a:spLocks xmlns:a="http://schemas.openxmlformats.org/drawingml/2006/main" noGrp="1"/>
          </p:cNvSpPr>
          <p:nvPr/>
        </p:nvSpPr>
        <p:spPr>
          <a:xfrm xmlns:a="http://schemas.openxmlformats.org/drawingml/2006/main">
            <a:off x="762000" y="361950"/>
            <a:ext cx="13239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725" b="1">
                <a:solidFill>
                  <a:srgbClr val="4B606D"/>
                </a:solidFill>
                <a:latin typeface="Arial"/>
                <a:ea typeface="Arial"/>
                <a:cs typeface="Arial"/>
              </a:defRPr>
            </a:defPPr>
          </a:lstStyle>
          <a:p xmlns:a="http://schemas.openxmlformats.org/drawingml/2006/main">
            <a:pPr>
              <a:defRPr sz="1725" b="1">
                <a:solidFill>
                  <a:srgbClr val="4B606D"/>
                </a:solidFill>
                <a:latin typeface="Arial"/>
                <a:ea typeface="Arial"/>
                <a:cs typeface="Arial"/>
              </a:defRPr>
            </a:pPr>
            <a:r>
              <a:rPr sz="1725" b="1">
                <a:solidFill>
                  <a:srgbClr val="4B606D"/>
                </a:solidFill>
                <a:latin typeface="Arial"/>
                <a:ea typeface="Arial"/>
                <a:cs typeface="Arial"/>
              </a:rPr>
              <a:t>ENZORA  /  USER GUIDE</a:t>
            </a:r>
          </a:p>
        </p:txBody>
      </p:sp>
      <p:sp>
        <p:nvSpPr>
          <p:cNvPr id="2" name="">
            <a:extLst xmlns:a="http://schemas.openxmlformats.org/drawingml/2006/main">
              <a:ext uri="{FF2B5EF4-FFF2-40B4-BE49-F238E27FC236}">
                <a16:creationId xmlns:a16="http://schemas.microsoft.com/office/drawing/2014/main" id="{B8EC4871-39CE-4E54-ABD8-8454F7F1E6FD}"/>
              </a:ext>
            </a:extLst>
          </p:cNvPr>
          <p:cNvSpPr>
            <a:spLocks xmlns:a="http://schemas.openxmlformats.org/drawingml/2006/main" noGrp="1"/>
          </p:cNvSpPr>
          <p:nvPr/>
        </p:nvSpPr>
        <p:spPr>
          <a:xfrm xmlns:a="http://schemas.openxmlformats.org/drawingml/2006/main">
            <a:off x="762000" y="952500"/>
            <a:ext cx="13716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4875" b="1">
                <a:solidFill>
                  <a:srgbClr val="20333D"/>
                </a:solidFill>
                <a:latin typeface="Arial"/>
                <a:ea typeface="Arial"/>
                <a:cs typeface="Arial"/>
              </a:defRPr>
            </a:defPPr>
          </a:lstStyle>
          <a:p xmlns:a="http://schemas.openxmlformats.org/drawingml/2006/main">
            <a:pPr>
              <a:defRPr sz="4875" b="1">
                <a:solidFill>
                  <a:srgbClr val="20333D"/>
                </a:solidFill>
                <a:latin typeface="Arial"/>
                <a:ea typeface="Arial"/>
                <a:cs typeface="Arial"/>
              </a:defRPr>
            </a:pPr>
            <a:r>
              <a:rPr sz="4875" b="1">
                <a:solidFill>
                  <a:srgbClr val="20333D"/>
                </a:solidFill>
                <a:latin typeface="Arial"/>
                <a:ea typeface="Arial"/>
                <a:cs typeface="Arial"/>
              </a:rPr>
              <a:t>10. Structures and Model&amp;Tools</a:t>
            </a:r>
          </a:p>
        </p:txBody>
      </p:sp>
      <p:sp>
        <p:nvSpPr>
          <p:cNvPr id="3" name="">
            <a:extLst xmlns:a="http://schemas.openxmlformats.org/drawingml/2006/main">
              <a:ext uri="{FF2B5EF4-FFF2-40B4-BE49-F238E27FC236}">
                <a16:creationId xmlns:a16="http://schemas.microsoft.com/office/drawing/2014/main" id="{151F3C8F-105F-42D6-BFF7-9EC5EC90447C}"/>
              </a:ext>
            </a:extLst>
          </p:cNvPr>
          <p:cNvSpPr>
            <a:spLocks xmlns:a="http://schemas.openxmlformats.org/drawingml/2006/main" noGrp="1"/>
          </p:cNvSpPr>
          <p:nvPr/>
        </p:nvSpPr>
        <p:spPr>
          <a:xfrm xmlns:a="http://schemas.openxmlformats.org/drawingml/2006/main">
            <a:off x="762000" y="2524125"/>
            <a:ext cx="13716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550" b="1">
                <a:solidFill>
                  <a:srgbClr val="4B606D"/>
                </a:solidFill>
                <a:latin typeface="Arial"/>
                <a:ea typeface="Arial"/>
                <a:cs typeface="Arial"/>
              </a:defRPr>
            </a:defPPr>
          </a:lstStyle>
          <a:p xmlns:a="http://schemas.openxmlformats.org/drawingml/2006/main">
            <a:pPr>
              <a:defRPr sz="2550" b="1">
                <a:solidFill>
                  <a:srgbClr val="4B606D"/>
                </a:solidFill>
                <a:latin typeface="Arial"/>
                <a:ea typeface="Arial"/>
                <a:cs typeface="Arial"/>
              </a:defRPr>
            </a:pPr>
            <a:r>
              <a:rPr sz="2550" b="1">
                <a:solidFill>
                  <a:srgbClr val="4B606D"/>
                </a:solidFill>
                <a:latin typeface="Arial"/>
                <a:ea typeface="Arial"/>
                <a:cs typeface="Arial"/>
              </a:rPr>
              <a:t>Inspect the source and identity of every returned structure</a:t>
            </a:r>
          </a:p>
        </p:txBody>
      </p:sp>
      <p:sp>
        <p:nvSpPr>
          <p:cNvPr id="4" name="">
            <a:extLst xmlns:a="http://schemas.openxmlformats.org/drawingml/2006/main">
              <a:ext uri="{FF2B5EF4-FFF2-40B4-BE49-F238E27FC236}">
                <a16:creationId xmlns:a16="http://schemas.microsoft.com/office/drawing/2014/main" id="{74E25367-8263-4D7C-BFA6-30F75060AE8E}"/>
              </a:ext>
            </a:extLst>
          </p:cNvPr>
          <p:cNvSpPr>
            <a:spLocks xmlns:a="http://schemas.openxmlformats.org/drawingml/2006/main" noGrp="1"/>
          </p:cNvSpPr>
          <p:nvPr/>
        </p:nvSpPr>
        <p:spPr>
          <a:xfrm xmlns:a="http://schemas.openxmlformats.org/drawingml/2006/main">
            <a:off x="762000" y="19240500"/>
            <a:ext cx="1238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650" b="1">
                <a:solidFill>
                  <a:srgbClr val="4B606D"/>
                </a:solidFill>
                <a:latin typeface="Arial"/>
                <a:ea typeface="Arial"/>
                <a:cs typeface="Arial"/>
              </a:defRPr>
            </a:defPPr>
          </a:lstStyle>
          <a:p xmlns:a="http://schemas.openxmlformats.org/drawingml/2006/main">
            <a:pPr>
              <a:defRPr sz="1650" b="1">
                <a:solidFill>
                  <a:srgbClr val="4B606D"/>
                </a:solidFill>
                <a:latin typeface="Arial"/>
                <a:ea typeface="Arial"/>
                <a:cs typeface="Arial"/>
              </a:defRPr>
            </a:pPr>
            <a:r>
              <a:rPr sz="1650" b="1">
                <a:solidFill>
                  <a:srgbClr val="4B606D"/>
                </a:solidFill>
                <a:latin typeface="Arial"/>
                <a:ea typeface="Arial"/>
                <a:cs typeface="Arial"/>
              </a:rPr>
              <a:t>Enzora web platform • 16 October 2026</a:t>
            </a:r>
          </a:p>
        </p:txBody>
      </p:sp>
      <p:sp>
        <p:nvSpPr>
          <p:cNvPr id="5" name="">
            <a:extLst xmlns:a="http://schemas.openxmlformats.org/drawingml/2006/main">
              <a:ext uri="{FF2B5EF4-FFF2-40B4-BE49-F238E27FC236}">
                <a16:creationId xmlns:a16="http://schemas.microsoft.com/office/drawing/2014/main" id="{691935F1-5FBB-41B5-970D-F3D53B0C07AB}"/>
              </a:ext>
            </a:extLst>
          </p:cNvPr>
          <p:cNvSpPr>
            <a:spLocks xmlns:a="http://schemas.openxmlformats.org/drawingml/2006/main" noGrp="1"/>
          </p:cNvSpPr>
          <p:nvPr/>
        </p:nvSpPr>
        <p:spPr>
          <a:xfrm xmlns:a="http://schemas.openxmlformats.org/drawingml/2006/main">
            <a:off x="13811250" y="19240500"/>
            <a:ext cx="762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00" b="1">
                <a:solidFill>
                  <a:srgbClr val="4B606D"/>
                </a:solidFill>
                <a:latin typeface="Arial"/>
                <a:ea typeface="Arial"/>
                <a:cs typeface="Arial"/>
              </a:defRPr>
            </a:defPPr>
          </a:lstStyle>
          <a:p xmlns:a="http://schemas.openxmlformats.org/drawingml/2006/main">
            <a:pPr>
              <a:defRPr sz="1800" b="1">
                <a:solidFill>
                  <a:srgbClr val="4B606D"/>
                </a:solidFill>
                <a:latin typeface="Arial"/>
                <a:ea typeface="Arial"/>
                <a:cs typeface="Arial"/>
              </a:defRPr>
            </a:pPr>
            <a:r>
              <a:rPr sz="1800" b="1">
                <a:solidFill>
                  <a:srgbClr val="4B606D"/>
                </a:solidFill>
                <a:latin typeface="Arial"/>
                <a:ea typeface="Arial"/>
                <a:cs typeface="Arial"/>
              </a:rPr>
              <a:t>11</a:t>
            </a:r>
          </a:p>
        </p:txBody>
      </p:sp>
      <p:sp>
        <p:nvSpPr>
          <p:cNvPr id="6" name="">
            <a:extLst xmlns:a="http://schemas.openxmlformats.org/drawingml/2006/main">
              <a:ext uri="{FF2B5EF4-FFF2-40B4-BE49-F238E27FC236}">
                <a16:creationId xmlns:a16="http://schemas.microsoft.com/office/drawing/2014/main" id="{5D76F164-2732-49F2-B3B6-D0C4B1264664}"/>
              </a:ext>
            </a:extLst>
          </p:cNvPr>
          <p:cNvSpPr>
            <a:spLocks xmlns:a="http://schemas.openxmlformats.org/drawingml/2006/main" noGrp="1"/>
          </p:cNvSpPr>
          <p:nvPr/>
        </p:nvSpPr>
        <p:spPr>
          <a:xfrm xmlns:a="http://schemas.openxmlformats.org/drawingml/2006/main">
            <a:off x="762000" y="4048125"/>
            <a:ext cx="13716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925" b="1">
                <a:solidFill>
                  <a:srgbClr val="20333D"/>
                </a:solidFill>
                <a:latin typeface="Arial"/>
                <a:ea typeface="Arial"/>
                <a:cs typeface="Arial"/>
              </a:defRPr>
            </a:defPPr>
          </a:lstStyle>
          <a:p xmlns:a="http://schemas.openxmlformats.org/drawingml/2006/main">
            <a:pPr>
              <a:defRPr sz="2925" b="1">
                <a:solidFill>
                  <a:srgbClr val="20333D"/>
                </a:solidFill>
                <a:latin typeface="Arial"/>
                <a:ea typeface="Arial"/>
                <a:cs typeface="Arial"/>
              </a:defRPr>
            </a:pPr>
            <a:r>
              <a:rPr sz="2925" b="1">
                <a:solidFill>
                  <a:srgbClr val="20333D"/>
                </a:solidFill>
                <a:latin typeface="Arial"/>
                <a:ea typeface="Arial"/>
                <a:cs typeface="Arial"/>
              </a:rPr>
              <a:t>ESM Atlas and the structure viewer</a:t>
            </a:r>
          </a:p>
        </p:txBody>
      </p:sp>
      <p:sp>
        <p:nvSpPr>
          <p:cNvPr id="7" name="">
            <a:extLst xmlns:a="http://schemas.openxmlformats.org/drawingml/2006/main">
              <a:ext uri="{FF2B5EF4-FFF2-40B4-BE49-F238E27FC236}">
                <a16:creationId xmlns:a16="http://schemas.microsoft.com/office/drawing/2014/main" id="{BA3848C4-5405-4524-8019-5241D56DB261}"/>
              </a:ext>
            </a:extLst>
          </p:cNvPr>
          <p:cNvSpPr>
            <a:spLocks xmlns:a="http://schemas.openxmlformats.org/drawingml/2006/main" noGrp="1"/>
          </p:cNvSpPr>
          <p:nvPr/>
        </p:nvSpPr>
        <p:spPr>
          <a:xfrm xmlns:a="http://schemas.openxmlformats.org/drawingml/2006/main">
            <a:off x="762000" y="4714875"/>
            <a:ext cx="13716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550" b="1">
                <a:solidFill>
                  <a:srgbClr val="4B606D"/>
                </a:solidFill>
                <a:latin typeface="Arial"/>
                <a:ea typeface="Arial"/>
                <a:cs typeface="Arial"/>
              </a:defRPr>
            </a:defPPr>
          </a:lstStyle>
          <a:p xmlns:a="http://schemas.openxmlformats.org/drawingml/2006/main">
            <a:pPr>
              <a:defRPr sz="2550" b="1">
                <a:solidFill>
                  <a:srgbClr val="4B606D"/>
                </a:solidFill>
                <a:latin typeface="Arial"/>
                <a:ea typeface="Arial"/>
                <a:cs typeface="Arial"/>
              </a:defRPr>
            </a:pPr>
            <a:r>
              <a:rPr sz="2550" b="1">
                <a:solidFill>
                  <a:srgbClr val="4B606D"/>
                </a:solidFill>
                <a:latin typeface="Arial"/>
                <a:ea typeface="Arial"/>
                <a:cs typeface="Arial"/>
              </a:rPr>
              <a:t>Atlas lookup retrieves metadata, sequence, SAE features and any stored prediction. The viewer supports rotation, zoom and representation changes. SAE feature similarity is not sequence identity.</a:t>
            </a:r>
          </a:p>
        </p:txBody>
      </p:sp>
      <p:pic>
        <p:nvPicPr>
          <p:cNvPr id="8" name="">
            <a:extLst xmlns:a="http://schemas.openxmlformats.org/drawingml/2006/main">
              <a:ext uri="{FF2B5EF4-FFF2-40B4-BE49-F238E27FC236}">
                <a16:creationId xmlns:a16="http://schemas.microsoft.com/office/drawing/2014/main" id="{EB463583-72BE-4B8E-B5B6-78BCF38D8A2D}"/>
              </a:ext>
            </a:extLst>
          </p:cNvPr>
          <p:cNvPicPr>
            <a:picLocks xmlns:a="http://schemas.openxmlformats.org/drawingml/2006/main" noChangeAspect="1"/>
          </p:cNvPicPr>
          <p:nvPr/>
        </p:nvPicPr>
        <p:blipFill>
          <a:blip xmlns:r="http://schemas.openxmlformats.org/officeDocument/2006/relationships" xmlns:a="http://schemas.openxmlformats.org/drawingml/2006/main" r:embed="Ree70096a6ec646b2"/>
          <a:stretch xmlns:a="http://schemas.openxmlformats.org/drawingml/2006/main"/>
        </p:blipFill>
        <p:spPr>
          <a:xfrm xmlns:a="http://schemas.openxmlformats.org/drawingml/2006/main">
            <a:off x="3215376" y="7286625"/>
            <a:ext cx="8809249" cy="8334375"/>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241DC8EF-ED2F-4162-A9ED-731BC799865B}"/>
              </a:ext>
            </a:extLst>
          </p:cNvPr>
          <p:cNvSpPr>
            <a:spLocks xmlns:a="http://schemas.openxmlformats.org/drawingml/2006/main" noGrp="1"/>
          </p:cNvSpPr>
          <p:nvPr/>
        </p:nvSpPr>
        <p:spPr>
          <a:xfrm xmlns:a="http://schemas.openxmlformats.org/drawingml/2006/main">
            <a:off x="762000" y="16097250"/>
            <a:ext cx="13716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925" b="1">
                <a:solidFill>
                  <a:srgbClr val="20333D"/>
                </a:solidFill>
                <a:latin typeface="Arial"/>
                <a:ea typeface="Arial"/>
                <a:cs typeface="Arial"/>
              </a:defRPr>
            </a:defPPr>
          </a:lstStyle>
          <a:p xmlns:a="http://schemas.openxmlformats.org/drawingml/2006/main">
            <a:pPr>
              <a:defRPr sz="2925" b="1">
                <a:solidFill>
                  <a:srgbClr val="20333D"/>
                </a:solidFill>
                <a:latin typeface="Arial"/>
                <a:ea typeface="Arial"/>
                <a:cs typeface="Arial"/>
              </a:defRPr>
            </a:pPr>
            <a:r>
              <a:rPr sz="2925" b="1">
                <a:solidFill>
                  <a:srgbClr val="20333D"/>
                </a:solidFill>
                <a:latin typeface="Arial"/>
                <a:ea typeface="Arial"/>
                <a:cs typeface="Arial"/>
              </a:rPr>
              <a:t>Prediction is a separate request</a:t>
            </a:r>
          </a:p>
        </p:txBody>
      </p:sp>
      <p:sp>
        <p:nvSpPr>
          <p:cNvPr id="10" name="">
            <a:extLst xmlns:a="http://schemas.openxmlformats.org/drawingml/2006/main">
              <a:ext uri="{FF2B5EF4-FFF2-40B4-BE49-F238E27FC236}">
                <a16:creationId xmlns:a16="http://schemas.microsoft.com/office/drawing/2014/main" id="{4F00BCD1-D4BC-4519-8A5E-F4B02DE83E85}"/>
              </a:ext>
            </a:extLst>
          </p:cNvPr>
          <p:cNvSpPr>
            <a:spLocks xmlns:a="http://schemas.openxmlformats.org/drawingml/2006/main" noGrp="1"/>
          </p:cNvSpPr>
          <p:nvPr/>
        </p:nvSpPr>
        <p:spPr>
          <a:xfrm xmlns:a="http://schemas.openxmlformats.org/drawingml/2006/main">
            <a:off x="762000" y="16764000"/>
            <a:ext cx="13716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550" b="1">
                <a:solidFill>
                  <a:srgbClr val="4B606D"/>
                </a:solidFill>
                <a:latin typeface="Arial"/>
                <a:ea typeface="Arial"/>
                <a:cs typeface="Arial"/>
              </a:defRPr>
            </a:defPPr>
          </a:lstStyle>
          <a:p xmlns:a="http://schemas.openxmlformats.org/drawingml/2006/main">
            <a:pPr>
              <a:defRPr sz="2550" b="1">
                <a:solidFill>
                  <a:srgbClr val="4B606D"/>
                </a:solidFill>
                <a:latin typeface="Arial"/>
                <a:ea typeface="Arial"/>
                <a:cs typeface="Arial"/>
              </a:defRPr>
            </a:pPr>
            <a:r>
              <a:rPr sz="2550" b="1">
                <a:solidFill>
                  <a:srgbClr val="4B606D"/>
                </a:solidFill>
                <a:latin typeface="Arial"/>
                <a:ea typeface="Arial"/>
                <a:cs typeface="Arial"/>
              </a:rPr>
              <a:t>Inspect structure displays the supplied WT structure. ESMFold2 prediction requires a separately configured Biohub token and an explicit request. The Tools page disables unavailable operations.</a:t>
            </a:r>
          </a:p>
        </p:txBody>
      </p:sp>
    </p:spTree>
    <p:extLst>
      <p:ext uri="{BB962C8B-B14F-4D97-AF65-F5344CB8AC3E}">
        <p14:creationId xmlns:p14="http://schemas.microsoft.com/office/powerpoint/2010/main" val="2082033896"/>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BBE9B2E-96E7-49A6-B521-1C95518B223D}"/>
              </a:ext>
            </a:extLst>
          </p:cNvPr>
          <p:cNvSpPr>
            <a:spLocks xmlns:a="http://schemas.openxmlformats.org/drawingml/2006/main" noGrp="1"/>
          </p:cNvSpPr>
          <p:nvPr/>
        </p:nvSpPr>
        <p:spPr>
          <a:xfrm xmlns:a="http://schemas.openxmlformats.org/drawingml/2006/main">
            <a:off x="762000" y="361950"/>
            <a:ext cx="13239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725" b="1">
                <a:solidFill>
                  <a:srgbClr val="4B606D"/>
                </a:solidFill>
                <a:latin typeface="Arial"/>
                <a:ea typeface="Arial"/>
                <a:cs typeface="Arial"/>
              </a:defRPr>
            </a:defPPr>
          </a:lstStyle>
          <a:p xmlns:a="http://schemas.openxmlformats.org/drawingml/2006/main">
            <a:pPr>
              <a:defRPr sz="1725" b="1">
                <a:solidFill>
                  <a:srgbClr val="4B606D"/>
                </a:solidFill>
                <a:latin typeface="Arial"/>
                <a:ea typeface="Arial"/>
                <a:cs typeface="Arial"/>
              </a:defRPr>
            </a:pPr>
            <a:r>
              <a:rPr sz="1725" b="1">
                <a:solidFill>
                  <a:srgbClr val="4B606D"/>
                </a:solidFill>
                <a:latin typeface="Arial"/>
                <a:ea typeface="Arial"/>
                <a:cs typeface="Arial"/>
              </a:rPr>
              <a:t>ENZORA  /  USER GUIDE</a:t>
            </a:r>
          </a:p>
        </p:txBody>
      </p:sp>
      <p:sp>
        <p:nvSpPr>
          <p:cNvPr id="2" name="">
            <a:extLst xmlns:a="http://schemas.openxmlformats.org/drawingml/2006/main">
              <a:ext uri="{FF2B5EF4-FFF2-40B4-BE49-F238E27FC236}">
                <a16:creationId xmlns:a16="http://schemas.microsoft.com/office/drawing/2014/main" id="{2D910211-3AC6-4B31-BE0F-9433E23A8121}"/>
              </a:ext>
            </a:extLst>
          </p:cNvPr>
          <p:cNvSpPr>
            <a:spLocks xmlns:a="http://schemas.openxmlformats.org/drawingml/2006/main" noGrp="1"/>
          </p:cNvSpPr>
          <p:nvPr/>
        </p:nvSpPr>
        <p:spPr>
          <a:xfrm xmlns:a="http://schemas.openxmlformats.org/drawingml/2006/main">
            <a:off x="762000" y="952500"/>
            <a:ext cx="13716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4875" b="1">
                <a:solidFill>
                  <a:srgbClr val="20333D"/>
                </a:solidFill>
                <a:latin typeface="Arial"/>
                <a:ea typeface="Arial"/>
                <a:cs typeface="Arial"/>
              </a:defRPr>
            </a:defPPr>
          </a:lstStyle>
          <a:p xmlns:a="http://schemas.openxmlformats.org/drawingml/2006/main">
            <a:pPr>
              <a:defRPr sz="4875" b="1">
                <a:solidFill>
                  <a:srgbClr val="20333D"/>
                </a:solidFill>
                <a:latin typeface="Arial"/>
                <a:ea typeface="Arial"/>
                <a:cs typeface="Arial"/>
              </a:defRPr>
            </a:pPr>
            <a:r>
              <a:rPr sz="4875" b="1">
                <a:solidFill>
                  <a:srgbClr val="20333D"/>
                </a:solidFill>
                <a:latin typeface="Arial"/>
                <a:ea typeface="Arial"/>
                <a:cs typeface="Arial"/>
              </a:rPr>
              <a:t>11. UMAP and the Top-K shortlist</a:t>
            </a:r>
          </a:p>
        </p:txBody>
      </p:sp>
      <p:sp>
        <p:nvSpPr>
          <p:cNvPr id="3" name="">
            <a:extLst xmlns:a="http://schemas.openxmlformats.org/drawingml/2006/main">
              <a:ext uri="{FF2B5EF4-FFF2-40B4-BE49-F238E27FC236}">
                <a16:creationId xmlns:a16="http://schemas.microsoft.com/office/drawing/2014/main" id="{9706D8B2-8DA7-4ABB-8207-93FACF67A7F7}"/>
              </a:ext>
            </a:extLst>
          </p:cNvPr>
          <p:cNvSpPr>
            <a:spLocks xmlns:a="http://schemas.openxmlformats.org/drawingml/2006/main" noGrp="1"/>
          </p:cNvSpPr>
          <p:nvPr/>
        </p:nvSpPr>
        <p:spPr>
          <a:xfrm xmlns:a="http://schemas.openxmlformats.org/drawingml/2006/main">
            <a:off x="762000" y="2524125"/>
            <a:ext cx="13716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550" b="1">
                <a:solidFill>
                  <a:srgbClr val="4B606D"/>
                </a:solidFill>
                <a:latin typeface="Arial"/>
                <a:ea typeface="Arial"/>
                <a:cs typeface="Arial"/>
              </a:defRPr>
            </a:defPPr>
          </a:lstStyle>
          <a:p xmlns:a="http://schemas.openxmlformats.org/drawingml/2006/main">
            <a:pPr>
              <a:defRPr sz="2550" b="1">
                <a:solidFill>
                  <a:srgbClr val="4B606D"/>
                </a:solidFill>
                <a:latin typeface="Arial"/>
                <a:ea typeface="Arial"/>
                <a:cs typeface="Arial"/>
              </a:defRPr>
            </a:pPr>
            <a:r>
              <a:rPr sz="2550" b="1">
                <a:solidFill>
                  <a:srgbClr val="4B606D"/>
                </a:solidFill>
                <a:latin typeface="Arial"/>
                <a:ea typeface="Arial"/>
                <a:cs typeface="Arial"/>
              </a:rPr>
              <a:t>The map helps you inspect sequence space, not measure experimental activity</a:t>
            </a:r>
          </a:p>
        </p:txBody>
      </p:sp>
      <p:sp>
        <p:nvSpPr>
          <p:cNvPr id="4" name="">
            <a:extLst xmlns:a="http://schemas.openxmlformats.org/drawingml/2006/main">
              <a:ext uri="{FF2B5EF4-FFF2-40B4-BE49-F238E27FC236}">
                <a16:creationId xmlns:a16="http://schemas.microsoft.com/office/drawing/2014/main" id="{C41CFC3B-B933-43DE-99F0-700375CF0D6E}"/>
              </a:ext>
            </a:extLst>
          </p:cNvPr>
          <p:cNvSpPr>
            <a:spLocks xmlns:a="http://schemas.openxmlformats.org/drawingml/2006/main" noGrp="1"/>
          </p:cNvSpPr>
          <p:nvPr/>
        </p:nvSpPr>
        <p:spPr>
          <a:xfrm xmlns:a="http://schemas.openxmlformats.org/drawingml/2006/main">
            <a:off x="762000" y="19240500"/>
            <a:ext cx="1238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650" b="1">
                <a:solidFill>
                  <a:srgbClr val="4B606D"/>
                </a:solidFill>
                <a:latin typeface="Arial"/>
                <a:ea typeface="Arial"/>
                <a:cs typeface="Arial"/>
              </a:defRPr>
            </a:defPPr>
          </a:lstStyle>
          <a:p xmlns:a="http://schemas.openxmlformats.org/drawingml/2006/main">
            <a:pPr>
              <a:defRPr sz="1650" b="1">
                <a:solidFill>
                  <a:srgbClr val="4B606D"/>
                </a:solidFill>
                <a:latin typeface="Arial"/>
                <a:ea typeface="Arial"/>
                <a:cs typeface="Arial"/>
              </a:defRPr>
            </a:pPr>
            <a:r>
              <a:rPr sz="1650" b="1">
                <a:solidFill>
                  <a:srgbClr val="4B606D"/>
                </a:solidFill>
                <a:latin typeface="Arial"/>
                <a:ea typeface="Arial"/>
                <a:cs typeface="Arial"/>
              </a:rPr>
              <a:t>Enzora web platform • 16 October 2026</a:t>
            </a:r>
          </a:p>
        </p:txBody>
      </p:sp>
      <p:sp>
        <p:nvSpPr>
          <p:cNvPr id="5" name="">
            <a:extLst xmlns:a="http://schemas.openxmlformats.org/drawingml/2006/main">
              <a:ext uri="{FF2B5EF4-FFF2-40B4-BE49-F238E27FC236}">
                <a16:creationId xmlns:a16="http://schemas.microsoft.com/office/drawing/2014/main" id="{0E7A4D05-EF7E-4B71-A066-C8F906DD96F7}"/>
              </a:ext>
            </a:extLst>
          </p:cNvPr>
          <p:cNvSpPr>
            <a:spLocks xmlns:a="http://schemas.openxmlformats.org/drawingml/2006/main" noGrp="1"/>
          </p:cNvSpPr>
          <p:nvPr/>
        </p:nvSpPr>
        <p:spPr>
          <a:xfrm xmlns:a="http://schemas.openxmlformats.org/drawingml/2006/main">
            <a:off x="13811250" y="19240500"/>
            <a:ext cx="762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00" b="1">
                <a:solidFill>
                  <a:srgbClr val="4B606D"/>
                </a:solidFill>
                <a:latin typeface="Arial"/>
                <a:ea typeface="Arial"/>
                <a:cs typeface="Arial"/>
              </a:defRPr>
            </a:defPPr>
          </a:lstStyle>
          <a:p xmlns:a="http://schemas.openxmlformats.org/drawingml/2006/main">
            <a:pPr>
              <a:defRPr sz="1800" b="1">
                <a:solidFill>
                  <a:srgbClr val="4B606D"/>
                </a:solidFill>
                <a:latin typeface="Arial"/>
                <a:ea typeface="Arial"/>
                <a:cs typeface="Arial"/>
              </a:defRPr>
            </a:pPr>
            <a:r>
              <a:rPr sz="1800" b="1">
                <a:solidFill>
                  <a:srgbClr val="4B606D"/>
                </a:solidFill>
                <a:latin typeface="Arial"/>
                <a:ea typeface="Arial"/>
                <a:cs typeface="Arial"/>
              </a:rPr>
              <a:t>12</a:t>
            </a:r>
          </a:p>
        </p:txBody>
      </p:sp>
      <p:pic>
        <p:nvPicPr>
          <p:cNvPr id="6" name="">
            <a:extLst xmlns:a="http://schemas.openxmlformats.org/drawingml/2006/main">
              <a:ext uri="{FF2B5EF4-FFF2-40B4-BE49-F238E27FC236}">
                <a16:creationId xmlns:a16="http://schemas.microsoft.com/office/drawing/2014/main" id="{5C2D05E0-0B89-4414-8954-D3D4A636A0DB}"/>
              </a:ext>
            </a:extLst>
          </p:cNvPr>
          <p:cNvPicPr>
            <a:picLocks xmlns:a="http://schemas.openxmlformats.org/drawingml/2006/main" noChangeAspect="1"/>
          </p:cNvPicPr>
          <p:nvPr/>
        </p:nvPicPr>
        <p:blipFill>
          <a:blip xmlns:r="http://schemas.openxmlformats.org/officeDocument/2006/relationships" xmlns:a="http://schemas.openxmlformats.org/drawingml/2006/main" r:embed="R5daef70d10d44d7a"/>
          <a:stretch xmlns:a="http://schemas.openxmlformats.org/drawingml/2006/main"/>
        </p:blipFill>
        <p:spPr>
          <a:xfrm xmlns:a="http://schemas.openxmlformats.org/drawingml/2006/main">
            <a:off x="762000" y="4048125"/>
            <a:ext cx="13716000" cy="85725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837BCCA0-373A-41A6-AE55-C2939DCD19BD}"/>
              </a:ext>
            </a:extLst>
          </p:cNvPr>
          <p:cNvSpPr>
            <a:spLocks xmlns:a="http://schemas.openxmlformats.org/drawingml/2006/main" noGrp="1"/>
          </p:cNvSpPr>
          <p:nvPr/>
        </p:nvSpPr>
        <p:spPr>
          <a:xfrm xmlns:a="http://schemas.openxmlformats.org/drawingml/2006/main">
            <a:off x="762000" y="13144500"/>
            <a:ext cx="13716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925" b="1">
                <a:solidFill>
                  <a:srgbClr val="20333D"/>
                </a:solidFill>
                <a:latin typeface="Arial"/>
                <a:ea typeface="Arial"/>
                <a:cs typeface="Arial"/>
              </a:defRPr>
            </a:defPPr>
          </a:lstStyle>
          <a:p xmlns:a="http://schemas.openxmlformats.org/drawingml/2006/main">
            <a:pPr>
              <a:defRPr sz="2925" b="1">
                <a:solidFill>
                  <a:srgbClr val="20333D"/>
                </a:solidFill>
                <a:latin typeface="Arial"/>
                <a:ea typeface="Arial"/>
                <a:cs typeface="Arial"/>
              </a:defRPr>
            </a:pPr>
            <a:r>
              <a:rPr sz="2925" b="1">
                <a:solidFill>
                  <a:srgbClr val="20333D"/>
                </a:solidFill>
                <a:latin typeface="Arial"/>
                <a:ea typeface="Arial"/>
                <a:cs typeface="Arial"/>
              </a:rPr>
              <a:t>Explore and select</a:t>
            </a:r>
          </a:p>
        </p:txBody>
      </p:sp>
      <p:sp>
        <p:nvSpPr>
          <p:cNvPr id="8" name="">
            <a:extLst xmlns:a="http://schemas.openxmlformats.org/drawingml/2006/main">
              <a:ext uri="{FF2B5EF4-FFF2-40B4-BE49-F238E27FC236}">
                <a16:creationId xmlns:a16="http://schemas.microsoft.com/office/drawing/2014/main" id="{DAEC3967-3B0E-4F63-9DC0-DDCBF9D4A7B4}"/>
              </a:ext>
            </a:extLst>
          </p:cNvPr>
          <p:cNvSpPr>
            <a:spLocks xmlns:a="http://schemas.openxmlformats.org/drawingml/2006/main" noGrp="1"/>
          </p:cNvSpPr>
          <p:nvPr/>
        </p:nvSpPr>
        <p:spPr>
          <a:xfrm xmlns:a="http://schemas.openxmlformats.org/drawingml/2006/main">
            <a:off x="762000" y="13811250"/>
            <a:ext cx="13716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550" b="1">
                <a:solidFill>
                  <a:srgbClr val="4B606D"/>
                </a:solidFill>
                <a:latin typeface="Arial"/>
                <a:ea typeface="Arial"/>
                <a:cs typeface="Arial"/>
              </a:defRPr>
            </a:defPPr>
          </a:lstStyle>
          <a:p xmlns:a="http://schemas.openxmlformats.org/drawingml/2006/main">
            <a:pPr>
              <a:defRPr sz="2550" b="1">
                <a:solidFill>
                  <a:srgbClr val="4B606D"/>
                </a:solidFill>
                <a:latin typeface="Arial"/>
                <a:ea typeface="Arial"/>
                <a:cs typeface="Arial"/>
              </a:defRPr>
            </a:pPr>
            <a:r>
              <a:rPr sz="2550" b="1">
                <a:solidFill>
                  <a:srgbClr val="4B606D"/>
                </a:solidFill>
                <a:latin typeface="Arial"/>
                <a:ea typeface="Arial"/>
                <a:cs typeface="Arial"/>
              </a:rPr>
              <a:t>Drag the map to pan and use the wheel or zoom buttons. Select a highlighted Top-K node to inspect its sequence. The dark-blue residues identify substitutions relative to the initial WT.</a:t>
            </a:r>
          </a:p>
        </p:txBody>
      </p:sp>
      <p:sp>
        <p:nvSpPr>
          <p:cNvPr id="9" name="">
            <a:extLst xmlns:a="http://schemas.openxmlformats.org/drawingml/2006/main">
              <a:ext uri="{FF2B5EF4-FFF2-40B4-BE49-F238E27FC236}">
                <a16:creationId xmlns:a16="http://schemas.microsoft.com/office/drawing/2014/main" id="{7A1E505A-0579-4951-B9C5-FD2C30769260}"/>
              </a:ext>
            </a:extLst>
          </p:cNvPr>
          <p:cNvSpPr>
            <a:spLocks xmlns:a="http://schemas.openxmlformats.org/drawingml/2006/main" noGrp="1"/>
          </p:cNvSpPr>
          <p:nvPr/>
        </p:nvSpPr>
        <p:spPr>
          <a:xfrm xmlns:a="http://schemas.openxmlformats.org/drawingml/2006/main">
            <a:off x="762000" y="16144875"/>
            <a:ext cx="13716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925" b="1">
                <a:solidFill>
                  <a:srgbClr val="20333D"/>
                </a:solidFill>
                <a:latin typeface="Arial"/>
                <a:ea typeface="Arial"/>
                <a:cs typeface="Arial"/>
              </a:defRPr>
            </a:defPPr>
          </a:lstStyle>
          <a:p xmlns:a="http://schemas.openxmlformats.org/drawingml/2006/main">
            <a:pPr>
              <a:defRPr sz="2925" b="1">
                <a:solidFill>
                  <a:srgbClr val="20333D"/>
                </a:solidFill>
                <a:latin typeface="Arial"/>
                <a:ea typeface="Arial"/>
                <a:cs typeface="Arial"/>
              </a:defRPr>
            </a:pPr>
            <a:r>
              <a:rPr sz="2925" b="1">
                <a:solidFill>
                  <a:srgbClr val="20333D"/>
                </a:solidFill>
                <a:latin typeface="Arial"/>
                <a:ea typeface="Arial"/>
                <a:cs typeface="Arial"/>
              </a:rPr>
              <a:t>Generate the final result</a:t>
            </a:r>
          </a:p>
        </p:txBody>
      </p:sp>
      <p:sp>
        <p:nvSpPr>
          <p:cNvPr id="10" name="">
            <a:extLst xmlns:a="http://schemas.openxmlformats.org/drawingml/2006/main">
              <a:ext uri="{FF2B5EF4-FFF2-40B4-BE49-F238E27FC236}">
                <a16:creationId xmlns:a16="http://schemas.microsoft.com/office/drawing/2014/main" id="{76616B19-8FA9-434E-A9DF-8065F6DCA424}"/>
              </a:ext>
            </a:extLst>
          </p:cNvPr>
          <p:cNvSpPr>
            <a:spLocks xmlns:a="http://schemas.openxmlformats.org/drawingml/2006/main" noGrp="1"/>
          </p:cNvSpPr>
          <p:nvPr/>
        </p:nvSpPr>
        <p:spPr>
          <a:xfrm xmlns:a="http://schemas.openxmlformats.org/drawingml/2006/main">
            <a:off x="762000" y="16811625"/>
            <a:ext cx="13716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550" b="1">
                <a:solidFill>
                  <a:srgbClr val="4B606D"/>
                </a:solidFill>
                <a:latin typeface="Arial"/>
                <a:ea typeface="Arial"/>
                <a:cs typeface="Arial"/>
              </a:defRPr>
            </a:defPPr>
          </a:lstStyle>
          <a:p xmlns:a="http://schemas.openxmlformats.org/drawingml/2006/main">
            <a:pPr>
              <a:defRPr sz="2550" b="1">
                <a:solidFill>
                  <a:srgbClr val="4B606D"/>
                </a:solidFill>
                <a:latin typeface="Arial"/>
                <a:ea typeface="Arial"/>
                <a:cs typeface="Arial"/>
              </a:defRPr>
            </a:pPr>
            <a:r>
              <a:rPr sz="2550" b="1">
                <a:solidFill>
                  <a:srgbClr val="4B606D"/>
                </a:solidFill>
                <a:latin typeface="Arial"/>
                <a:ea typeface="Arial"/>
                <a:cs typeface="Arial"/>
              </a:rPr>
              <a:t>After scoring is ready, go to Output and click Select Top-K &amp; generate report. This starts final selection, UMAP and analysis. The report export becomes available when those steps finish.</a:t>
            </a:r>
          </a:p>
        </p:txBody>
      </p:sp>
    </p:spTree>
    <p:extLst>
      <p:ext uri="{BB962C8B-B14F-4D97-AF65-F5344CB8AC3E}">
        <p14:creationId xmlns:p14="http://schemas.microsoft.com/office/powerpoint/2010/main" val="1906150854"/>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34BAB9DF-D172-47A7-8609-E2B59BEA4429}"/>
              </a:ext>
            </a:extLst>
          </p:cNvPr>
          <p:cNvSpPr>
            <a:spLocks xmlns:a="http://schemas.openxmlformats.org/drawingml/2006/main" noGrp="1"/>
          </p:cNvSpPr>
          <p:nvPr/>
        </p:nvSpPr>
        <p:spPr>
          <a:xfrm xmlns:a="http://schemas.openxmlformats.org/drawingml/2006/main">
            <a:off x="762000" y="361950"/>
            <a:ext cx="13239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725" b="1">
                <a:solidFill>
                  <a:srgbClr val="4B606D"/>
                </a:solidFill>
                <a:latin typeface="Arial"/>
                <a:ea typeface="Arial"/>
                <a:cs typeface="Arial"/>
              </a:defRPr>
            </a:defPPr>
          </a:lstStyle>
          <a:p xmlns:a="http://schemas.openxmlformats.org/drawingml/2006/main">
            <a:pPr>
              <a:defRPr sz="1725" b="1">
                <a:solidFill>
                  <a:srgbClr val="4B606D"/>
                </a:solidFill>
                <a:latin typeface="Arial"/>
                <a:ea typeface="Arial"/>
                <a:cs typeface="Arial"/>
              </a:defRPr>
            </a:pPr>
            <a:r>
              <a:rPr sz="1725" b="1">
                <a:solidFill>
                  <a:srgbClr val="4B606D"/>
                </a:solidFill>
                <a:latin typeface="Arial"/>
                <a:ea typeface="Arial"/>
                <a:cs typeface="Arial"/>
              </a:rPr>
              <a:t>ENZORA  /  USER GUIDE</a:t>
            </a:r>
          </a:p>
        </p:txBody>
      </p:sp>
      <p:sp>
        <p:nvSpPr>
          <p:cNvPr id="2" name="">
            <a:extLst xmlns:a="http://schemas.openxmlformats.org/drawingml/2006/main">
              <a:ext uri="{FF2B5EF4-FFF2-40B4-BE49-F238E27FC236}">
                <a16:creationId xmlns:a16="http://schemas.microsoft.com/office/drawing/2014/main" id="{670C1AD2-7A7F-4BC6-8003-DF3046B8B7A8}"/>
              </a:ext>
            </a:extLst>
          </p:cNvPr>
          <p:cNvSpPr>
            <a:spLocks xmlns:a="http://schemas.openxmlformats.org/drawingml/2006/main" noGrp="1"/>
          </p:cNvSpPr>
          <p:nvPr/>
        </p:nvSpPr>
        <p:spPr>
          <a:xfrm xmlns:a="http://schemas.openxmlformats.org/drawingml/2006/main">
            <a:off x="762000" y="952500"/>
            <a:ext cx="13716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4875" b="1">
                <a:solidFill>
                  <a:srgbClr val="20333D"/>
                </a:solidFill>
                <a:latin typeface="Arial"/>
                <a:ea typeface="Arial"/>
                <a:cs typeface="Arial"/>
              </a:defRPr>
            </a:defPPr>
          </a:lstStyle>
          <a:p xmlns:a="http://schemas.openxmlformats.org/drawingml/2006/main">
            <a:pPr>
              <a:defRPr sz="4875" b="1">
                <a:solidFill>
                  <a:srgbClr val="20333D"/>
                </a:solidFill>
                <a:latin typeface="Arial"/>
                <a:ea typeface="Arial"/>
                <a:cs typeface="Arial"/>
              </a:defRPr>
            </a:pPr>
            <a:r>
              <a:rPr sz="4875" b="1">
                <a:solidFill>
                  <a:srgbClr val="20333D"/>
                </a:solidFill>
                <a:latin typeface="Arial"/>
                <a:ea typeface="Arial"/>
                <a:cs typeface="Arial"/>
              </a:rPr>
              <a:t>12. Result formats and coding DNA</a:t>
            </a:r>
          </a:p>
        </p:txBody>
      </p:sp>
      <p:sp>
        <p:nvSpPr>
          <p:cNvPr id="3" name="">
            <a:extLst xmlns:a="http://schemas.openxmlformats.org/drawingml/2006/main">
              <a:ext uri="{FF2B5EF4-FFF2-40B4-BE49-F238E27FC236}">
                <a16:creationId xmlns:a16="http://schemas.microsoft.com/office/drawing/2014/main" id="{8E7DC1CB-1F14-45D5-9DE9-1E733785CA2E}"/>
              </a:ext>
            </a:extLst>
          </p:cNvPr>
          <p:cNvSpPr>
            <a:spLocks xmlns:a="http://schemas.openxmlformats.org/drawingml/2006/main" noGrp="1"/>
          </p:cNvSpPr>
          <p:nvPr/>
        </p:nvSpPr>
        <p:spPr>
          <a:xfrm xmlns:a="http://schemas.openxmlformats.org/drawingml/2006/main">
            <a:off x="762000" y="2524125"/>
            <a:ext cx="13716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550" b="1">
                <a:solidFill>
                  <a:srgbClr val="4B606D"/>
                </a:solidFill>
                <a:latin typeface="Arial"/>
                <a:ea typeface="Arial"/>
                <a:cs typeface="Arial"/>
              </a:defRPr>
            </a:defPPr>
          </a:lstStyle>
          <a:p xmlns:a="http://schemas.openxmlformats.org/drawingml/2006/main">
            <a:pPr>
              <a:defRPr sz="2550" b="1">
                <a:solidFill>
                  <a:srgbClr val="4B606D"/>
                </a:solidFill>
                <a:latin typeface="Arial"/>
                <a:ea typeface="Arial"/>
                <a:cs typeface="Arial"/>
              </a:defRPr>
            </a:pPr>
            <a:r>
              <a:rPr sz="2550" b="1">
                <a:solidFill>
                  <a:srgbClr val="4B606D"/>
                </a:solidFill>
                <a:latin typeface="Arial"/>
                <a:ea typeface="Arial"/>
                <a:cs typeface="Arial"/>
              </a:rPr>
              <a:t>Choose a format that preserves the information you need</a:t>
            </a:r>
          </a:p>
        </p:txBody>
      </p:sp>
      <p:sp>
        <p:nvSpPr>
          <p:cNvPr id="4" name="">
            <a:extLst xmlns:a="http://schemas.openxmlformats.org/drawingml/2006/main">
              <a:ext uri="{FF2B5EF4-FFF2-40B4-BE49-F238E27FC236}">
                <a16:creationId xmlns:a16="http://schemas.microsoft.com/office/drawing/2014/main" id="{6E5B8A8D-ABB2-4962-BA25-FBD3C5EB1F01}"/>
              </a:ext>
            </a:extLst>
          </p:cNvPr>
          <p:cNvSpPr>
            <a:spLocks xmlns:a="http://schemas.openxmlformats.org/drawingml/2006/main" noGrp="1"/>
          </p:cNvSpPr>
          <p:nvPr/>
        </p:nvSpPr>
        <p:spPr>
          <a:xfrm xmlns:a="http://schemas.openxmlformats.org/drawingml/2006/main">
            <a:off x="762000" y="19240500"/>
            <a:ext cx="1238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650" b="1">
                <a:solidFill>
                  <a:srgbClr val="4B606D"/>
                </a:solidFill>
                <a:latin typeface="Arial"/>
                <a:ea typeface="Arial"/>
                <a:cs typeface="Arial"/>
              </a:defRPr>
            </a:defPPr>
          </a:lstStyle>
          <a:p xmlns:a="http://schemas.openxmlformats.org/drawingml/2006/main">
            <a:pPr>
              <a:defRPr sz="1650" b="1">
                <a:solidFill>
                  <a:srgbClr val="4B606D"/>
                </a:solidFill>
                <a:latin typeface="Arial"/>
                <a:ea typeface="Arial"/>
                <a:cs typeface="Arial"/>
              </a:defRPr>
            </a:pPr>
            <a:r>
              <a:rPr sz="1650" b="1">
                <a:solidFill>
                  <a:srgbClr val="4B606D"/>
                </a:solidFill>
                <a:latin typeface="Arial"/>
                <a:ea typeface="Arial"/>
                <a:cs typeface="Arial"/>
              </a:rPr>
              <a:t>Enzora web platform • 16 October 2026</a:t>
            </a:r>
          </a:p>
        </p:txBody>
      </p:sp>
      <p:sp>
        <p:nvSpPr>
          <p:cNvPr id="5" name="">
            <a:extLst xmlns:a="http://schemas.openxmlformats.org/drawingml/2006/main">
              <a:ext uri="{FF2B5EF4-FFF2-40B4-BE49-F238E27FC236}">
                <a16:creationId xmlns:a16="http://schemas.microsoft.com/office/drawing/2014/main" id="{ABB43F49-C299-4AF9-8C81-4F1B16EE0D5F}"/>
              </a:ext>
            </a:extLst>
          </p:cNvPr>
          <p:cNvSpPr>
            <a:spLocks xmlns:a="http://schemas.openxmlformats.org/drawingml/2006/main" noGrp="1"/>
          </p:cNvSpPr>
          <p:nvPr/>
        </p:nvSpPr>
        <p:spPr>
          <a:xfrm xmlns:a="http://schemas.openxmlformats.org/drawingml/2006/main">
            <a:off x="13811250" y="19240500"/>
            <a:ext cx="762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00" b="1">
                <a:solidFill>
                  <a:srgbClr val="4B606D"/>
                </a:solidFill>
                <a:latin typeface="Arial"/>
                <a:ea typeface="Arial"/>
                <a:cs typeface="Arial"/>
              </a:defRPr>
            </a:defPPr>
          </a:lstStyle>
          <a:p xmlns:a="http://schemas.openxmlformats.org/drawingml/2006/main">
            <a:pPr>
              <a:defRPr sz="1800" b="1">
                <a:solidFill>
                  <a:srgbClr val="4B606D"/>
                </a:solidFill>
                <a:latin typeface="Arial"/>
                <a:ea typeface="Arial"/>
                <a:cs typeface="Arial"/>
              </a:defRPr>
            </a:pPr>
            <a:r>
              <a:rPr sz="1800" b="1">
                <a:solidFill>
                  <a:srgbClr val="4B606D"/>
                </a:solidFill>
                <a:latin typeface="Arial"/>
                <a:ea typeface="Arial"/>
                <a:cs typeface="Arial"/>
              </a:rPr>
              <a:t>13</a:t>
            </a:r>
          </a:p>
        </p:txBody>
      </p:sp>
      <p:sp>
        <p:nvSpPr>
          <p:cNvPr id="6" name="">
            <a:extLst xmlns:a="http://schemas.openxmlformats.org/drawingml/2006/main">
              <a:ext uri="{FF2B5EF4-FFF2-40B4-BE49-F238E27FC236}">
                <a16:creationId xmlns:a16="http://schemas.microsoft.com/office/drawing/2014/main" id="{882A3C25-3BC6-4DF7-9604-569973E924EA}"/>
              </a:ext>
            </a:extLst>
          </p:cNvPr>
          <p:cNvSpPr>
            <a:spLocks xmlns:a="http://schemas.openxmlformats.org/drawingml/2006/main" noGrp="1"/>
          </p:cNvSpPr>
          <p:nvPr/>
        </p:nvSpPr>
        <p:spPr>
          <a:xfrm xmlns:a="http://schemas.openxmlformats.org/drawingml/2006/main">
            <a:off x="762000" y="4048125"/>
            <a:ext cx="13716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925" b="1">
                <a:solidFill>
                  <a:srgbClr val="20333D"/>
                </a:solidFill>
                <a:latin typeface="Arial"/>
                <a:ea typeface="Arial"/>
                <a:cs typeface="Arial"/>
              </a:defRPr>
            </a:defPPr>
          </a:lstStyle>
          <a:p xmlns:a="http://schemas.openxmlformats.org/drawingml/2006/main">
            <a:pPr>
              <a:defRPr sz="2925" b="1">
                <a:solidFill>
                  <a:srgbClr val="20333D"/>
                </a:solidFill>
                <a:latin typeface="Arial"/>
                <a:ea typeface="Arial"/>
                <a:cs typeface="Arial"/>
              </a:defRPr>
            </a:pPr>
            <a:r>
              <a:rPr sz="2925" b="1">
                <a:solidFill>
                  <a:srgbClr val="20333D"/>
                </a:solidFill>
                <a:latin typeface="Arial"/>
                <a:ea typeface="Arial"/>
                <a:cs typeface="Arial"/>
              </a:rPr>
              <a:t>Proteins and prediction records</a:t>
            </a:r>
          </a:p>
        </p:txBody>
      </p:sp>
      <p:sp>
        <p:nvSpPr>
          <p:cNvPr id="7" name="">
            <a:extLst xmlns:a="http://schemas.openxmlformats.org/drawingml/2006/main">
              <a:ext uri="{FF2B5EF4-FFF2-40B4-BE49-F238E27FC236}">
                <a16:creationId xmlns:a16="http://schemas.microsoft.com/office/drawing/2014/main" id="{BB811553-39CE-4138-B397-3C9ECC36794C}"/>
              </a:ext>
            </a:extLst>
          </p:cNvPr>
          <p:cNvSpPr>
            <a:spLocks xmlns:a="http://schemas.openxmlformats.org/drawingml/2006/main" noGrp="1"/>
          </p:cNvSpPr>
          <p:nvPr/>
        </p:nvSpPr>
        <p:spPr>
          <a:xfrm xmlns:a="http://schemas.openxmlformats.org/drawingml/2006/main">
            <a:off x="762000" y="4714875"/>
            <a:ext cx="13716000" cy="1866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550" b="1">
                <a:solidFill>
                  <a:srgbClr val="4B606D"/>
                </a:solidFill>
                <a:latin typeface="Arial"/>
                <a:ea typeface="Arial"/>
                <a:cs typeface="Arial"/>
              </a:defRPr>
            </a:defPPr>
          </a:lstStyle>
          <a:p xmlns:a="http://schemas.openxmlformats.org/drawingml/2006/main">
            <a:pPr>
              <a:defRPr sz="2550" b="1">
                <a:solidFill>
                  <a:srgbClr val="4B606D"/>
                </a:solidFill>
                <a:latin typeface="Arial"/>
                <a:ea typeface="Arial"/>
                <a:cs typeface="Arial"/>
              </a:defRPr>
            </a:pPr>
            <a:r>
              <a:rPr sz="2550" b="1">
                <a:solidFill>
                  <a:srgbClr val="4B606D"/>
                </a:solidFill>
                <a:latin typeface="Arial"/>
                <a:ea typeface="Arial"/>
                <a:cs typeface="Arial"/>
              </a:rPr>
              <a:t>The result selector exports JSON, CSV, FASTA, GenBank or SBOL. JSON preserves the BioArtifact schema, predictions and provenance. FASTA carries sequence identity but does not preserve arbitrary prediction annotations.</a:t>
            </a:r>
          </a:p>
        </p:txBody>
      </p:sp>
      <p:sp>
        <p:nvSpPr>
          <p:cNvPr id="8" name="">
            <a:extLst xmlns:a="http://schemas.openxmlformats.org/drawingml/2006/main">
              <a:ext uri="{FF2B5EF4-FFF2-40B4-BE49-F238E27FC236}">
                <a16:creationId xmlns:a16="http://schemas.microsoft.com/office/drawing/2014/main" id="{35BC9CDA-8682-4AC3-A867-CEC9B3109074}"/>
              </a:ext>
            </a:extLst>
          </p:cNvPr>
          <p:cNvSpPr>
            <a:spLocks xmlns:a="http://schemas.openxmlformats.org/drawingml/2006/main" noGrp="1"/>
          </p:cNvSpPr>
          <p:nvPr/>
        </p:nvSpPr>
        <p:spPr>
          <a:xfrm xmlns:a="http://schemas.openxmlformats.org/drawingml/2006/main">
            <a:off x="762000" y="7620000"/>
            <a:ext cx="13716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925" b="1">
                <a:solidFill>
                  <a:srgbClr val="20333D"/>
                </a:solidFill>
                <a:latin typeface="Arial"/>
                <a:ea typeface="Arial"/>
                <a:cs typeface="Arial"/>
              </a:defRPr>
            </a:defPPr>
          </a:lstStyle>
          <a:p xmlns:a="http://schemas.openxmlformats.org/drawingml/2006/main">
            <a:pPr>
              <a:defRPr sz="2925" b="1">
                <a:solidFill>
                  <a:srgbClr val="20333D"/>
                </a:solidFill>
                <a:latin typeface="Arial"/>
                <a:ea typeface="Arial"/>
                <a:cs typeface="Arial"/>
              </a:defRPr>
            </a:pPr>
            <a:r>
              <a:rPr sz="2925" b="1">
                <a:solidFill>
                  <a:srgbClr val="20333D"/>
                </a:solidFill>
                <a:latin typeface="Arial"/>
                <a:ea typeface="Arial"/>
                <a:cs typeface="Arial"/>
              </a:rPr>
              <a:t>Host-specific synonymous DNA</a:t>
            </a:r>
          </a:p>
        </p:txBody>
      </p:sp>
      <p:sp>
        <p:nvSpPr>
          <p:cNvPr id="9" name="">
            <a:extLst xmlns:a="http://schemas.openxmlformats.org/drawingml/2006/main">
              <a:ext uri="{FF2B5EF4-FFF2-40B4-BE49-F238E27FC236}">
                <a16:creationId xmlns:a16="http://schemas.microsoft.com/office/drawing/2014/main" id="{0376EEB0-9035-4A2A-86E0-DCED333FF3D2}"/>
              </a:ext>
            </a:extLst>
          </p:cNvPr>
          <p:cNvSpPr>
            <a:spLocks xmlns:a="http://schemas.openxmlformats.org/drawingml/2006/main" noGrp="1"/>
          </p:cNvSpPr>
          <p:nvPr/>
        </p:nvSpPr>
        <p:spPr>
          <a:xfrm xmlns:a="http://schemas.openxmlformats.org/drawingml/2006/main">
            <a:off x="762000" y="8286750"/>
            <a:ext cx="13716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550" b="1">
                <a:solidFill>
                  <a:srgbClr val="4B606D"/>
                </a:solidFill>
                <a:latin typeface="Arial"/>
                <a:ea typeface="Arial"/>
                <a:cs typeface="Arial"/>
              </a:defRPr>
            </a:defPPr>
          </a:lstStyle>
          <a:p xmlns:a="http://schemas.openxmlformats.org/drawingml/2006/main">
            <a:pPr>
              <a:defRPr sz="2550" b="1">
                <a:solidFill>
                  <a:srgbClr val="4B606D"/>
                </a:solidFill>
                <a:latin typeface="Arial"/>
                <a:ea typeface="Arial"/>
                <a:cs typeface="Arial"/>
              </a:defRPr>
            </a:pPr>
            <a:r>
              <a:rPr sz="2550" b="1">
                <a:solidFill>
                  <a:srgbClr val="4B606D"/>
                </a:solidFill>
                <a:latin typeface="Arial"/>
                <a:ea typeface="Arial"/>
                <a:cs typeface="Arial"/>
              </a:rPr>
              <a:t>Choose the expression host, then use Optimize &amp; export CDS. The export includes WT and selected candidates. Translate each DNA sequence back to the source protein before gene synthesis.</a:t>
            </a:r>
          </a:p>
        </p:txBody>
      </p:sp>
      <p:sp>
        <p:nvSpPr>
          <p:cNvPr id="10" name="">
            <a:extLst xmlns:a="http://schemas.openxmlformats.org/drawingml/2006/main">
              <a:ext uri="{FF2B5EF4-FFF2-40B4-BE49-F238E27FC236}">
                <a16:creationId xmlns:a16="http://schemas.microsoft.com/office/drawing/2014/main" id="{DD9007CD-12D8-416F-8815-1CC5D83D0175}"/>
              </a:ext>
            </a:extLst>
          </p:cNvPr>
          <p:cNvSpPr>
            <a:spLocks xmlns:a="http://schemas.openxmlformats.org/drawingml/2006/main" noGrp="1"/>
          </p:cNvSpPr>
          <p:nvPr/>
        </p:nvSpPr>
        <p:spPr>
          <a:xfrm xmlns:a="http://schemas.openxmlformats.org/drawingml/2006/main">
            <a:off x="762000" y="11191875"/>
            <a:ext cx="13716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925" b="1">
                <a:solidFill>
                  <a:srgbClr val="20333D"/>
                </a:solidFill>
                <a:latin typeface="Arial"/>
                <a:ea typeface="Arial"/>
                <a:cs typeface="Arial"/>
              </a:defRPr>
            </a:defPPr>
          </a:lstStyle>
          <a:p xmlns:a="http://schemas.openxmlformats.org/drawingml/2006/main">
            <a:pPr>
              <a:defRPr sz="2925" b="1">
                <a:solidFill>
                  <a:srgbClr val="20333D"/>
                </a:solidFill>
                <a:latin typeface="Arial"/>
                <a:ea typeface="Arial"/>
                <a:cs typeface="Arial"/>
              </a:defRPr>
            </a:pPr>
            <a:r>
              <a:rPr sz="2925" b="1">
                <a:solidFill>
                  <a:srgbClr val="20333D"/>
                </a:solidFill>
                <a:latin typeface="Arial"/>
                <a:ea typeface="Arial"/>
                <a:cs typeface="Arial"/>
              </a:rPr>
              <a:t>What codon optimization does</a:t>
            </a:r>
          </a:p>
        </p:txBody>
      </p:sp>
      <p:sp>
        <p:nvSpPr>
          <p:cNvPr id="11" name="">
            <a:extLst xmlns:a="http://schemas.openxmlformats.org/drawingml/2006/main">
              <a:ext uri="{FF2B5EF4-FFF2-40B4-BE49-F238E27FC236}">
                <a16:creationId xmlns:a16="http://schemas.microsoft.com/office/drawing/2014/main" id="{6600F7A9-B291-4DA4-A3D1-AB259153AE64}"/>
              </a:ext>
            </a:extLst>
          </p:cNvPr>
          <p:cNvSpPr>
            <a:spLocks xmlns:a="http://schemas.openxmlformats.org/drawingml/2006/main" noGrp="1"/>
          </p:cNvSpPr>
          <p:nvPr/>
        </p:nvSpPr>
        <p:spPr>
          <a:xfrm xmlns:a="http://schemas.openxmlformats.org/drawingml/2006/main">
            <a:off x="762000" y="11858625"/>
            <a:ext cx="13716000" cy="1866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550" b="1">
                <a:solidFill>
                  <a:srgbClr val="4B606D"/>
                </a:solidFill>
                <a:latin typeface="Arial"/>
                <a:ea typeface="Arial"/>
                <a:cs typeface="Arial"/>
              </a:defRPr>
            </a:defPPr>
          </a:lstStyle>
          <a:p xmlns:a="http://schemas.openxmlformats.org/drawingml/2006/main">
            <a:pPr>
              <a:defRPr sz="2550" b="1">
                <a:solidFill>
                  <a:srgbClr val="4B606D"/>
                </a:solidFill>
                <a:latin typeface="Arial"/>
                <a:ea typeface="Arial"/>
                <a:cs typeface="Arial"/>
              </a:defRPr>
            </a:pPr>
            <a:r>
              <a:rPr sz="2550" b="1">
                <a:solidFill>
                  <a:srgbClr val="4B606D"/>
                </a:solidFill>
                <a:latin typeface="Arial"/>
                <a:ea typeface="Arial"/>
                <a:cs typeface="Arial"/>
              </a:rPr>
              <a:t>Eleven host usage tables are built in, including E. coli and Bacillus subtilis. The current method chooses preferred synonymous codons. It does not optimize mRNA folding, restriction sites, repeats or synthesis constraints.</a:t>
            </a:r>
          </a:p>
        </p:txBody>
      </p:sp>
      <p:sp>
        <p:nvSpPr>
          <p:cNvPr id="12" name="">
            <a:extLst xmlns:a="http://schemas.openxmlformats.org/drawingml/2006/main">
              <a:ext uri="{FF2B5EF4-FFF2-40B4-BE49-F238E27FC236}">
                <a16:creationId xmlns:a16="http://schemas.microsoft.com/office/drawing/2014/main" id="{02DA13C1-DB05-4A4C-B9AC-13D084ACDC87}"/>
              </a:ext>
            </a:extLst>
          </p:cNvPr>
          <p:cNvSpPr>
            <a:spLocks xmlns:a="http://schemas.openxmlformats.org/drawingml/2006/main" noGrp="1"/>
          </p:cNvSpPr>
          <p:nvPr/>
        </p:nvSpPr>
        <p:spPr>
          <a:xfrm xmlns:a="http://schemas.openxmlformats.org/drawingml/2006/main">
            <a:off x="762000" y="14763750"/>
            <a:ext cx="13716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925" b="1">
                <a:solidFill>
                  <a:srgbClr val="20333D"/>
                </a:solidFill>
                <a:latin typeface="Arial"/>
                <a:ea typeface="Arial"/>
                <a:cs typeface="Arial"/>
              </a:defRPr>
            </a:defPPr>
          </a:lstStyle>
          <a:p xmlns:a="http://schemas.openxmlformats.org/drawingml/2006/main">
            <a:pPr>
              <a:defRPr sz="2925" b="1">
                <a:solidFill>
                  <a:srgbClr val="20333D"/>
                </a:solidFill>
                <a:latin typeface="Arial"/>
                <a:ea typeface="Arial"/>
                <a:cs typeface="Arial"/>
              </a:defRPr>
            </a:pPr>
            <a:r>
              <a:rPr sz="2925" b="1">
                <a:solidFill>
                  <a:srgbClr val="20333D"/>
                </a:solidFill>
                <a:latin typeface="Arial"/>
                <a:ea typeface="Arial"/>
                <a:cs typeface="Arial"/>
              </a:rPr>
              <a:t>Keep a traceable package</a:t>
            </a:r>
          </a:p>
        </p:txBody>
      </p:sp>
      <p:sp>
        <p:nvSpPr>
          <p:cNvPr id="13" name="">
            <a:extLst xmlns:a="http://schemas.openxmlformats.org/drawingml/2006/main">
              <a:ext uri="{FF2B5EF4-FFF2-40B4-BE49-F238E27FC236}">
                <a16:creationId xmlns:a16="http://schemas.microsoft.com/office/drawing/2014/main" id="{AF2C784E-BB4E-47D0-A7F1-297B16ED2A57}"/>
              </a:ext>
            </a:extLst>
          </p:cNvPr>
          <p:cNvSpPr>
            <a:spLocks xmlns:a="http://schemas.openxmlformats.org/drawingml/2006/main" noGrp="1"/>
          </p:cNvSpPr>
          <p:nvPr/>
        </p:nvSpPr>
        <p:spPr>
          <a:xfrm xmlns:a="http://schemas.openxmlformats.org/drawingml/2006/main">
            <a:off x="762000" y="15430500"/>
            <a:ext cx="13716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550" b="1">
                <a:solidFill>
                  <a:srgbClr val="4B606D"/>
                </a:solidFill>
                <a:latin typeface="Arial"/>
                <a:ea typeface="Arial"/>
                <a:cs typeface="Arial"/>
              </a:defRPr>
            </a:defPPr>
          </a:lstStyle>
          <a:p xmlns:a="http://schemas.openxmlformats.org/drawingml/2006/main">
            <a:pPr>
              <a:defRPr sz="2550" b="1">
                <a:solidFill>
                  <a:srgbClr val="4B606D"/>
                </a:solidFill>
                <a:latin typeface="Arial"/>
                <a:ea typeface="Arial"/>
                <a:cs typeface="Arial"/>
              </a:defRPr>
            </a:pPr>
            <a:r>
              <a:rPr sz="2550" b="1">
                <a:solidFill>
                  <a:srgbClr val="4B606D"/>
                </a:solidFill>
                <a:latin typeface="Arial"/>
                <a:ea typeface="Arial"/>
                <a:cs typeface="Arial"/>
              </a:rPr>
              <a:t>Save the protein FASTA together with JSON/CSV and the analysis report. Check candidate identifiers, sequence lengths, substitutions, substrate and host across all exported files.</a:t>
            </a:r>
          </a:p>
        </p:txBody>
      </p:sp>
    </p:spTree>
    <p:extLst>
      <p:ext uri="{BB962C8B-B14F-4D97-AF65-F5344CB8AC3E}">
        <p14:creationId xmlns:p14="http://schemas.microsoft.com/office/powerpoint/2010/main" val="941255786"/>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6B56F1C-50B0-43A1-AEEC-73268B7DF486}"/>
              </a:ext>
            </a:extLst>
          </p:cNvPr>
          <p:cNvSpPr>
            <a:spLocks xmlns:a="http://schemas.openxmlformats.org/drawingml/2006/main" noGrp="1"/>
          </p:cNvSpPr>
          <p:nvPr/>
        </p:nvSpPr>
        <p:spPr>
          <a:xfrm xmlns:a="http://schemas.openxmlformats.org/drawingml/2006/main">
            <a:off x="762000" y="361950"/>
            <a:ext cx="13239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725" b="1">
                <a:solidFill>
                  <a:srgbClr val="4B606D"/>
                </a:solidFill>
                <a:latin typeface="Arial"/>
                <a:ea typeface="Arial"/>
                <a:cs typeface="Arial"/>
              </a:defRPr>
            </a:defPPr>
          </a:lstStyle>
          <a:p xmlns:a="http://schemas.openxmlformats.org/drawingml/2006/main">
            <a:pPr>
              <a:defRPr sz="1725" b="1">
                <a:solidFill>
                  <a:srgbClr val="4B606D"/>
                </a:solidFill>
                <a:latin typeface="Arial"/>
                <a:ea typeface="Arial"/>
                <a:cs typeface="Arial"/>
              </a:defRPr>
            </a:pPr>
            <a:r>
              <a:rPr sz="1725" b="1">
                <a:solidFill>
                  <a:srgbClr val="4B606D"/>
                </a:solidFill>
                <a:latin typeface="Arial"/>
                <a:ea typeface="Arial"/>
                <a:cs typeface="Arial"/>
              </a:rPr>
              <a:t>ENZORA  /  USER GUIDE</a:t>
            </a:r>
          </a:p>
        </p:txBody>
      </p:sp>
      <p:sp>
        <p:nvSpPr>
          <p:cNvPr id="2" name="">
            <a:extLst xmlns:a="http://schemas.openxmlformats.org/drawingml/2006/main">
              <a:ext uri="{FF2B5EF4-FFF2-40B4-BE49-F238E27FC236}">
                <a16:creationId xmlns:a16="http://schemas.microsoft.com/office/drawing/2014/main" id="{9A7D91B5-9BAC-40B9-9F3D-2DBDED5D1CE7}"/>
              </a:ext>
            </a:extLst>
          </p:cNvPr>
          <p:cNvSpPr>
            <a:spLocks xmlns:a="http://schemas.openxmlformats.org/drawingml/2006/main" noGrp="1"/>
          </p:cNvSpPr>
          <p:nvPr/>
        </p:nvSpPr>
        <p:spPr>
          <a:xfrm xmlns:a="http://schemas.openxmlformats.org/drawingml/2006/main">
            <a:off x="762000" y="952500"/>
            <a:ext cx="13716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4875" b="1">
                <a:solidFill>
                  <a:srgbClr val="20333D"/>
                </a:solidFill>
                <a:latin typeface="Arial"/>
                <a:ea typeface="Arial"/>
                <a:cs typeface="Arial"/>
              </a:defRPr>
            </a:defPPr>
          </a:lstStyle>
          <a:p xmlns:a="http://schemas.openxmlformats.org/drawingml/2006/main">
            <a:pPr>
              <a:defRPr sz="4875" b="1">
                <a:solidFill>
                  <a:srgbClr val="20333D"/>
                </a:solidFill>
                <a:latin typeface="Arial"/>
                <a:ea typeface="Arial"/>
                <a:cs typeface="Arial"/>
              </a:defRPr>
            </a:pPr>
            <a:r>
              <a:rPr sz="4875" b="1">
                <a:solidFill>
                  <a:srgbClr val="20333D"/>
                </a:solidFill>
                <a:latin typeface="Arial"/>
                <a:ea typeface="Arial"/>
                <a:cs typeface="Arial"/>
              </a:rPr>
              <a:t>13. Model&amp;Tools operations</a:t>
            </a:r>
          </a:p>
        </p:txBody>
      </p:sp>
      <p:sp>
        <p:nvSpPr>
          <p:cNvPr id="3" name="">
            <a:extLst xmlns:a="http://schemas.openxmlformats.org/drawingml/2006/main">
              <a:ext uri="{FF2B5EF4-FFF2-40B4-BE49-F238E27FC236}">
                <a16:creationId xmlns:a16="http://schemas.microsoft.com/office/drawing/2014/main" id="{8A3175A6-B819-4100-B93C-B32DE57A92DF}"/>
              </a:ext>
            </a:extLst>
          </p:cNvPr>
          <p:cNvSpPr>
            <a:spLocks xmlns:a="http://schemas.openxmlformats.org/drawingml/2006/main" noGrp="1"/>
          </p:cNvSpPr>
          <p:nvPr/>
        </p:nvSpPr>
        <p:spPr>
          <a:xfrm xmlns:a="http://schemas.openxmlformats.org/drawingml/2006/main">
            <a:off x="762000" y="2524125"/>
            <a:ext cx="13716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550" b="1">
                <a:solidFill>
                  <a:srgbClr val="4B606D"/>
                </a:solidFill>
                <a:latin typeface="Arial"/>
                <a:ea typeface="Arial"/>
                <a:cs typeface="Arial"/>
              </a:defRPr>
            </a:defPPr>
          </a:lstStyle>
          <a:p xmlns:a="http://schemas.openxmlformats.org/drawingml/2006/main">
            <a:pPr>
              <a:defRPr sz="2550" b="1">
                <a:solidFill>
                  <a:srgbClr val="4B606D"/>
                </a:solidFill>
                <a:latin typeface="Arial"/>
                <a:ea typeface="Arial"/>
                <a:cs typeface="Arial"/>
              </a:defRPr>
            </a:pPr>
            <a:r>
              <a:rPr sz="2550" b="1">
                <a:solidFill>
                  <a:srgbClr val="4B606D"/>
                </a:solidFill>
                <a:latin typeface="Arial"/>
                <a:ea typeface="Arial"/>
                <a:cs typeface="Arial"/>
              </a:rPr>
              <a:t>Use a specific tool without starting the full mutation workflow</a:t>
            </a:r>
          </a:p>
        </p:txBody>
      </p:sp>
      <p:sp>
        <p:nvSpPr>
          <p:cNvPr id="4" name="">
            <a:extLst xmlns:a="http://schemas.openxmlformats.org/drawingml/2006/main">
              <a:ext uri="{FF2B5EF4-FFF2-40B4-BE49-F238E27FC236}">
                <a16:creationId xmlns:a16="http://schemas.microsoft.com/office/drawing/2014/main" id="{916D9E96-639F-4A6F-874A-1BD0FBE07244}"/>
              </a:ext>
            </a:extLst>
          </p:cNvPr>
          <p:cNvSpPr>
            <a:spLocks xmlns:a="http://schemas.openxmlformats.org/drawingml/2006/main" noGrp="1"/>
          </p:cNvSpPr>
          <p:nvPr/>
        </p:nvSpPr>
        <p:spPr>
          <a:xfrm xmlns:a="http://schemas.openxmlformats.org/drawingml/2006/main">
            <a:off x="762000" y="19240500"/>
            <a:ext cx="1238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650" b="1">
                <a:solidFill>
                  <a:srgbClr val="4B606D"/>
                </a:solidFill>
                <a:latin typeface="Arial"/>
                <a:ea typeface="Arial"/>
                <a:cs typeface="Arial"/>
              </a:defRPr>
            </a:defPPr>
          </a:lstStyle>
          <a:p xmlns:a="http://schemas.openxmlformats.org/drawingml/2006/main">
            <a:pPr>
              <a:defRPr sz="1650" b="1">
                <a:solidFill>
                  <a:srgbClr val="4B606D"/>
                </a:solidFill>
                <a:latin typeface="Arial"/>
                <a:ea typeface="Arial"/>
                <a:cs typeface="Arial"/>
              </a:defRPr>
            </a:pPr>
            <a:r>
              <a:rPr sz="1650" b="1">
                <a:solidFill>
                  <a:srgbClr val="4B606D"/>
                </a:solidFill>
                <a:latin typeface="Arial"/>
                <a:ea typeface="Arial"/>
                <a:cs typeface="Arial"/>
              </a:rPr>
              <a:t>Enzora web platform • 16 October 2026</a:t>
            </a:r>
          </a:p>
        </p:txBody>
      </p:sp>
      <p:sp>
        <p:nvSpPr>
          <p:cNvPr id="5" name="">
            <a:extLst xmlns:a="http://schemas.openxmlformats.org/drawingml/2006/main">
              <a:ext uri="{FF2B5EF4-FFF2-40B4-BE49-F238E27FC236}">
                <a16:creationId xmlns:a16="http://schemas.microsoft.com/office/drawing/2014/main" id="{A3900B30-11F3-4694-9C8A-7D6A2DE03C2E}"/>
              </a:ext>
            </a:extLst>
          </p:cNvPr>
          <p:cNvSpPr>
            <a:spLocks xmlns:a="http://schemas.openxmlformats.org/drawingml/2006/main" noGrp="1"/>
          </p:cNvSpPr>
          <p:nvPr/>
        </p:nvSpPr>
        <p:spPr>
          <a:xfrm xmlns:a="http://schemas.openxmlformats.org/drawingml/2006/main">
            <a:off x="13811250" y="19240500"/>
            <a:ext cx="762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00" b="1">
                <a:solidFill>
                  <a:srgbClr val="4B606D"/>
                </a:solidFill>
                <a:latin typeface="Arial"/>
                <a:ea typeface="Arial"/>
                <a:cs typeface="Arial"/>
              </a:defRPr>
            </a:defPPr>
          </a:lstStyle>
          <a:p xmlns:a="http://schemas.openxmlformats.org/drawingml/2006/main">
            <a:pPr>
              <a:defRPr sz="1800" b="1">
                <a:solidFill>
                  <a:srgbClr val="4B606D"/>
                </a:solidFill>
                <a:latin typeface="Arial"/>
                <a:ea typeface="Arial"/>
                <a:cs typeface="Arial"/>
              </a:defRPr>
            </a:pPr>
            <a:r>
              <a:rPr sz="1800" b="1">
                <a:solidFill>
                  <a:srgbClr val="4B606D"/>
                </a:solidFill>
                <a:latin typeface="Arial"/>
                <a:ea typeface="Arial"/>
                <a:cs typeface="Arial"/>
              </a:rPr>
              <a:t>14</a:t>
            </a:r>
          </a:p>
        </p:txBody>
      </p:sp>
      <p:sp>
        <p:nvSpPr>
          <p:cNvPr id="6" name="">
            <a:extLst xmlns:a="http://schemas.openxmlformats.org/drawingml/2006/main">
              <a:ext uri="{FF2B5EF4-FFF2-40B4-BE49-F238E27FC236}">
                <a16:creationId xmlns:a16="http://schemas.microsoft.com/office/drawing/2014/main" id="{5619DE5D-ABDE-41E3-B08A-3ADE7358EC6E}"/>
              </a:ext>
            </a:extLst>
          </p:cNvPr>
          <p:cNvSpPr>
            <a:spLocks xmlns:a="http://schemas.openxmlformats.org/drawingml/2006/main" noGrp="1"/>
          </p:cNvSpPr>
          <p:nvPr/>
        </p:nvSpPr>
        <p:spPr>
          <a:xfrm xmlns:a="http://schemas.openxmlformats.org/drawingml/2006/main">
            <a:off x="762000" y="4048125"/>
            <a:ext cx="13716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925" b="1">
                <a:solidFill>
                  <a:srgbClr val="20333D"/>
                </a:solidFill>
                <a:latin typeface="Arial"/>
                <a:ea typeface="Arial"/>
                <a:cs typeface="Arial"/>
              </a:defRPr>
            </a:defPPr>
          </a:lstStyle>
          <a:p xmlns:a="http://schemas.openxmlformats.org/drawingml/2006/main">
            <a:pPr>
              <a:defRPr sz="2925" b="1">
                <a:solidFill>
                  <a:srgbClr val="20333D"/>
                </a:solidFill>
                <a:latin typeface="Arial"/>
                <a:ea typeface="Arial"/>
                <a:cs typeface="Arial"/>
              </a:defRPr>
            </a:pPr>
            <a:r>
              <a:rPr sz="2925" b="1">
                <a:solidFill>
                  <a:srgbClr val="20333D"/>
                </a:solidFill>
                <a:latin typeface="Arial"/>
                <a:ea typeface="Arial"/>
                <a:cs typeface="Arial"/>
              </a:rPr>
              <a:t>Choose the input and operation</a:t>
            </a:r>
          </a:p>
        </p:txBody>
      </p:sp>
      <p:sp>
        <p:nvSpPr>
          <p:cNvPr id="7" name="">
            <a:extLst xmlns:a="http://schemas.openxmlformats.org/drawingml/2006/main">
              <a:ext uri="{FF2B5EF4-FFF2-40B4-BE49-F238E27FC236}">
                <a16:creationId xmlns:a16="http://schemas.microsoft.com/office/drawing/2014/main" id="{59EC34A6-A5E1-4868-806C-7996CB1446F8}"/>
              </a:ext>
            </a:extLst>
          </p:cNvPr>
          <p:cNvSpPr>
            <a:spLocks xmlns:a="http://schemas.openxmlformats.org/drawingml/2006/main" noGrp="1"/>
          </p:cNvSpPr>
          <p:nvPr/>
        </p:nvSpPr>
        <p:spPr>
          <a:xfrm xmlns:a="http://schemas.openxmlformats.org/drawingml/2006/main">
            <a:off x="762000" y="4714875"/>
            <a:ext cx="13716000" cy="1866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550" b="1">
                <a:solidFill>
                  <a:srgbClr val="4B606D"/>
                </a:solidFill>
                <a:latin typeface="Arial"/>
                <a:ea typeface="Arial"/>
                <a:cs typeface="Arial"/>
              </a:defRPr>
            </a:defPPr>
          </a:lstStyle>
          <a:p xmlns:a="http://schemas.openxmlformats.org/drawingml/2006/main">
            <a:pPr>
              <a:defRPr sz="2550" b="1">
                <a:solidFill>
                  <a:srgbClr val="4B606D"/>
                </a:solidFill>
                <a:latin typeface="Arial"/>
                <a:ea typeface="Arial"/>
                <a:cs typeface="Arial"/>
              </a:defRPr>
            </a:pPr>
            <a:r>
              <a:rPr sz="2550" b="1">
                <a:solidFill>
                  <a:srgbClr val="4B606D"/>
                </a:solidFill>
                <a:latin typeface="Arial"/>
                <a:ea typeface="Arial"/>
                <a:cs typeface="Arial"/>
              </a:rPr>
              <a:t>Open Model&amp;Tools. Enter a protein sequence or accession, choose the operation and inspect its returned card. Atlas queries include source links and sequence downloads. An active scientific run is not silently replaced.</a:t>
            </a:r>
          </a:p>
        </p:txBody>
      </p:sp>
      <p:pic>
        <p:nvPicPr>
          <p:cNvPr id="8" name="">
            <a:extLst xmlns:a="http://schemas.openxmlformats.org/drawingml/2006/main">
              <a:ext uri="{FF2B5EF4-FFF2-40B4-BE49-F238E27FC236}">
                <a16:creationId xmlns:a16="http://schemas.microsoft.com/office/drawing/2014/main" id="{079585A3-8374-4E27-AB98-2F86B78F1E47}"/>
              </a:ext>
            </a:extLst>
          </p:cNvPr>
          <p:cNvPicPr>
            <a:picLocks xmlns:a="http://schemas.openxmlformats.org/drawingml/2006/main" noChangeAspect="1"/>
          </p:cNvPicPr>
          <p:nvPr/>
        </p:nvPicPr>
        <p:blipFill>
          <a:blip xmlns:r="http://schemas.openxmlformats.org/officeDocument/2006/relationships" xmlns:a="http://schemas.openxmlformats.org/drawingml/2006/main" r:embed="R46e8cd3468a3420d"/>
          <a:stretch xmlns:a="http://schemas.openxmlformats.org/drawingml/2006/main"/>
        </p:blipFill>
        <p:spPr>
          <a:xfrm xmlns:a="http://schemas.openxmlformats.org/drawingml/2006/main">
            <a:off x="762000" y="7572375"/>
            <a:ext cx="13716000" cy="857250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7B12F4A7-AC9B-4941-A8DA-BAC80C41A753}"/>
              </a:ext>
            </a:extLst>
          </p:cNvPr>
          <p:cNvSpPr>
            <a:spLocks xmlns:a="http://schemas.openxmlformats.org/drawingml/2006/main" noGrp="1"/>
          </p:cNvSpPr>
          <p:nvPr/>
        </p:nvSpPr>
        <p:spPr>
          <a:xfrm xmlns:a="http://schemas.openxmlformats.org/drawingml/2006/main">
            <a:off x="762000" y="16478250"/>
            <a:ext cx="13716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925" b="1">
                <a:solidFill>
                  <a:srgbClr val="20333D"/>
                </a:solidFill>
                <a:latin typeface="Arial"/>
                <a:ea typeface="Arial"/>
                <a:cs typeface="Arial"/>
              </a:defRPr>
            </a:defPPr>
          </a:lstStyle>
          <a:p xmlns:a="http://schemas.openxmlformats.org/drawingml/2006/main">
            <a:pPr>
              <a:defRPr sz="2925" b="1">
                <a:solidFill>
                  <a:srgbClr val="20333D"/>
                </a:solidFill>
                <a:latin typeface="Arial"/>
                <a:ea typeface="Arial"/>
                <a:cs typeface="Arial"/>
              </a:defRPr>
            </a:pPr>
            <a:r>
              <a:rPr sz="2925" b="1">
                <a:solidFill>
                  <a:srgbClr val="20333D"/>
                </a:solidFill>
                <a:latin typeface="Arial"/>
                <a:ea typeface="Arial"/>
                <a:cs typeface="Arial"/>
              </a:rPr>
              <a:t>Understand availability</a:t>
            </a:r>
          </a:p>
        </p:txBody>
      </p:sp>
      <p:sp>
        <p:nvSpPr>
          <p:cNvPr id="10" name="">
            <a:extLst xmlns:a="http://schemas.openxmlformats.org/drawingml/2006/main">
              <a:ext uri="{FF2B5EF4-FFF2-40B4-BE49-F238E27FC236}">
                <a16:creationId xmlns:a16="http://schemas.microsoft.com/office/drawing/2014/main" id="{4FE8D09D-72E4-4E8E-94E6-0D5BDDC1F587}"/>
              </a:ext>
            </a:extLst>
          </p:cNvPr>
          <p:cNvSpPr>
            <a:spLocks xmlns:a="http://schemas.openxmlformats.org/drawingml/2006/main" noGrp="1"/>
          </p:cNvSpPr>
          <p:nvPr/>
        </p:nvSpPr>
        <p:spPr>
          <a:xfrm xmlns:a="http://schemas.openxmlformats.org/drawingml/2006/main">
            <a:off x="762000" y="17145000"/>
            <a:ext cx="13716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550" b="1">
                <a:solidFill>
                  <a:srgbClr val="4B606D"/>
                </a:solidFill>
                <a:latin typeface="Arial"/>
                <a:ea typeface="Arial"/>
                <a:cs typeface="Arial"/>
              </a:defRPr>
            </a:defPPr>
          </a:lstStyle>
          <a:p xmlns:a="http://schemas.openxmlformats.org/drawingml/2006/main">
            <a:pPr>
              <a:defRPr sz="2550" b="1">
                <a:solidFill>
                  <a:srgbClr val="4B606D"/>
                </a:solidFill>
                <a:latin typeface="Arial"/>
                <a:ea typeface="Arial"/>
                <a:cs typeface="Arial"/>
              </a:defRPr>
            </a:pPr>
            <a:r>
              <a:rPr sz="2550" b="1">
                <a:solidFill>
                  <a:srgbClr val="4B606D"/>
                </a:solidFill>
                <a:latin typeface="Arial"/>
                <a:ea typeface="Arial"/>
                <a:cs typeface="Arial"/>
              </a:rPr>
              <a:t>Structure inspection, explicit sequence trimming and host codon conversion use the configured tools. External prediction needs its own resource setup. A disabled tool is not evidence of a completed calculation.</a:t>
            </a:r>
          </a:p>
        </p:txBody>
      </p:sp>
    </p:spTree>
    <p:extLst>
      <p:ext uri="{BB962C8B-B14F-4D97-AF65-F5344CB8AC3E}">
        <p14:creationId xmlns:p14="http://schemas.microsoft.com/office/powerpoint/2010/main" val="1099204879"/>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48504DD-4AB8-4449-9C84-A4A369C8642C}"/>
              </a:ext>
            </a:extLst>
          </p:cNvPr>
          <p:cNvSpPr>
            <a:spLocks xmlns:a="http://schemas.openxmlformats.org/drawingml/2006/main" noGrp="1"/>
          </p:cNvSpPr>
          <p:nvPr/>
        </p:nvSpPr>
        <p:spPr>
          <a:xfrm xmlns:a="http://schemas.openxmlformats.org/drawingml/2006/main">
            <a:off x="762000" y="361950"/>
            <a:ext cx="13239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725" b="1">
                <a:solidFill>
                  <a:srgbClr val="4B606D"/>
                </a:solidFill>
                <a:latin typeface="Arial"/>
                <a:ea typeface="Arial"/>
                <a:cs typeface="Arial"/>
              </a:defRPr>
            </a:defPPr>
          </a:lstStyle>
          <a:p xmlns:a="http://schemas.openxmlformats.org/drawingml/2006/main">
            <a:pPr>
              <a:defRPr sz="1725" b="1">
                <a:solidFill>
                  <a:srgbClr val="4B606D"/>
                </a:solidFill>
                <a:latin typeface="Arial"/>
                <a:ea typeface="Arial"/>
                <a:cs typeface="Arial"/>
              </a:defRPr>
            </a:pPr>
            <a:r>
              <a:rPr sz="1725" b="1">
                <a:solidFill>
                  <a:srgbClr val="4B606D"/>
                </a:solidFill>
                <a:latin typeface="Arial"/>
                <a:ea typeface="Arial"/>
                <a:cs typeface="Arial"/>
              </a:rPr>
              <a:t>ENZORA  /  USER GUIDE</a:t>
            </a:r>
          </a:p>
        </p:txBody>
      </p:sp>
      <p:sp>
        <p:nvSpPr>
          <p:cNvPr id="2" name="">
            <a:extLst xmlns:a="http://schemas.openxmlformats.org/drawingml/2006/main">
              <a:ext uri="{FF2B5EF4-FFF2-40B4-BE49-F238E27FC236}">
                <a16:creationId xmlns:a16="http://schemas.microsoft.com/office/drawing/2014/main" id="{B464EE6D-3689-4166-B4C5-652BE5F41EEA}"/>
              </a:ext>
            </a:extLst>
          </p:cNvPr>
          <p:cNvSpPr>
            <a:spLocks xmlns:a="http://schemas.openxmlformats.org/drawingml/2006/main" noGrp="1"/>
          </p:cNvSpPr>
          <p:nvPr/>
        </p:nvSpPr>
        <p:spPr>
          <a:xfrm xmlns:a="http://schemas.openxmlformats.org/drawingml/2006/main">
            <a:off x="762000" y="952500"/>
            <a:ext cx="13716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4875" b="1">
                <a:solidFill>
                  <a:srgbClr val="20333D"/>
                </a:solidFill>
                <a:latin typeface="Arial"/>
                <a:ea typeface="Arial"/>
                <a:cs typeface="Arial"/>
              </a:defRPr>
            </a:defPPr>
          </a:lstStyle>
          <a:p xmlns:a="http://schemas.openxmlformats.org/drawingml/2006/main">
            <a:pPr>
              <a:defRPr sz="4875" b="1">
                <a:solidFill>
                  <a:srgbClr val="20333D"/>
                </a:solidFill>
                <a:latin typeface="Arial"/>
                <a:ea typeface="Arial"/>
                <a:cs typeface="Arial"/>
              </a:defRPr>
            </a:pPr>
            <a:r>
              <a:rPr sz="4875" b="1">
                <a:solidFill>
                  <a:srgbClr val="20333D"/>
                </a:solidFill>
                <a:latin typeface="Arial"/>
                <a:ea typeface="Arial"/>
                <a:cs typeface="Arial"/>
              </a:rPr>
              <a:t>14. Local setup commands</a:t>
            </a:r>
          </a:p>
        </p:txBody>
      </p:sp>
      <p:sp>
        <p:nvSpPr>
          <p:cNvPr id="3" name="">
            <a:extLst xmlns:a="http://schemas.openxmlformats.org/drawingml/2006/main">
              <a:ext uri="{FF2B5EF4-FFF2-40B4-BE49-F238E27FC236}">
                <a16:creationId xmlns:a16="http://schemas.microsoft.com/office/drawing/2014/main" id="{4F1070B2-02E8-4012-8F94-D45A01AB61CD}"/>
              </a:ext>
            </a:extLst>
          </p:cNvPr>
          <p:cNvSpPr>
            <a:spLocks xmlns:a="http://schemas.openxmlformats.org/drawingml/2006/main" noGrp="1"/>
          </p:cNvSpPr>
          <p:nvPr/>
        </p:nvSpPr>
        <p:spPr>
          <a:xfrm xmlns:a="http://schemas.openxmlformats.org/drawingml/2006/main">
            <a:off x="762000" y="2524125"/>
            <a:ext cx="13716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550" b="1">
                <a:solidFill>
                  <a:srgbClr val="4B606D"/>
                </a:solidFill>
                <a:latin typeface="Arial"/>
                <a:ea typeface="Arial"/>
                <a:cs typeface="Arial"/>
              </a:defRPr>
            </a:defPPr>
          </a:lstStyle>
          <a:p xmlns:a="http://schemas.openxmlformats.org/drawingml/2006/main">
            <a:pPr>
              <a:defRPr sz="2550" b="1">
                <a:solidFill>
                  <a:srgbClr val="4B606D"/>
                </a:solidFill>
                <a:latin typeface="Arial"/>
                <a:ea typeface="Arial"/>
                <a:cs typeface="Arial"/>
              </a:defRPr>
            </a:pPr>
            <a:r>
              <a:rPr sz="2550" b="1">
                <a:solidFill>
                  <a:srgbClr val="4B606D"/>
                </a:solidFill>
                <a:latin typeface="Arial"/>
                <a:ea typeface="Arial"/>
                <a:cs typeface="Arial"/>
              </a:rPr>
              <a:t>Run commands from the repository root</a:t>
            </a:r>
          </a:p>
        </p:txBody>
      </p:sp>
      <p:sp>
        <p:nvSpPr>
          <p:cNvPr id="4" name="">
            <a:extLst xmlns:a="http://schemas.openxmlformats.org/drawingml/2006/main">
              <a:ext uri="{FF2B5EF4-FFF2-40B4-BE49-F238E27FC236}">
                <a16:creationId xmlns:a16="http://schemas.microsoft.com/office/drawing/2014/main" id="{D93C2BB7-681B-4717-B5B4-FFE286886B77}"/>
              </a:ext>
            </a:extLst>
          </p:cNvPr>
          <p:cNvSpPr>
            <a:spLocks xmlns:a="http://schemas.openxmlformats.org/drawingml/2006/main" noGrp="1"/>
          </p:cNvSpPr>
          <p:nvPr/>
        </p:nvSpPr>
        <p:spPr>
          <a:xfrm xmlns:a="http://schemas.openxmlformats.org/drawingml/2006/main">
            <a:off x="762000" y="19240500"/>
            <a:ext cx="1238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650" b="1">
                <a:solidFill>
                  <a:srgbClr val="4B606D"/>
                </a:solidFill>
                <a:latin typeface="Arial"/>
                <a:ea typeface="Arial"/>
                <a:cs typeface="Arial"/>
              </a:defRPr>
            </a:defPPr>
          </a:lstStyle>
          <a:p xmlns:a="http://schemas.openxmlformats.org/drawingml/2006/main">
            <a:pPr>
              <a:defRPr sz="1650" b="1">
                <a:solidFill>
                  <a:srgbClr val="4B606D"/>
                </a:solidFill>
                <a:latin typeface="Arial"/>
                <a:ea typeface="Arial"/>
                <a:cs typeface="Arial"/>
              </a:defRPr>
            </a:pPr>
            <a:r>
              <a:rPr sz="1650" b="1">
                <a:solidFill>
                  <a:srgbClr val="4B606D"/>
                </a:solidFill>
                <a:latin typeface="Arial"/>
                <a:ea typeface="Arial"/>
                <a:cs typeface="Arial"/>
              </a:rPr>
              <a:t>Enzora web platform • 16 October 2026</a:t>
            </a:r>
          </a:p>
        </p:txBody>
      </p:sp>
      <p:sp>
        <p:nvSpPr>
          <p:cNvPr id="5" name="">
            <a:extLst xmlns:a="http://schemas.openxmlformats.org/drawingml/2006/main">
              <a:ext uri="{FF2B5EF4-FFF2-40B4-BE49-F238E27FC236}">
                <a16:creationId xmlns:a16="http://schemas.microsoft.com/office/drawing/2014/main" id="{3CFFC085-3426-4D9D-9966-2858DE581209}"/>
              </a:ext>
            </a:extLst>
          </p:cNvPr>
          <p:cNvSpPr>
            <a:spLocks xmlns:a="http://schemas.openxmlformats.org/drawingml/2006/main" noGrp="1"/>
          </p:cNvSpPr>
          <p:nvPr/>
        </p:nvSpPr>
        <p:spPr>
          <a:xfrm xmlns:a="http://schemas.openxmlformats.org/drawingml/2006/main">
            <a:off x="13811250" y="19240500"/>
            <a:ext cx="762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00" b="1">
                <a:solidFill>
                  <a:srgbClr val="4B606D"/>
                </a:solidFill>
                <a:latin typeface="Arial"/>
                <a:ea typeface="Arial"/>
                <a:cs typeface="Arial"/>
              </a:defRPr>
            </a:defPPr>
          </a:lstStyle>
          <a:p xmlns:a="http://schemas.openxmlformats.org/drawingml/2006/main">
            <a:pPr>
              <a:defRPr sz="1800" b="1">
                <a:solidFill>
                  <a:srgbClr val="4B606D"/>
                </a:solidFill>
                <a:latin typeface="Arial"/>
                <a:ea typeface="Arial"/>
                <a:cs typeface="Arial"/>
              </a:defRPr>
            </a:pPr>
            <a:r>
              <a:rPr sz="1800" b="1">
                <a:solidFill>
                  <a:srgbClr val="4B606D"/>
                </a:solidFill>
                <a:latin typeface="Arial"/>
                <a:ea typeface="Arial"/>
                <a:cs typeface="Arial"/>
              </a:rPr>
              <a:t>15</a:t>
            </a:r>
          </a:p>
        </p:txBody>
      </p:sp>
      <p:sp>
        <p:nvSpPr>
          <p:cNvPr id="6" name="">
            <a:extLst xmlns:a="http://schemas.openxmlformats.org/drawingml/2006/main">
              <a:ext uri="{FF2B5EF4-FFF2-40B4-BE49-F238E27FC236}">
                <a16:creationId xmlns:a16="http://schemas.microsoft.com/office/drawing/2014/main" id="{428210BB-E129-4B3A-BC3A-30EA0BB38DE0}"/>
              </a:ext>
            </a:extLst>
          </p:cNvPr>
          <p:cNvSpPr>
            <a:spLocks xmlns:a="http://schemas.openxmlformats.org/drawingml/2006/main" noGrp="1"/>
          </p:cNvSpPr>
          <p:nvPr/>
        </p:nvSpPr>
        <p:spPr>
          <a:xfrm xmlns:a="http://schemas.openxmlformats.org/drawingml/2006/main">
            <a:off x="762000" y="4095750"/>
            <a:ext cx="13716000" cy="552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325" b="1">
                <a:solidFill>
                  <a:srgbClr val="20333D"/>
                </a:solidFill>
                <a:latin typeface="Arial"/>
                <a:ea typeface="Arial"/>
                <a:cs typeface="Arial"/>
              </a:defRPr>
            </a:defPPr>
          </a:lstStyle>
          <a:p xmlns:a="http://schemas.openxmlformats.org/drawingml/2006/main">
            <a:pPr>
              <a:defRPr sz="2325" b="1">
                <a:solidFill>
                  <a:srgbClr val="20333D"/>
                </a:solidFill>
                <a:latin typeface="Arial"/>
                <a:ea typeface="Arial"/>
                <a:cs typeface="Arial"/>
              </a:defRPr>
            </a:pPr>
            <a:r>
              <a:rPr sz="2325" b="1">
                <a:solidFill>
                  <a:srgbClr val="20333D"/>
                </a:solidFill>
                <a:latin typeface="Arial"/>
                <a:ea typeface="Arial"/>
                <a:cs typeface="Arial"/>
              </a:rPr>
              <a:t>git clone https://github.com/YuzhangLi2281/Enzora.git</a:t>
            </a:r>
          </a:p>
          <a:p xmlns:a="http://schemas.openxmlformats.org/drawingml/2006/main">
            <a:pPr>
              <a:defRPr sz="2325" b="1">
                <a:solidFill>
                  <a:srgbClr val="20333D"/>
                </a:solidFill>
                <a:latin typeface="Arial"/>
                <a:ea typeface="Arial"/>
                <a:cs typeface="Arial"/>
              </a:defRPr>
            </a:pPr>
            <a:r>
              <a:rPr sz="2325" b="1">
                <a:solidFill>
                  <a:srgbClr val="20333D"/>
                </a:solidFill>
                <a:latin typeface="Arial"/>
                <a:ea typeface="Arial"/>
                <a:cs typeface="Arial"/>
              </a:rPr>
              <a:t>cd Enzora</a:t>
            </a:r>
          </a:p>
          <a:p xmlns:a="http://schemas.openxmlformats.org/drawingml/2006/main">
            <a:pPr>
              <a:defRPr sz="2325" b="1">
                <a:solidFill>
                  <a:srgbClr val="20333D"/>
                </a:solidFill>
                <a:latin typeface="Arial"/>
                <a:ea typeface="Arial"/>
                <a:cs typeface="Arial"/>
              </a:defRPr>
            </a:pPr>
            <a:r>
              <a:rPr sz="2325" b="1">
                <a:solidFill>
                  <a:srgbClr val="20333D"/>
                </a:solidFill>
                <a:latin typeface="Arial"/>
                <a:ea typeface="Arial"/>
                <a:cs typeface="Arial"/>
              </a:rPr>
              <a:t>python3 -m venv .venv</a:t>
            </a:r>
          </a:p>
          <a:p xmlns:a="http://schemas.openxmlformats.org/drawingml/2006/main">
            <a:pPr>
              <a:defRPr sz="2325" b="1">
                <a:solidFill>
                  <a:srgbClr val="20333D"/>
                </a:solidFill>
                <a:latin typeface="Arial"/>
                <a:ea typeface="Arial"/>
                <a:cs typeface="Arial"/>
              </a:defRPr>
            </a:pPr>
            <a:r>
              <a:rPr sz="2325" b="1">
                <a:solidFill>
                  <a:srgbClr val="20333D"/>
                </a:solidFill>
                <a:latin typeface="Arial"/>
                <a:ea typeface="Arial"/>
                <a:cs typeface="Arial"/>
              </a:rPr>
              <a:t>source .venv/bin/activate</a:t>
            </a:r>
          </a:p>
          <a:p xmlns:a="http://schemas.openxmlformats.org/drawingml/2006/main">
            <a:pPr>
              <a:defRPr sz="2325" b="1">
                <a:solidFill>
                  <a:srgbClr val="20333D"/>
                </a:solidFill>
                <a:latin typeface="Arial"/>
                <a:ea typeface="Arial"/>
                <a:cs typeface="Arial"/>
              </a:defRPr>
            </a:pPr>
            <a:r>
              <a:rPr sz="2325" b="1">
                <a:solidFill>
                  <a:srgbClr val="20333D"/>
                </a:solidFill>
                <a:latin typeface="Arial"/>
                <a:ea typeface="Arial"/>
                <a:cs typeface="Arial"/>
              </a:rPr>
              <a:t>pip install -r src/Enzora_Software_Webs/utils/server/requirements.txt</a:t>
            </a:r>
          </a:p>
          <a:p xmlns:a="http://schemas.openxmlformats.org/drawingml/2006/main">
            <a:pPr>
              <a:defRPr sz="2325" b="1">
                <a:solidFill>
                  <a:srgbClr val="20333D"/>
                </a:solidFill>
                <a:latin typeface="Arial"/>
                <a:ea typeface="Arial"/>
                <a:cs typeface="Arial"/>
              </a:defRPr>
            </a:pPr>
            <a:r>
              <a:rPr sz="2325" b="1">
                <a:solidFill>
                  <a:srgbClr val="20333D"/>
                </a:solidFill>
                <a:latin typeface="Arial"/>
                <a:ea typeface="Arial"/>
                <a:cs typeface="Arial"/>
              </a:rPr>
              <a:t>npm --prefix src/Enzora_Software_Webs/web ci</a:t>
            </a:r>
          </a:p>
        </p:txBody>
      </p:sp>
      <p:sp>
        <p:nvSpPr>
          <p:cNvPr id="7" name="">
            <a:extLst xmlns:a="http://schemas.openxmlformats.org/drawingml/2006/main">
              <a:ext uri="{FF2B5EF4-FFF2-40B4-BE49-F238E27FC236}">
                <a16:creationId xmlns:a16="http://schemas.microsoft.com/office/drawing/2014/main" id="{312B2AE4-287C-4370-8E80-D7F5632B7636}"/>
              </a:ext>
            </a:extLst>
          </p:cNvPr>
          <p:cNvSpPr>
            <a:spLocks xmlns:a="http://schemas.openxmlformats.org/drawingml/2006/main" noGrp="1"/>
          </p:cNvSpPr>
          <p:nvPr/>
        </p:nvSpPr>
        <p:spPr>
          <a:xfrm xmlns:a="http://schemas.openxmlformats.org/drawingml/2006/main">
            <a:off x="762000" y="10287000"/>
            <a:ext cx="13716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925" b="1">
                <a:solidFill>
                  <a:srgbClr val="20333D"/>
                </a:solidFill>
                <a:latin typeface="Arial"/>
                <a:ea typeface="Arial"/>
                <a:cs typeface="Arial"/>
              </a:defRPr>
            </a:defPPr>
          </a:lstStyle>
          <a:p xmlns:a="http://schemas.openxmlformats.org/drawingml/2006/main">
            <a:pPr>
              <a:defRPr sz="2925" b="1">
                <a:solidFill>
                  <a:srgbClr val="20333D"/>
                </a:solidFill>
                <a:latin typeface="Arial"/>
                <a:ea typeface="Arial"/>
                <a:cs typeface="Arial"/>
              </a:defRPr>
            </a:pPr>
            <a:r>
              <a:rPr sz="2925" b="1">
                <a:solidFill>
                  <a:srgbClr val="20333D"/>
                </a:solidFill>
                <a:latin typeface="Arial"/>
                <a:ea typeface="Arial"/>
                <a:cs typeface="Arial"/>
              </a:rPr>
              <a:t>Configure resources before launching</a:t>
            </a:r>
          </a:p>
        </p:txBody>
      </p:sp>
      <p:sp>
        <p:nvSpPr>
          <p:cNvPr id="8" name="">
            <a:extLst xmlns:a="http://schemas.openxmlformats.org/drawingml/2006/main">
              <a:ext uri="{FF2B5EF4-FFF2-40B4-BE49-F238E27FC236}">
                <a16:creationId xmlns:a16="http://schemas.microsoft.com/office/drawing/2014/main" id="{FBEB4DF5-7DE0-436B-828D-C333921C650F}"/>
              </a:ext>
            </a:extLst>
          </p:cNvPr>
          <p:cNvSpPr>
            <a:spLocks xmlns:a="http://schemas.openxmlformats.org/drawingml/2006/main" noGrp="1"/>
          </p:cNvSpPr>
          <p:nvPr/>
        </p:nvSpPr>
        <p:spPr>
          <a:xfrm xmlns:a="http://schemas.openxmlformats.org/drawingml/2006/main">
            <a:off x="762000" y="10953750"/>
            <a:ext cx="13716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550" b="1">
                <a:solidFill>
                  <a:srgbClr val="4B606D"/>
                </a:solidFill>
                <a:latin typeface="Arial"/>
                <a:ea typeface="Arial"/>
                <a:cs typeface="Arial"/>
              </a:defRPr>
            </a:defPPr>
          </a:lstStyle>
          <a:p xmlns:a="http://schemas.openxmlformats.org/drawingml/2006/main">
            <a:pPr>
              <a:defRPr sz="2550" b="1">
                <a:solidFill>
                  <a:srgbClr val="4B606D"/>
                </a:solidFill>
                <a:latin typeface="Arial"/>
                <a:ea typeface="Arial"/>
                <a:cs typeface="Arial"/>
              </a:defRPr>
            </a:pPr>
            <a:r>
              <a:rPr sz="2550" b="1">
                <a:solidFill>
                  <a:srgbClr val="4B606D"/>
                </a:solidFill>
                <a:latin typeface="Arial"/>
                <a:ea typeface="Arial"/>
                <a:cs typeface="Arial"/>
              </a:rPr>
              <a:t>Edit config/server.yaml and config/mutation.yaml. Set model interpreters, repositories and weight paths. Configure MiniMax privately and run the path checks before submitting a real task.</a:t>
            </a:r>
          </a:p>
        </p:txBody>
      </p:sp>
      <p:sp>
        <p:nvSpPr>
          <p:cNvPr id="9" name="">
            <a:extLst xmlns:a="http://schemas.openxmlformats.org/drawingml/2006/main">
              <a:ext uri="{FF2B5EF4-FFF2-40B4-BE49-F238E27FC236}">
                <a16:creationId xmlns:a16="http://schemas.microsoft.com/office/drawing/2014/main" id="{03ABA151-4441-4C6F-8B6D-EF45662A498F}"/>
              </a:ext>
            </a:extLst>
          </p:cNvPr>
          <p:cNvSpPr>
            <a:spLocks xmlns:a="http://schemas.openxmlformats.org/drawingml/2006/main" noGrp="1"/>
          </p:cNvSpPr>
          <p:nvPr/>
        </p:nvSpPr>
        <p:spPr>
          <a:xfrm xmlns:a="http://schemas.openxmlformats.org/drawingml/2006/main">
            <a:off x="762000" y="13239750"/>
            <a:ext cx="13716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850" b="1">
                <a:solidFill>
                  <a:srgbClr val="20333D"/>
                </a:solidFill>
                <a:latin typeface="Arial"/>
                <a:ea typeface="Arial"/>
                <a:cs typeface="Arial"/>
              </a:defRPr>
            </a:defPPr>
          </a:lstStyle>
          <a:p xmlns:a="http://schemas.openxmlformats.org/drawingml/2006/main">
            <a:pPr>
              <a:defRPr sz="2850" b="1">
                <a:solidFill>
                  <a:srgbClr val="20333D"/>
                </a:solidFill>
                <a:latin typeface="Arial"/>
                <a:ea typeface="Arial"/>
                <a:cs typeface="Arial"/>
              </a:defRPr>
            </a:pPr>
            <a:r>
              <a:rPr sz="2850" b="1">
                <a:solidFill>
                  <a:srgbClr val="20333D"/>
                </a:solidFill>
                <a:latin typeface="Arial"/>
                <a:ea typeface="Arial"/>
                <a:cs typeface="Arial"/>
              </a:rPr>
              <a:t>API terminal</a:t>
            </a:r>
          </a:p>
        </p:txBody>
      </p:sp>
      <p:sp>
        <p:nvSpPr>
          <p:cNvPr id="10" name="">
            <a:extLst xmlns:a="http://schemas.openxmlformats.org/drawingml/2006/main">
              <a:ext uri="{FF2B5EF4-FFF2-40B4-BE49-F238E27FC236}">
                <a16:creationId xmlns:a16="http://schemas.microsoft.com/office/drawing/2014/main" id="{312E55D4-7563-4ABE-8200-6685478EB5E9}"/>
              </a:ext>
            </a:extLst>
          </p:cNvPr>
          <p:cNvSpPr>
            <a:spLocks xmlns:a="http://schemas.openxmlformats.org/drawingml/2006/main" noGrp="1"/>
          </p:cNvSpPr>
          <p:nvPr/>
        </p:nvSpPr>
        <p:spPr>
          <a:xfrm xmlns:a="http://schemas.openxmlformats.org/drawingml/2006/main">
            <a:off x="762000" y="14001750"/>
            <a:ext cx="137160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325" b="1">
                <a:solidFill>
                  <a:srgbClr val="20333D"/>
                </a:solidFill>
                <a:latin typeface="Arial"/>
                <a:ea typeface="Arial"/>
                <a:cs typeface="Arial"/>
              </a:defRPr>
            </a:defPPr>
          </a:lstStyle>
          <a:p xmlns:a="http://schemas.openxmlformats.org/drawingml/2006/main">
            <a:pPr>
              <a:defRPr sz="2325" b="1">
                <a:solidFill>
                  <a:srgbClr val="20333D"/>
                </a:solidFill>
                <a:latin typeface="Arial"/>
                <a:ea typeface="Arial"/>
                <a:cs typeface="Arial"/>
              </a:defRPr>
            </a:pPr>
            <a:r>
              <a:rPr sz="2325" b="1">
                <a:solidFill>
                  <a:srgbClr val="20333D"/>
                </a:solidFill>
                <a:latin typeface="Arial"/>
                <a:ea typeface="Arial"/>
                <a:cs typeface="Arial"/>
              </a:rPr>
              <a:t>python src/Enzora_Software_Webs/utils/server/run.py \</a:t>
            </a:r>
          </a:p>
          <a:p xmlns:a="http://schemas.openxmlformats.org/drawingml/2006/main">
            <a:pPr>
              <a:defRPr sz="2325" b="1">
                <a:solidFill>
                  <a:srgbClr val="20333D"/>
                </a:solidFill>
                <a:latin typeface="Arial"/>
                <a:ea typeface="Arial"/>
                <a:cs typeface="Arial"/>
              </a:defRPr>
            </a:pPr>
            <a:r>
              <a:rPr sz="2325" b="1">
                <a:solidFill>
                  <a:srgbClr val="20333D"/>
                </a:solidFill>
                <a:latin typeface="Arial"/>
                <a:ea typeface="Arial"/>
                <a:cs typeface="Arial"/>
              </a:rPr>
              <a:t>  --host 127.0.0.1 --port 8000</a:t>
            </a:r>
          </a:p>
        </p:txBody>
      </p:sp>
      <p:sp>
        <p:nvSpPr>
          <p:cNvPr id="11" name="">
            <a:extLst xmlns:a="http://schemas.openxmlformats.org/drawingml/2006/main">
              <a:ext uri="{FF2B5EF4-FFF2-40B4-BE49-F238E27FC236}">
                <a16:creationId xmlns:a16="http://schemas.microsoft.com/office/drawing/2014/main" id="{88145F2C-C822-43ED-8BF0-67E0BE8EACA3}"/>
              </a:ext>
            </a:extLst>
          </p:cNvPr>
          <p:cNvSpPr>
            <a:spLocks xmlns:a="http://schemas.openxmlformats.org/drawingml/2006/main" noGrp="1"/>
          </p:cNvSpPr>
          <p:nvPr/>
        </p:nvSpPr>
        <p:spPr>
          <a:xfrm xmlns:a="http://schemas.openxmlformats.org/drawingml/2006/main">
            <a:off x="762000" y="16002000"/>
            <a:ext cx="13716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850" b="1">
                <a:solidFill>
                  <a:srgbClr val="20333D"/>
                </a:solidFill>
                <a:latin typeface="Arial"/>
                <a:ea typeface="Arial"/>
                <a:cs typeface="Arial"/>
              </a:defRPr>
            </a:defPPr>
          </a:lstStyle>
          <a:p xmlns:a="http://schemas.openxmlformats.org/drawingml/2006/main">
            <a:pPr>
              <a:defRPr sz="2850" b="1">
                <a:solidFill>
                  <a:srgbClr val="20333D"/>
                </a:solidFill>
                <a:latin typeface="Arial"/>
                <a:ea typeface="Arial"/>
                <a:cs typeface="Arial"/>
              </a:defRPr>
            </a:pPr>
            <a:r>
              <a:rPr sz="2850" b="1">
                <a:solidFill>
                  <a:srgbClr val="20333D"/>
                </a:solidFill>
                <a:latin typeface="Arial"/>
                <a:ea typeface="Arial"/>
                <a:cs typeface="Arial"/>
              </a:rPr>
              <a:t>Frontend terminal</a:t>
            </a:r>
          </a:p>
        </p:txBody>
      </p:sp>
      <p:sp>
        <p:nvSpPr>
          <p:cNvPr id="12" name="">
            <a:extLst xmlns:a="http://schemas.openxmlformats.org/drawingml/2006/main">
              <a:ext uri="{FF2B5EF4-FFF2-40B4-BE49-F238E27FC236}">
                <a16:creationId xmlns:a16="http://schemas.microsoft.com/office/drawing/2014/main" id="{E2D368C9-7E41-43E8-8BD6-F710740C02A9}"/>
              </a:ext>
            </a:extLst>
          </p:cNvPr>
          <p:cNvSpPr>
            <a:spLocks xmlns:a="http://schemas.openxmlformats.org/drawingml/2006/main" noGrp="1"/>
          </p:cNvSpPr>
          <p:nvPr/>
        </p:nvSpPr>
        <p:spPr>
          <a:xfrm xmlns:a="http://schemas.openxmlformats.org/drawingml/2006/main">
            <a:off x="762000" y="16764000"/>
            <a:ext cx="137160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325" b="1">
                <a:solidFill>
                  <a:srgbClr val="20333D"/>
                </a:solidFill>
                <a:latin typeface="Arial"/>
                <a:ea typeface="Arial"/>
                <a:cs typeface="Arial"/>
              </a:defRPr>
            </a:defPPr>
          </a:lstStyle>
          <a:p xmlns:a="http://schemas.openxmlformats.org/drawingml/2006/main">
            <a:pPr>
              <a:defRPr sz="2325" b="1">
                <a:solidFill>
                  <a:srgbClr val="20333D"/>
                </a:solidFill>
                <a:latin typeface="Arial"/>
                <a:ea typeface="Arial"/>
                <a:cs typeface="Arial"/>
              </a:defRPr>
            </a:pPr>
            <a:r>
              <a:rPr sz="2325" b="1">
                <a:solidFill>
                  <a:srgbClr val="20333D"/>
                </a:solidFill>
                <a:latin typeface="Arial"/>
                <a:ea typeface="Arial"/>
                <a:cs typeface="Arial"/>
              </a:rPr>
              <a:t>VITE_PROXY_TARGET=http://127.0.0.1:8000 \</a:t>
            </a:r>
          </a:p>
          <a:p xmlns:a="http://schemas.openxmlformats.org/drawingml/2006/main">
            <a:pPr>
              <a:defRPr sz="2325" b="1">
                <a:solidFill>
                  <a:srgbClr val="20333D"/>
                </a:solidFill>
                <a:latin typeface="Arial"/>
                <a:ea typeface="Arial"/>
                <a:cs typeface="Arial"/>
              </a:defRPr>
            </a:pPr>
            <a:r>
              <a:rPr sz="2325" b="1">
                <a:solidFill>
                  <a:srgbClr val="20333D"/>
                </a:solidFill>
                <a:latin typeface="Arial"/>
                <a:ea typeface="Arial"/>
                <a:cs typeface="Arial"/>
              </a:rPr>
              <a:t>  npm --prefix src/Enzora_Software_Webs/web run dev</a:t>
            </a:r>
          </a:p>
        </p:txBody>
      </p:sp>
    </p:spTree>
    <p:extLst>
      <p:ext uri="{BB962C8B-B14F-4D97-AF65-F5344CB8AC3E}">
        <p14:creationId xmlns:p14="http://schemas.microsoft.com/office/powerpoint/2010/main" val="1229511265"/>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E3DA8B0-A308-43D1-837A-C839BC174AC1}"/>
              </a:ext>
            </a:extLst>
          </p:cNvPr>
          <p:cNvSpPr>
            <a:spLocks xmlns:a="http://schemas.openxmlformats.org/drawingml/2006/main" noGrp="1"/>
          </p:cNvSpPr>
          <p:nvPr/>
        </p:nvSpPr>
        <p:spPr>
          <a:xfrm xmlns:a="http://schemas.openxmlformats.org/drawingml/2006/main">
            <a:off x="762000" y="361950"/>
            <a:ext cx="13239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725" b="1">
                <a:solidFill>
                  <a:srgbClr val="4B606D"/>
                </a:solidFill>
                <a:latin typeface="Arial"/>
                <a:ea typeface="Arial"/>
                <a:cs typeface="Arial"/>
              </a:defRPr>
            </a:defPPr>
          </a:lstStyle>
          <a:p xmlns:a="http://schemas.openxmlformats.org/drawingml/2006/main">
            <a:pPr>
              <a:defRPr sz="1725" b="1">
                <a:solidFill>
                  <a:srgbClr val="4B606D"/>
                </a:solidFill>
                <a:latin typeface="Arial"/>
                <a:ea typeface="Arial"/>
                <a:cs typeface="Arial"/>
              </a:defRPr>
            </a:pPr>
            <a:r>
              <a:rPr sz="1725" b="1">
                <a:solidFill>
                  <a:srgbClr val="4B606D"/>
                </a:solidFill>
                <a:latin typeface="Arial"/>
                <a:ea typeface="Arial"/>
                <a:cs typeface="Arial"/>
              </a:rPr>
              <a:t>ENZORA  /  USER GUIDE</a:t>
            </a:r>
          </a:p>
        </p:txBody>
      </p:sp>
      <p:sp>
        <p:nvSpPr>
          <p:cNvPr id="2" name="">
            <a:extLst xmlns:a="http://schemas.openxmlformats.org/drawingml/2006/main">
              <a:ext uri="{FF2B5EF4-FFF2-40B4-BE49-F238E27FC236}">
                <a16:creationId xmlns:a16="http://schemas.microsoft.com/office/drawing/2014/main" id="{0DB732EA-6AB6-4BFA-954F-1368F81F89CE}"/>
              </a:ext>
            </a:extLst>
          </p:cNvPr>
          <p:cNvSpPr>
            <a:spLocks xmlns:a="http://schemas.openxmlformats.org/drawingml/2006/main" noGrp="1"/>
          </p:cNvSpPr>
          <p:nvPr/>
        </p:nvSpPr>
        <p:spPr>
          <a:xfrm xmlns:a="http://schemas.openxmlformats.org/drawingml/2006/main">
            <a:off x="762000" y="952500"/>
            <a:ext cx="13716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4875" b="1">
                <a:solidFill>
                  <a:srgbClr val="20333D"/>
                </a:solidFill>
                <a:latin typeface="Arial"/>
                <a:ea typeface="Arial"/>
                <a:cs typeface="Arial"/>
              </a:defRPr>
            </a:defPPr>
          </a:lstStyle>
          <a:p xmlns:a="http://schemas.openxmlformats.org/drawingml/2006/main">
            <a:pPr>
              <a:defRPr sz="4875" b="1">
                <a:solidFill>
                  <a:srgbClr val="20333D"/>
                </a:solidFill>
                <a:latin typeface="Arial"/>
                <a:ea typeface="Arial"/>
                <a:cs typeface="Arial"/>
              </a:defRPr>
            </a:pPr>
            <a:r>
              <a:rPr sz="4875" b="1">
                <a:solidFill>
                  <a:srgbClr val="20333D"/>
                </a:solidFill>
                <a:latin typeface="Arial"/>
                <a:ea typeface="Arial"/>
                <a:cs typeface="Arial"/>
              </a:rPr>
              <a:t>14. Local deployment and resources</a:t>
            </a:r>
          </a:p>
        </p:txBody>
      </p:sp>
      <p:sp>
        <p:nvSpPr>
          <p:cNvPr id="3" name="">
            <a:extLst xmlns:a="http://schemas.openxmlformats.org/drawingml/2006/main">
              <a:ext uri="{FF2B5EF4-FFF2-40B4-BE49-F238E27FC236}">
                <a16:creationId xmlns:a16="http://schemas.microsoft.com/office/drawing/2014/main" id="{8666CC0B-A786-4C0F-8174-7747855D6BED}"/>
              </a:ext>
            </a:extLst>
          </p:cNvPr>
          <p:cNvSpPr>
            <a:spLocks xmlns:a="http://schemas.openxmlformats.org/drawingml/2006/main" noGrp="1"/>
          </p:cNvSpPr>
          <p:nvPr/>
        </p:nvSpPr>
        <p:spPr>
          <a:xfrm xmlns:a="http://schemas.openxmlformats.org/drawingml/2006/main">
            <a:off x="762000" y="2524125"/>
            <a:ext cx="13716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550" b="1">
                <a:solidFill>
                  <a:srgbClr val="4B606D"/>
                </a:solidFill>
                <a:latin typeface="Arial"/>
                <a:ea typeface="Arial"/>
                <a:cs typeface="Arial"/>
              </a:defRPr>
            </a:defPPr>
          </a:lstStyle>
          <a:p xmlns:a="http://schemas.openxmlformats.org/drawingml/2006/main">
            <a:pPr>
              <a:defRPr sz="2550" b="1">
                <a:solidFill>
                  <a:srgbClr val="4B606D"/>
                </a:solidFill>
                <a:latin typeface="Arial"/>
                <a:ea typeface="Arial"/>
                <a:cs typeface="Arial"/>
              </a:defRPr>
            </a:pPr>
            <a:r>
              <a:rPr sz="2550" b="1">
                <a:solidFill>
                  <a:srgbClr val="4B606D"/>
                </a:solidFill>
                <a:latin typeface="Arial"/>
                <a:ea typeface="Arial"/>
                <a:cs typeface="Arial"/>
              </a:rPr>
              <a:t>For administrators and developers</a:t>
            </a:r>
          </a:p>
        </p:txBody>
      </p:sp>
      <p:sp>
        <p:nvSpPr>
          <p:cNvPr id="4" name="">
            <a:extLst xmlns:a="http://schemas.openxmlformats.org/drawingml/2006/main">
              <a:ext uri="{FF2B5EF4-FFF2-40B4-BE49-F238E27FC236}">
                <a16:creationId xmlns:a16="http://schemas.microsoft.com/office/drawing/2014/main" id="{2FC3B4F1-0E3D-4C7A-BE1D-DF221B6A47A6}"/>
              </a:ext>
            </a:extLst>
          </p:cNvPr>
          <p:cNvSpPr>
            <a:spLocks xmlns:a="http://schemas.openxmlformats.org/drawingml/2006/main" noGrp="1"/>
          </p:cNvSpPr>
          <p:nvPr/>
        </p:nvSpPr>
        <p:spPr>
          <a:xfrm xmlns:a="http://schemas.openxmlformats.org/drawingml/2006/main">
            <a:off x="762000" y="19240500"/>
            <a:ext cx="1238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650" b="1">
                <a:solidFill>
                  <a:srgbClr val="4B606D"/>
                </a:solidFill>
                <a:latin typeface="Arial"/>
                <a:ea typeface="Arial"/>
                <a:cs typeface="Arial"/>
              </a:defRPr>
            </a:defPPr>
          </a:lstStyle>
          <a:p xmlns:a="http://schemas.openxmlformats.org/drawingml/2006/main">
            <a:pPr>
              <a:defRPr sz="1650" b="1">
                <a:solidFill>
                  <a:srgbClr val="4B606D"/>
                </a:solidFill>
                <a:latin typeface="Arial"/>
                <a:ea typeface="Arial"/>
                <a:cs typeface="Arial"/>
              </a:defRPr>
            </a:pPr>
            <a:r>
              <a:rPr sz="1650" b="1">
                <a:solidFill>
                  <a:srgbClr val="4B606D"/>
                </a:solidFill>
                <a:latin typeface="Arial"/>
                <a:ea typeface="Arial"/>
                <a:cs typeface="Arial"/>
              </a:rPr>
              <a:t>Enzora web platform • 16 October 2026</a:t>
            </a:r>
          </a:p>
        </p:txBody>
      </p:sp>
      <p:sp>
        <p:nvSpPr>
          <p:cNvPr id="5" name="">
            <a:extLst xmlns:a="http://schemas.openxmlformats.org/drawingml/2006/main">
              <a:ext uri="{FF2B5EF4-FFF2-40B4-BE49-F238E27FC236}">
                <a16:creationId xmlns:a16="http://schemas.microsoft.com/office/drawing/2014/main" id="{4B61E852-6477-495A-B20F-CE6174F2A6C7}"/>
              </a:ext>
            </a:extLst>
          </p:cNvPr>
          <p:cNvSpPr>
            <a:spLocks xmlns:a="http://schemas.openxmlformats.org/drawingml/2006/main" noGrp="1"/>
          </p:cNvSpPr>
          <p:nvPr/>
        </p:nvSpPr>
        <p:spPr>
          <a:xfrm xmlns:a="http://schemas.openxmlformats.org/drawingml/2006/main">
            <a:off x="13811250" y="19240500"/>
            <a:ext cx="762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00" b="1">
                <a:solidFill>
                  <a:srgbClr val="4B606D"/>
                </a:solidFill>
                <a:latin typeface="Arial"/>
                <a:ea typeface="Arial"/>
                <a:cs typeface="Arial"/>
              </a:defRPr>
            </a:defPPr>
          </a:lstStyle>
          <a:p xmlns:a="http://schemas.openxmlformats.org/drawingml/2006/main">
            <a:pPr>
              <a:defRPr sz="1800" b="1">
                <a:solidFill>
                  <a:srgbClr val="4B606D"/>
                </a:solidFill>
                <a:latin typeface="Arial"/>
                <a:ea typeface="Arial"/>
                <a:cs typeface="Arial"/>
              </a:defRPr>
            </a:pPr>
            <a:r>
              <a:rPr sz="1800" b="1">
                <a:solidFill>
                  <a:srgbClr val="4B606D"/>
                </a:solidFill>
                <a:latin typeface="Arial"/>
                <a:ea typeface="Arial"/>
                <a:cs typeface="Arial"/>
              </a:rPr>
              <a:t>16</a:t>
            </a:r>
          </a:p>
        </p:txBody>
      </p:sp>
      <p:sp>
        <p:nvSpPr>
          <p:cNvPr id="6" name="">
            <a:extLst xmlns:a="http://schemas.openxmlformats.org/drawingml/2006/main">
              <a:ext uri="{FF2B5EF4-FFF2-40B4-BE49-F238E27FC236}">
                <a16:creationId xmlns:a16="http://schemas.microsoft.com/office/drawing/2014/main" id="{1C95667C-6273-4FF0-AC6F-958065042C59}"/>
              </a:ext>
            </a:extLst>
          </p:cNvPr>
          <p:cNvSpPr>
            <a:spLocks xmlns:a="http://schemas.openxmlformats.org/drawingml/2006/main" noGrp="1"/>
          </p:cNvSpPr>
          <p:nvPr/>
        </p:nvSpPr>
        <p:spPr>
          <a:xfrm xmlns:a="http://schemas.openxmlformats.org/drawingml/2006/main">
            <a:off x="762000" y="4048125"/>
            <a:ext cx="13716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925" b="1">
                <a:solidFill>
                  <a:srgbClr val="20333D"/>
                </a:solidFill>
                <a:latin typeface="Arial"/>
                <a:ea typeface="Arial"/>
                <a:cs typeface="Arial"/>
              </a:defRPr>
            </a:defPPr>
          </a:lstStyle>
          <a:p xmlns:a="http://schemas.openxmlformats.org/drawingml/2006/main">
            <a:pPr>
              <a:defRPr sz="2925" b="1">
                <a:solidFill>
                  <a:srgbClr val="20333D"/>
                </a:solidFill>
                <a:latin typeface="Arial"/>
                <a:ea typeface="Arial"/>
                <a:cs typeface="Arial"/>
              </a:defRPr>
            </a:pPr>
            <a:r>
              <a:rPr sz="2925" b="1">
                <a:solidFill>
                  <a:srgbClr val="20333D"/>
                </a:solidFill>
                <a:latin typeface="Arial"/>
                <a:ea typeface="Arial"/>
                <a:cs typeface="Arial"/>
              </a:rPr>
              <a:t>Code and model environments</a:t>
            </a:r>
          </a:p>
        </p:txBody>
      </p:sp>
      <p:sp>
        <p:nvSpPr>
          <p:cNvPr id="7" name="">
            <a:extLst xmlns:a="http://schemas.openxmlformats.org/drawingml/2006/main">
              <a:ext uri="{FF2B5EF4-FFF2-40B4-BE49-F238E27FC236}">
                <a16:creationId xmlns:a16="http://schemas.microsoft.com/office/drawing/2014/main" id="{8E5AA1CC-B213-47FA-B913-F0C7D6E2C176}"/>
              </a:ext>
            </a:extLst>
          </p:cNvPr>
          <p:cNvSpPr>
            <a:spLocks xmlns:a="http://schemas.openxmlformats.org/drawingml/2006/main" noGrp="1"/>
          </p:cNvSpPr>
          <p:nvPr/>
        </p:nvSpPr>
        <p:spPr>
          <a:xfrm xmlns:a="http://schemas.openxmlformats.org/drawingml/2006/main">
            <a:off x="762000" y="4714875"/>
            <a:ext cx="13716000" cy="1866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550" b="1">
                <a:solidFill>
                  <a:srgbClr val="4B606D"/>
                </a:solidFill>
                <a:latin typeface="Arial"/>
                <a:ea typeface="Arial"/>
                <a:cs typeface="Arial"/>
              </a:defRPr>
            </a:defPPr>
          </a:lstStyle>
          <a:p xmlns:a="http://schemas.openxmlformats.org/drawingml/2006/main">
            <a:pPr>
              <a:defRPr sz="2550" b="1">
                <a:solidFill>
                  <a:srgbClr val="4B606D"/>
                </a:solidFill>
                <a:latin typeface="Arial"/>
                <a:ea typeface="Arial"/>
                <a:cs typeface="Arial"/>
              </a:defRPr>
            </a:pPr>
            <a:r>
              <a:rPr sz="2550" b="1">
                <a:solidFill>
                  <a:srgbClr val="4B606D"/>
                </a:solidFill>
                <a:latin typeface="Arial"/>
                <a:ea typeface="Arial"/>
                <a:cs typeface="Arial"/>
              </a:rPr>
              <a:t>Clone the Enzora repository and install its API/web dependencies. Follow each model’s environment requirements. Phenom inference also requires its checkpoint, ESMC and MolT5 resources. Enzora does not distribute all model weights.</a:t>
            </a:r>
          </a:p>
        </p:txBody>
      </p:sp>
      <p:sp>
        <p:nvSpPr>
          <p:cNvPr id="8" name="">
            <a:extLst xmlns:a="http://schemas.openxmlformats.org/drawingml/2006/main">
              <a:ext uri="{FF2B5EF4-FFF2-40B4-BE49-F238E27FC236}">
                <a16:creationId xmlns:a16="http://schemas.microsoft.com/office/drawing/2014/main" id="{C77BC0B6-9652-4270-B204-C120639C07EA}"/>
              </a:ext>
            </a:extLst>
          </p:cNvPr>
          <p:cNvSpPr>
            <a:spLocks xmlns:a="http://schemas.openxmlformats.org/drawingml/2006/main" noGrp="1"/>
          </p:cNvSpPr>
          <p:nvPr/>
        </p:nvSpPr>
        <p:spPr>
          <a:xfrm xmlns:a="http://schemas.openxmlformats.org/drawingml/2006/main">
            <a:off x="762000" y="7334250"/>
            <a:ext cx="13716000" cy="3238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550" b="1">
                <a:solidFill>
                  <a:srgbClr val="20333D"/>
                </a:solidFill>
                <a:latin typeface="Arial"/>
                <a:ea typeface="Arial"/>
                <a:cs typeface="Arial"/>
              </a:defRPr>
            </a:defPPr>
          </a:lstStyle>
          <a:p xmlns:a="http://schemas.openxmlformats.org/drawingml/2006/main">
            <a:pPr>
              <a:defRPr sz="2550" b="1">
                <a:solidFill>
                  <a:srgbClr val="20333D"/>
                </a:solidFill>
                <a:latin typeface="Arial"/>
                <a:ea typeface="Arial"/>
                <a:cs typeface="Arial"/>
              </a:defRPr>
            </a:pPr>
            <a:r>
              <a:rPr sz="2550" b="1">
                <a:solidFill>
                  <a:srgbClr val="20333D"/>
                </a:solidFill>
                <a:latin typeface="Arial"/>
                <a:ea typeface="Arial"/>
                <a:cs typeface="Arial"/>
              </a:rPr>
              <a:t>Configuration entry points</a:t>
            </a:r>
          </a:p>
          <a:p xmlns:a="http://schemas.openxmlformats.org/drawingml/2006/main">
            <a:pPr>
              <a:defRPr sz="2550" b="1">
                <a:solidFill>
                  <a:srgbClr val="20333D"/>
                </a:solidFill>
                <a:latin typeface="Arial"/>
                <a:ea typeface="Arial"/>
                <a:cs typeface="Arial"/>
              </a:defRPr>
            </a:pPr>
            <a:r>
              <a:rPr sz="2550" b="1">
                <a:solidFill>
                  <a:srgbClr val="20333D"/>
                </a:solidFill>
                <a:latin typeface="Arial"/>
                <a:ea typeface="Arial"/>
                <a:cs typeface="Arial"/>
              </a:rPr>
              <a:t>config/server.yaml</a:t>
            </a:r>
          </a:p>
          <a:p xmlns:a="http://schemas.openxmlformats.org/drawingml/2006/main">
            <a:pPr>
              <a:defRPr sz="2550" b="1">
                <a:solidFill>
                  <a:srgbClr val="20333D"/>
                </a:solidFill>
                <a:latin typeface="Arial"/>
                <a:ea typeface="Arial"/>
                <a:cs typeface="Arial"/>
              </a:defRPr>
            </a:pPr>
            <a:r>
              <a:rPr sz="2550" b="1">
                <a:solidFill>
                  <a:srgbClr val="20333D"/>
                </a:solidFill>
                <a:latin typeface="Arial"/>
                <a:ea typeface="Arial"/>
                <a:cs typeface="Arial"/>
              </a:rPr>
              <a:t>config/mutation.yaml</a:t>
            </a:r>
          </a:p>
          <a:p xmlns:a="http://schemas.openxmlformats.org/drawingml/2006/main">
            <a:pPr>
              <a:defRPr sz="2550" b="1">
                <a:solidFill>
                  <a:srgbClr val="20333D"/>
                </a:solidFill>
                <a:latin typeface="Arial"/>
                <a:ea typeface="Arial"/>
                <a:cs typeface="Arial"/>
              </a:defRPr>
            </a:pPr>
            <a:r>
              <a:rPr sz="2550" b="1">
                <a:solidFill>
                  <a:srgbClr val="20333D"/>
                </a:solidFill>
                <a:latin typeface="Arial"/>
                <a:ea typeface="Arial"/>
                <a:cs typeface="Arial"/>
              </a:rPr>
              <a:t>config/request.example.yaml</a:t>
            </a:r>
          </a:p>
          <a:p xmlns:a="http://schemas.openxmlformats.org/drawingml/2006/main">
            <a:r>
              <a:t/>
            </a:r>
          </a:p>
          <a:p xmlns:a="http://schemas.openxmlformats.org/drawingml/2006/main">
            <a:pPr>
              <a:defRPr sz="2550" b="1">
                <a:solidFill>
                  <a:srgbClr val="20333D"/>
                </a:solidFill>
                <a:latin typeface="Arial"/>
                <a:ea typeface="Arial"/>
                <a:cs typeface="Arial"/>
              </a:defRPr>
            </a:pPr>
            <a:r>
              <a:rPr sz="2550" b="1">
                <a:solidFill>
                  <a:srgbClr val="20333D"/>
                </a:solidFill>
                <a:latin typeface="Arial"/>
                <a:ea typeface="Arial"/>
                <a:cs typeface="Arial"/>
              </a:rPr>
              <a:t>Provider: MiniMax-M2.5</a:t>
            </a:r>
          </a:p>
          <a:p xmlns:a="http://schemas.openxmlformats.org/drawingml/2006/main">
            <a:pPr>
              <a:defRPr sz="2550" b="1">
                <a:solidFill>
                  <a:srgbClr val="20333D"/>
                </a:solidFill>
                <a:latin typeface="Arial"/>
                <a:ea typeface="Arial"/>
                <a:cs typeface="Arial"/>
              </a:defRPr>
            </a:pPr>
            <a:r>
              <a:rPr sz="2550" b="1">
                <a:solidFill>
                  <a:srgbClr val="20333D"/>
                </a:solidFill>
                <a:latin typeface="Arial"/>
                <a:ea typeface="Arial"/>
                <a:cs typeface="Arial"/>
              </a:rPr>
              <a:t>Base URL: https://api.minimax.cn/v1</a:t>
            </a:r>
          </a:p>
        </p:txBody>
      </p:sp>
      <p:sp>
        <p:nvSpPr>
          <p:cNvPr id="9" name="">
            <a:extLst xmlns:a="http://schemas.openxmlformats.org/drawingml/2006/main">
              <a:ext uri="{FF2B5EF4-FFF2-40B4-BE49-F238E27FC236}">
                <a16:creationId xmlns:a16="http://schemas.microsoft.com/office/drawing/2014/main" id="{B05B9E1F-E7A0-4004-82D3-3CCE5C36F4B3}"/>
              </a:ext>
            </a:extLst>
          </p:cNvPr>
          <p:cNvSpPr>
            <a:spLocks xmlns:a="http://schemas.openxmlformats.org/drawingml/2006/main" noGrp="1"/>
          </p:cNvSpPr>
          <p:nvPr/>
        </p:nvSpPr>
        <p:spPr>
          <a:xfrm xmlns:a="http://schemas.openxmlformats.org/drawingml/2006/main">
            <a:off x="762000" y="11430000"/>
            <a:ext cx="13716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925" b="1">
                <a:solidFill>
                  <a:srgbClr val="20333D"/>
                </a:solidFill>
                <a:latin typeface="Arial"/>
                <a:ea typeface="Arial"/>
                <a:cs typeface="Arial"/>
              </a:defRPr>
            </a:defPPr>
          </a:lstStyle>
          <a:p xmlns:a="http://schemas.openxmlformats.org/drawingml/2006/main">
            <a:pPr>
              <a:defRPr sz="2925" b="1">
                <a:solidFill>
                  <a:srgbClr val="20333D"/>
                </a:solidFill>
                <a:latin typeface="Arial"/>
                <a:ea typeface="Arial"/>
                <a:cs typeface="Arial"/>
              </a:defRPr>
            </a:pPr>
            <a:r>
              <a:rPr sz="2925" b="1">
                <a:solidFill>
                  <a:srgbClr val="20333D"/>
                </a:solidFill>
                <a:latin typeface="Arial"/>
                <a:ea typeface="Arial"/>
                <a:cs typeface="Arial"/>
              </a:rPr>
              <a:t>Private credentials</a:t>
            </a:r>
          </a:p>
        </p:txBody>
      </p:sp>
      <p:sp>
        <p:nvSpPr>
          <p:cNvPr id="10" name="">
            <a:extLst xmlns:a="http://schemas.openxmlformats.org/drawingml/2006/main">
              <a:ext uri="{FF2B5EF4-FFF2-40B4-BE49-F238E27FC236}">
                <a16:creationId xmlns:a16="http://schemas.microsoft.com/office/drawing/2014/main" id="{BBFB3862-BED5-4332-880E-44C0B32B4397}"/>
              </a:ext>
            </a:extLst>
          </p:cNvPr>
          <p:cNvSpPr>
            <a:spLocks xmlns:a="http://schemas.openxmlformats.org/drawingml/2006/main" noGrp="1"/>
          </p:cNvSpPr>
          <p:nvPr/>
        </p:nvSpPr>
        <p:spPr>
          <a:xfrm xmlns:a="http://schemas.openxmlformats.org/drawingml/2006/main">
            <a:off x="762000" y="12096750"/>
            <a:ext cx="13716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550" b="1">
                <a:solidFill>
                  <a:srgbClr val="4B606D"/>
                </a:solidFill>
                <a:latin typeface="Arial"/>
                <a:ea typeface="Arial"/>
                <a:cs typeface="Arial"/>
              </a:defRPr>
            </a:defPPr>
          </a:lstStyle>
          <a:p xmlns:a="http://schemas.openxmlformats.org/drawingml/2006/main">
            <a:pPr>
              <a:defRPr sz="2550" b="1">
                <a:solidFill>
                  <a:srgbClr val="4B606D"/>
                </a:solidFill>
                <a:latin typeface="Arial"/>
                <a:ea typeface="Arial"/>
                <a:cs typeface="Arial"/>
              </a:defRPr>
            </a:pPr>
            <a:r>
              <a:rPr sz="2550" b="1">
                <a:solidFill>
                  <a:srgbClr val="4B606D"/>
                </a:solidFill>
                <a:latin typeface="Arial"/>
                <a:ea typeface="Arial"/>
                <a:cs typeface="Arial"/>
              </a:rPr>
              <a:t>Keep MINIMAX_API_KEY and the workspace access token in the server’s private environment/configuration. Never embed them in config.js, frontend code, screenshots or public repository history.</a:t>
            </a:r>
          </a:p>
        </p:txBody>
      </p:sp>
      <p:sp>
        <p:nvSpPr>
          <p:cNvPr id="11" name="">
            <a:extLst xmlns:a="http://schemas.openxmlformats.org/drawingml/2006/main">
              <a:ext uri="{FF2B5EF4-FFF2-40B4-BE49-F238E27FC236}">
                <a16:creationId xmlns:a16="http://schemas.microsoft.com/office/drawing/2014/main" id="{A1D640AD-9EFE-47BC-9CF1-1348B483644E}"/>
              </a:ext>
            </a:extLst>
          </p:cNvPr>
          <p:cNvSpPr>
            <a:spLocks xmlns:a="http://schemas.openxmlformats.org/drawingml/2006/main" noGrp="1"/>
          </p:cNvSpPr>
          <p:nvPr/>
        </p:nvSpPr>
        <p:spPr>
          <a:xfrm xmlns:a="http://schemas.openxmlformats.org/drawingml/2006/main">
            <a:off x="762000" y="14573250"/>
            <a:ext cx="13716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925" b="1">
                <a:solidFill>
                  <a:srgbClr val="20333D"/>
                </a:solidFill>
                <a:latin typeface="Arial"/>
                <a:ea typeface="Arial"/>
                <a:cs typeface="Arial"/>
              </a:defRPr>
            </a:defPPr>
          </a:lstStyle>
          <a:p xmlns:a="http://schemas.openxmlformats.org/drawingml/2006/main">
            <a:pPr>
              <a:defRPr sz="2925" b="1">
                <a:solidFill>
                  <a:srgbClr val="20333D"/>
                </a:solidFill>
                <a:latin typeface="Arial"/>
                <a:ea typeface="Arial"/>
                <a:cs typeface="Arial"/>
              </a:defRPr>
            </a:pPr>
            <a:r>
              <a:rPr sz="2925" b="1">
                <a:solidFill>
                  <a:srgbClr val="20333D"/>
                </a:solidFill>
                <a:latin typeface="Arial"/>
                <a:ea typeface="Arial"/>
                <a:cs typeface="Arial"/>
              </a:rPr>
              <a:t>Execution and cache boundaries</a:t>
            </a:r>
          </a:p>
        </p:txBody>
      </p:sp>
      <p:sp>
        <p:nvSpPr>
          <p:cNvPr id="12" name="">
            <a:extLst xmlns:a="http://schemas.openxmlformats.org/drawingml/2006/main">
              <a:ext uri="{FF2B5EF4-FFF2-40B4-BE49-F238E27FC236}">
                <a16:creationId xmlns:a16="http://schemas.microsoft.com/office/drawing/2014/main" id="{C93E51FB-7269-4BD7-B7E5-1963DAE26122}"/>
              </a:ext>
            </a:extLst>
          </p:cNvPr>
          <p:cNvSpPr>
            <a:spLocks xmlns:a="http://schemas.openxmlformats.org/drawingml/2006/main" noGrp="1"/>
          </p:cNvSpPr>
          <p:nvPr/>
        </p:nvSpPr>
        <p:spPr>
          <a:xfrm xmlns:a="http://schemas.openxmlformats.org/drawingml/2006/main">
            <a:off x="762000" y="15240000"/>
            <a:ext cx="13716000" cy="1866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550" b="1">
                <a:solidFill>
                  <a:srgbClr val="4B606D"/>
                </a:solidFill>
                <a:latin typeface="Arial"/>
                <a:ea typeface="Arial"/>
                <a:cs typeface="Arial"/>
              </a:defRPr>
            </a:defPPr>
          </a:lstStyle>
          <a:p xmlns:a="http://schemas.openxmlformats.org/drawingml/2006/main">
            <a:pPr>
              <a:defRPr sz="2550" b="1">
                <a:solidFill>
                  <a:srgbClr val="4B606D"/>
                </a:solidFill>
                <a:latin typeface="Arial"/>
                <a:ea typeface="Arial"/>
                <a:cs typeface="Arial"/>
              </a:defRPr>
            </a:pPr>
            <a:r>
              <a:rPr sz="2550" b="1">
                <a:solidFill>
                  <a:srgbClr val="4B606D"/>
                </a:solidFill>
                <a:latin typeface="Arial"/>
                <a:ea typeface="Arial"/>
                <a:cs typeface="Arial"/>
              </a:rPr>
              <a:t>The API submits model jobs to the configured scheduler. Shared weights remain separate from per-run data. Success, failure and cancellation clear disposable graphs/logits while retaining predictions, reports and audit records.</a:t>
            </a:r>
          </a:p>
        </p:txBody>
      </p:sp>
    </p:spTree>
    <p:extLst>
      <p:ext uri="{BB962C8B-B14F-4D97-AF65-F5344CB8AC3E}">
        <p14:creationId xmlns:p14="http://schemas.microsoft.com/office/powerpoint/2010/main" val="1756105048"/>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04229F78-0BAD-4F8F-B6C2-407D3B7A0255}"/>
              </a:ext>
            </a:extLst>
          </p:cNvPr>
          <p:cNvSpPr>
            <a:spLocks xmlns:a="http://schemas.openxmlformats.org/drawingml/2006/main" noGrp="1"/>
          </p:cNvSpPr>
          <p:nvPr/>
        </p:nvSpPr>
        <p:spPr>
          <a:xfrm xmlns:a="http://schemas.openxmlformats.org/drawingml/2006/main">
            <a:off x="762000" y="361950"/>
            <a:ext cx="13239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725" b="1">
                <a:solidFill>
                  <a:srgbClr val="4B606D"/>
                </a:solidFill>
                <a:latin typeface="Arial"/>
                <a:ea typeface="Arial"/>
                <a:cs typeface="Arial"/>
              </a:defRPr>
            </a:defPPr>
          </a:lstStyle>
          <a:p xmlns:a="http://schemas.openxmlformats.org/drawingml/2006/main">
            <a:pPr>
              <a:defRPr sz="1725" b="1">
                <a:solidFill>
                  <a:srgbClr val="4B606D"/>
                </a:solidFill>
                <a:latin typeface="Arial"/>
                <a:ea typeface="Arial"/>
                <a:cs typeface="Arial"/>
              </a:defRPr>
            </a:pPr>
            <a:r>
              <a:rPr sz="1725" b="1">
                <a:solidFill>
                  <a:srgbClr val="4B606D"/>
                </a:solidFill>
                <a:latin typeface="Arial"/>
                <a:ea typeface="Arial"/>
                <a:cs typeface="Arial"/>
              </a:rPr>
              <a:t>ENZORA  /  USER GUIDE</a:t>
            </a:r>
          </a:p>
        </p:txBody>
      </p:sp>
      <p:sp>
        <p:nvSpPr>
          <p:cNvPr id="2" name="">
            <a:extLst xmlns:a="http://schemas.openxmlformats.org/drawingml/2006/main">
              <a:ext uri="{FF2B5EF4-FFF2-40B4-BE49-F238E27FC236}">
                <a16:creationId xmlns:a16="http://schemas.microsoft.com/office/drawing/2014/main" id="{6ABD0D1A-B9EB-4C42-A52C-5BDF6B10B736}"/>
              </a:ext>
            </a:extLst>
          </p:cNvPr>
          <p:cNvSpPr>
            <a:spLocks xmlns:a="http://schemas.openxmlformats.org/drawingml/2006/main" noGrp="1"/>
          </p:cNvSpPr>
          <p:nvPr/>
        </p:nvSpPr>
        <p:spPr>
          <a:xfrm xmlns:a="http://schemas.openxmlformats.org/drawingml/2006/main">
            <a:off x="762000" y="952500"/>
            <a:ext cx="13716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4875" b="1">
                <a:solidFill>
                  <a:srgbClr val="20333D"/>
                </a:solidFill>
                <a:latin typeface="Arial"/>
                <a:ea typeface="Arial"/>
                <a:cs typeface="Arial"/>
              </a:defRPr>
            </a:defPPr>
          </a:lstStyle>
          <a:p xmlns:a="http://schemas.openxmlformats.org/drawingml/2006/main">
            <a:pPr>
              <a:defRPr sz="4875" b="1">
                <a:solidFill>
                  <a:srgbClr val="20333D"/>
                </a:solidFill>
                <a:latin typeface="Arial"/>
                <a:ea typeface="Arial"/>
                <a:cs typeface="Arial"/>
              </a:defRPr>
            </a:pPr>
            <a:r>
              <a:rPr sz="4875" b="1">
                <a:solidFill>
                  <a:srgbClr val="20333D"/>
                </a:solidFill>
                <a:latin typeface="Arial"/>
                <a:ea typeface="Arial"/>
                <a:cs typeface="Arial"/>
              </a:rPr>
              <a:t>15. Recovery and interpretation checks</a:t>
            </a:r>
          </a:p>
        </p:txBody>
      </p:sp>
      <p:sp>
        <p:nvSpPr>
          <p:cNvPr id="3" name="">
            <a:extLst xmlns:a="http://schemas.openxmlformats.org/drawingml/2006/main">
              <a:ext uri="{FF2B5EF4-FFF2-40B4-BE49-F238E27FC236}">
                <a16:creationId xmlns:a16="http://schemas.microsoft.com/office/drawing/2014/main" id="{6464EE5D-A047-47EB-9C3E-184FDD0673A9}"/>
              </a:ext>
            </a:extLst>
          </p:cNvPr>
          <p:cNvSpPr>
            <a:spLocks xmlns:a="http://schemas.openxmlformats.org/drawingml/2006/main" noGrp="1"/>
          </p:cNvSpPr>
          <p:nvPr/>
        </p:nvSpPr>
        <p:spPr>
          <a:xfrm xmlns:a="http://schemas.openxmlformats.org/drawingml/2006/main">
            <a:off x="762000" y="2524125"/>
            <a:ext cx="13716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550" b="1">
                <a:solidFill>
                  <a:srgbClr val="4B606D"/>
                </a:solidFill>
                <a:latin typeface="Arial"/>
                <a:ea typeface="Arial"/>
                <a:cs typeface="Arial"/>
              </a:defRPr>
            </a:defPPr>
          </a:lstStyle>
          <a:p xmlns:a="http://schemas.openxmlformats.org/drawingml/2006/main">
            <a:pPr>
              <a:defRPr sz="2550" b="1">
                <a:solidFill>
                  <a:srgbClr val="4B606D"/>
                </a:solidFill>
                <a:latin typeface="Arial"/>
                <a:ea typeface="Arial"/>
                <a:cs typeface="Arial"/>
              </a:defRPr>
            </a:pPr>
            <a:r>
              <a:rPr sz="2550" b="1">
                <a:solidFill>
                  <a:srgbClr val="4B606D"/>
                </a:solidFill>
                <a:latin typeface="Arial"/>
                <a:ea typeface="Arial"/>
                <a:cs typeface="Arial"/>
              </a:rPr>
              <a:t>A completed interface action does not guarantee a completed model job</a:t>
            </a:r>
          </a:p>
        </p:txBody>
      </p:sp>
      <p:sp>
        <p:nvSpPr>
          <p:cNvPr id="4" name="">
            <a:extLst xmlns:a="http://schemas.openxmlformats.org/drawingml/2006/main">
              <a:ext uri="{FF2B5EF4-FFF2-40B4-BE49-F238E27FC236}">
                <a16:creationId xmlns:a16="http://schemas.microsoft.com/office/drawing/2014/main" id="{766979D0-F68F-4C7D-8261-CB1487BBAE4C}"/>
              </a:ext>
            </a:extLst>
          </p:cNvPr>
          <p:cNvSpPr>
            <a:spLocks xmlns:a="http://schemas.openxmlformats.org/drawingml/2006/main" noGrp="1"/>
          </p:cNvSpPr>
          <p:nvPr/>
        </p:nvSpPr>
        <p:spPr>
          <a:xfrm xmlns:a="http://schemas.openxmlformats.org/drawingml/2006/main">
            <a:off x="762000" y="19240500"/>
            <a:ext cx="1238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650" b="1">
                <a:solidFill>
                  <a:srgbClr val="4B606D"/>
                </a:solidFill>
                <a:latin typeface="Arial"/>
                <a:ea typeface="Arial"/>
                <a:cs typeface="Arial"/>
              </a:defRPr>
            </a:defPPr>
          </a:lstStyle>
          <a:p xmlns:a="http://schemas.openxmlformats.org/drawingml/2006/main">
            <a:pPr>
              <a:defRPr sz="1650" b="1">
                <a:solidFill>
                  <a:srgbClr val="4B606D"/>
                </a:solidFill>
                <a:latin typeface="Arial"/>
                <a:ea typeface="Arial"/>
                <a:cs typeface="Arial"/>
              </a:defRPr>
            </a:pPr>
            <a:r>
              <a:rPr sz="1650" b="1">
                <a:solidFill>
                  <a:srgbClr val="4B606D"/>
                </a:solidFill>
                <a:latin typeface="Arial"/>
                <a:ea typeface="Arial"/>
                <a:cs typeface="Arial"/>
              </a:rPr>
              <a:t>Enzora web platform • 16 October 2026</a:t>
            </a:r>
          </a:p>
        </p:txBody>
      </p:sp>
      <p:sp>
        <p:nvSpPr>
          <p:cNvPr id="5" name="">
            <a:extLst xmlns:a="http://schemas.openxmlformats.org/drawingml/2006/main">
              <a:ext uri="{FF2B5EF4-FFF2-40B4-BE49-F238E27FC236}">
                <a16:creationId xmlns:a16="http://schemas.microsoft.com/office/drawing/2014/main" id="{E5230D41-9C75-4142-A15B-BB006BBC924E}"/>
              </a:ext>
            </a:extLst>
          </p:cNvPr>
          <p:cNvSpPr>
            <a:spLocks xmlns:a="http://schemas.openxmlformats.org/drawingml/2006/main" noGrp="1"/>
          </p:cNvSpPr>
          <p:nvPr/>
        </p:nvSpPr>
        <p:spPr>
          <a:xfrm xmlns:a="http://schemas.openxmlformats.org/drawingml/2006/main">
            <a:off x="13811250" y="19240500"/>
            <a:ext cx="762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00" b="1">
                <a:solidFill>
                  <a:srgbClr val="4B606D"/>
                </a:solidFill>
                <a:latin typeface="Arial"/>
                <a:ea typeface="Arial"/>
                <a:cs typeface="Arial"/>
              </a:defRPr>
            </a:defPPr>
          </a:lstStyle>
          <a:p xmlns:a="http://schemas.openxmlformats.org/drawingml/2006/main">
            <a:pPr>
              <a:defRPr sz="1800" b="1">
                <a:solidFill>
                  <a:srgbClr val="4B606D"/>
                </a:solidFill>
                <a:latin typeface="Arial"/>
                <a:ea typeface="Arial"/>
                <a:cs typeface="Arial"/>
              </a:defRPr>
            </a:pPr>
            <a:r>
              <a:rPr sz="1800" b="1">
                <a:solidFill>
                  <a:srgbClr val="4B606D"/>
                </a:solidFill>
                <a:latin typeface="Arial"/>
                <a:ea typeface="Arial"/>
                <a:cs typeface="Arial"/>
              </a:rPr>
              <a:t>17</a:t>
            </a:r>
          </a:p>
        </p:txBody>
      </p:sp>
      <p:sp>
        <p:nvSpPr>
          <p:cNvPr id="6" name="">
            <a:extLst xmlns:a="http://schemas.openxmlformats.org/drawingml/2006/main">
              <a:ext uri="{FF2B5EF4-FFF2-40B4-BE49-F238E27FC236}">
                <a16:creationId xmlns:a16="http://schemas.microsoft.com/office/drawing/2014/main" id="{13C786F4-A616-4A38-9BB3-48691CDE7E13}"/>
              </a:ext>
            </a:extLst>
          </p:cNvPr>
          <p:cNvSpPr>
            <a:spLocks xmlns:a="http://schemas.openxmlformats.org/drawingml/2006/main" noGrp="1"/>
          </p:cNvSpPr>
          <p:nvPr/>
        </p:nvSpPr>
        <p:spPr>
          <a:xfrm xmlns:a="http://schemas.openxmlformats.org/drawingml/2006/main">
            <a:off x="762000" y="4095750"/>
            <a:ext cx="13716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850" b="1">
                <a:solidFill>
                  <a:srgbClr val="20333D"/>
                </a:solidFill>
                <a:latin typeface="Arial"/>
                <a:ea typeface="Arial"/>
                <a:cs typeface="Arial"/>
              </a:defRPr>
            </a:defPPr>
          </a:lstStyle>
          <a:p xmlns:a="http://schemas.openxmlformats.org/drawingml/2006/main">
            <a:pPr>
              <a:defRPr sz="2850" b="1">
                <a:solidFill>
                  <a:srgbClr val="20333D"/>
                </a:solidFill>
                <a:latin typeface="Arial"/>
                <a:ea typeface="Arial"/>
                <a:cs typeface="Arial"/>
              </a:defRPr>
            </a:pPr>
            <a:r>
              <a:rPr sz="2850" b="1">
                <a:solidFill>
                  <a:srgbClr val="20333D"/>
                </a:solidFill>
                <a:latin typeface="Arial"/>
                <a:ea typeface="Arial"/>
                <a:cs typeface="Arial"/>
              </a:rPr>
              <a:t>Login fails</a:t>
            </a:r>
          </a:p>
        </p:txBody>
      </p:sp>
      <p:sp>
        <p:nvSpPr>
          <p:cNvPr id="7" name="">
            <a:extLst xmlns:a="http://schemas.openxmlformats.org/drawingml/2006/main">
              <a:ext uri="{FF2B5EF4-FFF2-40B4-BE49-F238E27FC236}">
                <a16:creationId xmlns:a16="http://schemas.microsoft.com/office/drawing/2014/main" id="{066B2C86-ECA3-421E-9A4F-E4D57B4FF73F}"/>
              </a:ext>
            </a:extLst>
          </p:cNvPr>
          <p:cNvSpPr>
            <a:spLocks xmlns:a="http://schemas.openxmlformats.org/drawingml/2006/main" noGrp="1"/>
          </p:cNvSpPr>
          <p:nvPr/>
        </p:nvSpPr>
        <p:spPr>
          <a:xfrm xmlns:a="http://schemas.openxmlformats.org/drawingml/2006/main">
            <a:off x="762000" y="4714875"/>
            <a:ext cx="13716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475" b="1">
                <a:solidFill>
                  <a:srgbClr val="4B606D"/>
                </a:solidFill>
                <a:latin typeface="Arial"/>
                <a:ea typeface="Arial"/>
                <a:cs typeface="Arial"/>
              </a:defRPr>
            </a:defPPr>
          </a:lstStyle>
          <a:p xmlns:a="http://schemas.openxmlformats.org/drawingml/2006/main">
            <a:pPr>
              <a:defRPr sz="2475" b="1">
                <a:solidFill>
                  <a:srgbClr val="4B606D"/>
                </a:solidFill>
                <a:latin typeface="Arial"/>
                <a:ea typeface="Arial"/>
                <a:cs typeface="Arial"/>
              </a:defRPr>
            </a:pPr>
            <a:r>
              <a:rPr sz="2475" b="1">
                <a:solidFill>
                  <a:srgbClr val="4B606D"/>
                </a:solidFill>
                <a:latin typeface="Arial"/>
                <a:ea typeface="Arial"/>
                <a:cs typeface="Arial"/>
              </a:rPr>
              <a:t>Use the workspace access code, not the MiniMax provider key.</a:t>
            </a:r>
          </a:p>
        </p:txBody>
      </p:sp>
      <p:sp>
        <p:nvSpPr>
          <p:cNvPr id="8" name="">
            <a:extLst xmlns:a="http://schemas.openxmlformats.org/drawingml/2006/main">
              <a:ext uri="{FF2B5EF4-FFF2-40B4-BE49-F238E27FC236}">
                <a16:creationId xmlns:a16="http://schemas.microsoft.com/office/drawing/2014/main" id="{C337EC9B-AB75-4D4F-81A5-79C9D9476F13}"/>
              </a:ext>
            </a:extLst>
          </p:cNvPr>
          <p:cNvSpPr>
            <a:spLocks xmlns:a="http://schemas.openxmlformats.org/drawingml/2006/main" noGrp="1"/>
          </p:cNvSpPr>
          <p:nvPr/>
        </p:nvSpPr>
        <p:spPr>
          <a:xfrm xmlns:a="http://schemas.openxmlformats.org/drawingml/2006/main">
            <a:off x="762000" y="6067425"/>
            <a:ext cx="13716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850" b="1">
                <a:solidFill>
                  <a:srgbClr val="20333D"/>
                </a:solidFill>
                <a:latin typeface="Arial"/>
                <a:ea typeface="Arial"/>
                <a:cs typeface="Arial"/>
              </a:defRPr>
            </a:defPPr>
          </a:lstStyle>
          <a:p xmlns:a="http://schemas.openxmlformats.org/drawingml/2006/main">
            <a:pPr>
              <a:defRPr sz="2850" b="1">
                <a:solidFill>
                  <a:srgbClr val="20333D"/>
                </a:solidFill>
                <a:latin typeface="Arial"/>
                <a:ea typeface="Arial"/>
                <a:cs typeface="Arial"/>
              </a:defRPr>
            </a:pPr>
            <a:r>
              <a:rPr sz="2850" b="1">
                <a:solidFill>
                  <a:srgbClr val="20333D"/>
                </a:solidFill>
                <a:latin typeface="Arial"/>
                <a:ea typeface="Arial"/>
                <a:cs typeface="Arial"/>
              </a:rPr>
              <a:t>A job remains queued</a:t>
            </a:r>
          </a:p>
        </p:txBody>
      </p:sp>
      <p:sp>
        <p:nvSpPr>
          <p:cNvPr id="9" name="">
            <a:extLst xmlns:a="http://schemas.openxmlformats.org/drawingml/2006/main">
              <a:ext uri="{FF2B5EF4-FFF2-40B4-BE49-F238E27FC236}">
                <a16:creationId xmlns:a16="http://schemas.microsoft.com/office/drawing/2014/main" id="{DB78CF37-1865-45C6-BAEC-07998C8BC6CE}"/>
              </a:ext>
            </a:extLst>
          </p:cNvPr>
          <p:cNvSpPr>
            <a:spLocks xmlns:a="http://schemas.openxmlformats.org/drawingml/2006/main" noGrp="1"/>
          </p:cNvSpPr>
          <p:nvPr/>
        </p:nvSpPr>
        <p:spPr>
          <a:xfrm xmlns:a="http://schemas.openxmlformats.org/drawingml/2006/main">
            <a:off x="762000" y="6686550"/>
            <a:ext cx="13716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475" b="1">
                <a:solidFill>
                  <a:srgbClr val="4B606D"/>
                </a:solidFill>
                <a:latin typeface="Arial"/>
                <a:ea typeface="Arial"/>
                <a:cs typeface="Arial"/>
              </a:defRPr>
            </a:defPPr>
          </a:lstStyle>
          <a:p xmlns:a="http://schemas.openxmlformats.org/drawingml/2006/main">
            <a:pPr>
              <a:defRPr sz="2475" b="1">
                <a:solidFill>
                  <a:srgbClr val="4B606D"/>
                </a:solidFill>
                <a:latin typeface="Arial"/>
                <a:ea typeface="Arial"/>
                <a:cs typeface="Arial"/>
              </a:defRPr>
            </a:pPr>
            <a:r>
              <a:rPr sz="2475" b="1">
                <a:solidFill>
                  <a:srgbClr val="4B606D"/>
                </a:solidFill>
                <a:latin typeface="Arial"/>
                <a:ea typeface="Arial"/>
                <a:cs typeface="Arial"/>
              </a:rPr>
              <a:t>Check the job status. Repeated submissions do not accelerate the current allocation.</a:t>
            </a:r>
          </a:p>
        </p:txBody>
      </p:sp>
      <p:sp>
        <p:nvSpPr>
          <p:cNvPr id="10" name="">
            <a:extLst xmlns:a="http://schemas.openxmlformats.org/drawingml/2006/main">
              <a:ext uri="{FF2B5EF4-FFF2-40B4-BE49-F238E27FC236}">
                <a16:creationId xmlns:a16="http://schemas.microsoft.com/office/drawing/2014/main" id="{5FA904FA-61A3-49D7-A565-56C98B52DCD6}"/>
              </a:ext>
            </a:extLst>
          </p:cNvPr>
          <p:cNvSpPr>
            <a:spLocks xmlns:a="http://schemas.openxmlformats.org/drawingml/2006/main" noGrp="1"/>
          </p:cNvSpPr>
          <p:nvPr/>
        </p:nvSpPr>
        <p:spPr>
          <a:xfrm xmlns:a="http://schemas.openxmlformats.org/drawingml/2006/main">
            <a:off x="762000" y="8039100"/>
            <a:ext cx="13716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850" b="1">
                <a:solidFill>
                  <a:srgbClr val="20333D"/>
                </a:solidFill>
                <a:latin typeface="Arial"/>
                <a:ea typeface="Arial"/>
                <a:cs typeface="Arial"/>
              </a:defRPr>
            </a:defPPr>
          </a:lstStyle>
          <a:p xmlns:a="http://schemas.openxmlformats.org/drawingml/2006/main">
            <a:pPr>
              <a:defRPr sz="2850" b="1">
                <a:solidFill>
                  <a:srgbClr val="20333D"/>
                </a:solidFill>
                <a:latin typeface="Arial"/>
                <a:ea typeface="Arial"/>
                <a:cs typeface="Arial"/>
              </a:defRPr>
            </a:pPr>
            <a:r>
              <a:rPr sz="2850" b="1">
                <a:solidFill>
                  <a:srgbClr val="20333D"/>
                </a:solidFill>
                <a:latin typeface="Arial"/>
                <a:ea typeface="Arial"/>
                <a:cs typeface="Arial"/>
              </a:rPr>
              <a:t>A model fails</a:t>
            </a:r>
          </a:p>
        </p:txBody>
      </p:sp>
      <p:sp>
        <p:nvSpPr>
          <p:cNvPr id="11" name="">
            <a:extLst xmlns:a="http://schemas.openxmlformats.org/drawingml/2006/main">
              <a:ext uri="{FF2B5EF4-FFF2-40B4-BE49-F238E27FC236}">
                <a16:creationId xmlns:a16="http://schemas.microsoft.com/office/drawing/2014/main" id="{75358021-E1A1-4D4A-BE23-57AEBC6B6F75}"/>
              </a:ext>
            </a:extLst>
          </p:cNvPr>
          <p:cNvSpPr>
            <a:spLocks xmlns:a="http://schemas.openxmlformats.org/drawingml/2006/main" noGrp="1"/>
          </p:cNvSpPr>
          <p:nvPr/>
        </p:nvSpPr>
        <p:spPr>
          <a:xfrm xmlns:a="http://schemas.openxmlformats.org/drawingml/2006/main">
            <a:off x="762000" y="8658225"/>
            <a:ext cx="13716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475" b="1">
                <a:solidFill>
                  <a:srgbClr val="4B606D"/>
                </a:solidFill>
                <a:latin typeface="Arial"/>
                <a:ea typeface="Arial"/>
                <a:cs typeface="Arial"/>
              </a:defRPr>
            </a:defPPr>
          </a:lstStyle>
          <a:p xmlns:a="http://schemas.openxmlformats.org/drawingml/2006/main">
            <a:pPr>
              <a:defRPr sz="2475" b="1">
                <a:solidFill>
                  <a:srgbClr val="4B606D"/>
                </a:solidFill>
                <a:latin typeface="Arial"/>
                <a:ea typeface="Arial"/>
                <a:cs typeface="Arial"/>
              </a:defRPr>
            </a:pPr>
            <a:r>
              <a:rPr sz="2475" b="1">
                <a:solidFill>
                  <a:srgbClr val="4B606D"/>
                </a:solidFill>
                <a:latin typeface="Arial"/>
                <a:ea typeface="Arial"/>
                <a:cs typeface="Arial"/>
              </a:rPr>
              <a:t>Read the stage error and retained logs. Verify its environment, weights and input contract.</a:t>
            </a:r>
          </a:p>
        </p:txBody>
      </p:sp>
      <p:sp>
        <p:nvSpPr>
          <p:cNvPr id="12" name="">
            <a:extLst xmlns:a="http://schemas.openxmlformats.org/drawingml/2006/main">
              <a:ext uri="{FF2B5EF4-FFF2-40B4-BE49-F238E27FC236}">
                <a16:creationId xmlns:a16="http://schemas.microsoft.com/office/drawing/2014/main" id="{A87E44A5-E974-4D98-B876-3DCB94522A99}"/>
              </a:ext>
            </a:extLst>
          </p:cNvPr>
          <p:cNvSpPr>
            <a:spLocks xmlns:a="http://schemas.openxmlformats.org/drawingml/2006/main" noGrp="1"/>
          </p:cNvSpPr>
          <p:nvPr/>
        </p:nvSpPr>
        <p:spPr>
          <a:xfrm xmlns:a="http://schemas.openxmlformats.org/drawingml/2006/main">
            <a:off x="762000" y="10010775"/>
            <a:ext cx="13716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850" b="1">
                <a:solidFill>
                  <a:srgbClr val="20333D"/>
                </a:solidFill>
                <a:latin typeface="Arial"/>
                <a:ea typeface="Arial"/>
                <a:cs typeface="Arial"/>
              </a:defRPr>
            </a:defPPr>
          </a:lstStyle>
          <a:p xmlns:a="http://schemas.openxmlformats.org/drawingml/2006/main">
            <a:pPr>
              <a:defRPr sz="2850" b="1">
                <a:solidFill>
                  <a:srgbClr val="20333D"/>
                </a:solidFill>
                <a:latin typeface="Arial"/>
                <a:ea typeface="Arial"/>
                <a:cs typeface="Arial"/>
              </a:defRPr>
            </a:pPr>
            <a:r>
              <a:rPr sz="2850" b="1">
                <a:solidFill>
                  <a:srgbClr val="20333D"/>
                </a:solidFill>
                <a:latin typeface="Arial"/>
                <a:ea typeface="Arial"/>
                <a:cs typeface="Arial"/>
              </a:rPr>
              <a:t>The Assistant takes time</a:t>
            </a:r>
          </a:p>
        </p:txBody>
      </p:sp>
      <p:sp>
        <p:nvSpPr>
          <p:cNvPr id="13" name="">
            <a:extLst xmlns:a="http://schemas.openxmlformats.org/drawingml/2006/main">
              <a:ext uri="{FF2B5EF4-FFF2-40B4-BE49-F238E27FC236}">
                <a16:creationId xmlns:a16="http://schemas.microsoft.com/office/drawing/2014/main" id="{DC161519-255D-4D31-BB26-CC14A5E83F46}"/>
              </a:ext>
            </a:extLst>
          </p:cNvPr>
          <p:cNvSpPr>
            <a:spLocks xmlns:a="http://schemas.openxmlformats.org/drawingml/2006/main" noGrp="1"/>
          </p:cNvSpPr>
          <p:nvPr/>
        </p:nvSpPr>
        <p:spPr>
          <a:xfrm xmlns:a="http://schemas.openxmlformats.org/drawingml/2006/main">
            <a:off x="762000" y="10629900"/>
            <a:ext cx="13716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475" b="1">
                <a:solidFill>
                  <a:srgbClr val="4B606D"/>
                </a:solidFill>
                <a:latin typeface="Arial"/>
                <a:ea typeface="Arial"/>
                <a:cs typeface="Arial"/>
              </a:defRPr>
            </a:defPPr>
          </a:lstStyle>
          <a:p xmlns:a="http://schemas.openxmlformats.org/drawingml/2006/main">
            <a:pPr>
              <a:defRPr sz="2475" b="1">
                <a:solidFill>
                  <a:srgbClr val="4B606D"/>
                </a:solidFill>
                <a:latin typeface="Arial"/>
                <a:ea typeface="Arial"/>
                <a:cs typeface="Arial"/>
              </a:defRPr>
            </a:pPr>
            <a:r>
              <a:rPr sz="2475" b="1">
                <a:solidFill>
                  <a:srgbClr val="4B606D"/>
                </a:solidFill>
                <a:latin typeface="Arial"/>
                <a:ea typeface="Arial"/>
                <a:cs typeface="Arial"/>
              </a:rPr>
              <a:t>Watch actual tool progress. Network/provider delays can outlast a scientific tool call.</a:t>
            </a:r>
          </a:p>
        </p:txBody>
      </p:sp>
      <p:sp>
        <p:nvSpPr>
          <p:cNvPr id="14" name="">
            <a:extLst xmlns:a="http://schemas.openxmlformats.org/drawingml/2006/main">
              <a:ext uri="{FF2B5EF4-FFF2-40B4-BE49-F238E27FC236}">
                <a16:creationId xmlns:a16="http://schemas.microsoft.com/office/drawing/2014/main" id="{715AF2CD-E0A1-4045-B2E3-D02534336B04}"/>
              </a:ext>
            </a:extLst>
          </p:cNvPr>
          <p:cNvSpPr>
            <a:spLocks xmlns:a="http://schemas.openxmlformats.org/drawingml/2006/main" noGrp="1"/>
          </p:cNvSpPr>
          <p:nvPr/>
        </p:nvSpPr>
        <p:spPr>
          <a:xfrm xmlns:a="http://schemas.openxmlformats.org/drawingml/2006/main">
            <a:off x="762000" y="11982450"/>
            <a:ext cx="13716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850" b="1">
                <a:solidFill>
                  <a:srgbClr val="20333D"/>
                </a:solidFill>
                <a:latin typeface="Arial"/>
                <a:ea typeface="Arial"/>
                <a:cs typeface="Arial"/>
              </a:defRPr>
            </a:defPPr>
          </a:lstStyle>
          <a:p xmlns:a="http://schemas.openxmlformats.org/drawingml/2006/main">
            <a:pPr>
              <a:defRPr sz="2850" b="1">
                <a:solidFill>
                  <a:srgbClr val="20333D"/>
                </a:solidFill>
                <a:latin typeface="Arial"/>
                <a:ea typeface="Arial"/>
                <a:cs typeface="Arial"/>
              </a:defRPr>
            </a:pPr>
            <a:r>
              <a:rPr sz="2850" b="1">
                <a:solidFill>
                  <a:srgbClr val="20333D"/>
                </a:solidFill>
                <a:latin typeface="Arial"/>
                <a:ea typeface="Arial"/>
                <a:cs typeface="Arial"/>
              </a:rPr>
              <a:t>No candidate meets the target</a:t>
            </a:r>
          </a:p>
        </p:txBody>
      </p:sp>
      <p:sp>
        <p:nvSpPr>
          <p:cNvPr id="15" name="">
            <a:extLst xmlns:a="http://schemas.openxmlformats.org/drawingml/2006/main">
              <a:ext uri="{FF2B5EF4-FFF2-40B4-BE49-F238E27FC236}">
                <a16:creationId xmlns:a16="http://schemas.microsoft.com/office/drawing/2014/main" id="{FE4AA275-B467-4A95-8210-EC57A8539BD0}"/>
              </a:ext>
            </a:extLst>
          </p:cNvPr>
          <p:cNvSpPr>
            <a:spLocks xmlns:a="http://schemas.openxmlformats.org/drawingml/2006/main" noGrp="1"/>
          </p:cNvSpPr>
          <p:nvPr/>
        </p:nvSpPr>
        <p:spPr>
          <a:xfrm xmlns:a="http://schemas.openxmlformats.org/drawingml/2006/main">
            <a:off x="762000" y="12601575"/>
            <a:ext cx="13716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475" b="1">
                <a:solidFill>
                  <a:srgbClr val="4B606D"/>
                </a:solidFill>
                <a:latin typeface="Arial"/>
                <a:ea typeface="Arial"/>
                <a:cs typeface="Arial"/>
              </a:defRPr>
            </a:defPPr>
          </a:lstStyle>
          <a:p xmlns:a="http://schemas.openxmlformats.org/drawingml/2006/main">
            <a:pPr>
              <a:defRPr sz="2475" b="1">
                <a:solidFill>
                  <a:srgbClr val="4B606D"/>
                </a:solidFill>
                <a:latin typeface="Arial"/>
                <a:ea typeface="Arial"/>
                <a:cs typeface="Arial"/>
              </a:defRPr>
            </a:pPr>
            <a:r>
              <a:rPr sz="2475" b="1">
                <a:solidFill>
                  <a:srgbClr val="4B606D"/>
                </a:solidFill>
                <a:latin typeface="Arial"/>
                <a:ea typeface="Arial"/>
                <a:cs typeface="Arial"/>
              </a:rPr>
              <a:t>Review acceptance filters separately from rank. Revise the design or use a new round.</a:t>
            </a:r>
          </a:p>
        </p:txBody>
      </p:sp>
      <p:sp>
        <p:nvSpPr>
          <p:cNvPr id="16" name="">
            <a:extLst xmlns:a="http://schemas.openxmlformats.org/drawingml/2006/main">
              <a:ext uri="{FF2B5EF4-FFF2-40B4-BE49-F238E27FC236}">
                <a16:creationId xmlns:a16="http://schemas.microsoft.com/office/drawing/2014/main" id="{0531E875-D90C-4526-83B0-87AFC34C1600}"/>
              </a:ext>
            </a:extLst>
          </p:cNvPr>
          <p:cNvSpPr>
            <a:spLocks xmlns:a="http://schemas.openxmlformats.org/drawingml/2006/main" noGrp="1"/>
          </p:cNvSpPr>
          <p:nvPr/>
        </p:nvSpPr>
        <p:spPr>
          <a:xfrm xmlns:a="http://schemas.openxmlformats.org/drawingml/2006/main">
            <a:off x="762000" y="13954125"/>
            <a:ext cx="13716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850" b="1">
                <a:solidFill>
                  <a:srgbClr val="20333D"/>
                </a:solidFill>
                <a:latin typeface="Arial"/>
                <a:ea typeface="Arial"/>
                <a:cs typeface="Arial"/>
              </a:defRPr>
            </a:defPPr>
          </a:lstStyle>
          <a:p xmlns:a="http://schemas.openxmlformats.org/drawingml/2006/main">
            <a:pPr>
              <a:defRPr sz="2850" b="1">
                <a:solidFill>
                  <a:srgbClr val="20333D"/>
                </a:solidFill>
                <a:latin typeface="Arial"/>
                <a:ea typeface="Arial"/>
                <a:cs typeface="Arial"/>
              </a:defRPr>
            </a:pPr>
            <a:r>
              <a:rPr sz="2850" b="1">
                <a:solidFill>
                  <a:srgbClr val="20333D"/>
                </a:solidFill>
                <a:latin typeface="Arial"/>
                <a:ea typeface="Arial"/>
                <a:cs typeface="Arial"/>
              </a:rPr>
              <a:t>The report is unavailable</a:t>
            </a:r>
          </a:p>
        </p:txBody>
      </p:sp>
      <p:sp>
        <p:nvSpPr>
          <p:cNvPr id="17" name="">
            <a:extLst xmlns:a="http://schemas.openxmlformats.org/drawingml/2006/main">
              <a:ext uri="{FF2B5EF4-FFF2-40B4-BE49-F238E27FC236}">
                <a16:creationId xmlns:a16="http://schemas.microsoft.com/office/drawing/2014/main" id="{5324AEA5-E8D2-4594-9A64-DE44FE4120D9}"/>
              </a:ext>
            </a:extLst>
          </p:cNvPr>
          <p:cNvSpPr>
            <a:spLocks xmlns:a="http://schemas.openxmlformats.org/drawingml/2006/main" noGrp="1"/>
          </p:cNvSpPr>
          <p:nvPr/>
        </p:nvSpPr>
        <p:spPr>
          <a:xfrm xmlns:a="http://schemas.openxmlformats.org/drawingml/2006/main">
            <a:off x="762000" y="14573250"/>
            <a:ext cx="13716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475" b="1">
                <a:solidFill>
                  <a:srgbClr val="4B606D"/>
                </a:solidFill>
                <a:latin typeface="Arial"/>
                <a:ea typeface="Arial"/>
                <a:cs typeface="Arial"/>
              </a:defRPr>
            </a:defPPr>
          </a:lstStyle>
          <a:p xmlns:a="http://schemas.openxmlformats.org/drawingml/2006/main">
            <a:pPr>
              <a:defRPr sz="2475" b="1">
                <a:solidFill>
                  <a:srgbClr val="4B606D"/>
                </a:solidFill>
                <a:latin typeface="Arial"/>
                <a:ea typeface="Arial"/>
                <a:cs typeface="Arial"/>
              </a:defRPr>
            </a:pPr>
            <a:r>
              <a:rPr sz="2475" b="1">
                <a:solidFill>
                  <a:srgbClr val="4B606D"/>
                </a:solidFill>
                <a:latin typeface="Arial"/>
                <a:ea typeface="Arial"/>
                <a:cs typeface="Arial"/>
              </a:rPr>
              <a:t>Wait for selection/analysis to finish. A failed report is not an empty successful result.</a:t>
            </a:r>
          </a:p>
        </p:txBody>
      </p:sp>
      <p:sp>
        <p:nvSpPr>
          <p:cNvPr id="18" name="">
            <a:extLst xmlns:a="http://schemas.openxmlformats.org/drawingml/2006/main">
              <a:ext uri="{FF2B5EF4-FFF2-40B4-BE49-F238E27FC236}">
                <a16:creationId xmlns:a16="http://schemas.microsoft.com/office/drawing/2014/main" id="{10629A2C-E438-4140-94CF-5AE96FA2CDB4}"/>
              </a:ext>
            </a:extLst>
          </p:cNvPr>
          <p:cNvSpPr>
            <a:spLocks xmlns:a="http://schemas.openxmlformats.org/drawingml/2006/main" noGrp="1"/>
          </p:cNvSpPr>
          <p:nvPr/>
        </p:nvSpPr>
        <p:spPr>
          <a:xfrm xmlns:a="http://schemas.openxmlformats.org/drawingml/2006/main">
            <a:off x="762000" y="15925800"/>
            <a:ext cx="13716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850" b="1">
                <a:solidFill>
                  <a:srgbClr val="20333D"/>
                </a:solidFill>
                <a:latin typeface="Arial"/>
                <a:ea typeface="Arial"/>
                <a:cs typeface="Arial"/>
              </a:defRPr>
            </a:defPPr>
          </a:lstStyle>
          <a:p xmlns:a="http://schemas.openxmlformats.org/drawingml/2006/main">
            <a:pPr>
              <a:defRPr sz="2850" b="1">
                <a:solidFill>
                  <a:srgbClr val="20333D"/>
                </a:solidFill>
                <a:latin typeface="Arial"/>
                <a:ea typeface="Arial"/>
                <a:cs typeface="Arial"/>
              </a:defRPr>
            </a:pPr>
            <a:r>
              <a:rPr sz="2850" b="1">
                <a:solidFill>
                  <a:srgbClr val="20333D"/>
                </a:solidFill>
                <a:latin typeface="Arial"/>
                <a:ea typeface="Arial"/>
                <a:cs typeface="Arial"/>
              </a:rPr>
              <a:t>A run is cancelled</a:t>
            </a:r>
          </a:p>
        </p:txBody>
      </p:sp>
      <p:sp>
        <p:nvSpPr>
          <p:cNvPr id="19" name="">
            <a:extLst xmlns:a="http://schemas.openxmlformats.org/drawingml/2006/main">
              <a:ext uri="{FF2B5EF4-FFF2-40B4-BE49-F238E27FC236}">
                <a16:creationId xmlns:a16="http://schemas.microsoft.com/office/drawing/2014/main" id="{4FFEE69E-9BB4-4457-B4FD-72BADE9877BC}"/>
              </a:ext>
            </a:extLst>
          </p:cNvPr>
          <p:cNvSpPr>
            <a:spLocks xmlns:a="http://schemas.openxmlformats.org/drawingml/2006/main" noGrp="1"/>
          </p:cNvSpPr>
          <p:nvPr/>
        </p:nvSpPr>
        <p:spPr>
          <a:xfrm xmlns:a="http://schemas.openxmlformats.org/drawingml/2006/main">
            <a:off x="762000" y="16544925"/>
            <a:ext cx="13716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475" b="1">
                <a:solidFill>
                  <a:srgbClr val="4B606D"/>
                </a:solidFill>
                <a:latin typeface="Arial"/>
                <a:ea typeface="Arial"/>
                <a:cs typeface="Arial"/>
              </a:defRPr>
            </a:defPPr>
          </a:lstStyle>
          <a:p xmlns:a="http://schemas.openxmlformats.org/drawingml/2006/main">
            <a:pPr>
              <a:defRPr sz="2475" b="1">
                <a:solidFill>
                  <a:srgbClr val="4B606D"/>
                </a:solidFill>
                <a:latin typeface="Arial"/>
                <a:ea typeface="Arial"/>
                <a:cs typeface="Arial"/>
              </a:defRPr>
            </a:pPr>
            <a:r>
              <a:rPr sz="2475" b="1">
                <a:solidFill>
                  <a:srgbClr val="4B606D"/>
                </a:solidFill>
                <a:latin typeface="Arial"/>
                <a:ea typeface="Arial"/>
                <a:cs typeface="Arial"/>
              </a:rPr>
              <a:t>Confirm the scheduler has stopped the job before cleaning active files.</a:t>
            </a:r>
          </a:p>
        </p:txBody>
      </p:sp>
    </p:spTree>
    <p:extLst>
      <p:ext uri="{BB962C8B-B14F-4D97-AF65-F5344CB8AC3E}">
        <p14:creationId xmlns:p14="http://schemas.microsoft.com/office/powerpoint/2010/main" val="1919338852"/>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6EF21234-D3E7-4BD2-AB37-0F843C3FEFAD}"/>
              </a:ext>
            </a:extLst>
          </p:cNvPr>
          <p:cNvSpPr>
            <a:spLocks xmlns:a="http://schemas.openxmlformats.org/drawingml/2006/main" noGrp="1"/>
          </p:cNvSpPr>
          <p:nvPr/>
        </p:nvSpPr>
        <p:spPr>
          <a:xfrm xmlns:a="http://schemas.openxmlformats.org/drawingml/2006/main">
            <a:off x="762000" y="361950"/>
            <a:ext cx="13239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725" b="1">
                <a:solidFill>
                  <a:srgbClr val="4B606D"/>
                </a:solidFill>
                <a:latin typeface="Arial"/>
                <a:ea typeface="Arial"/>
                <a:cs typeface="Arial"/>
              </a:defRPr>
            </a:defPPr>
          </a:lstStyle>
          <a:p xmlns:a="http://schemas.openxmlformats.org/drawingml/2006/main">
            <a:pPr>
              <a:defRPr sz="1725" b="1">
                <a:solidFill>
                  <a:srgbClr val="4B606D"/>
                </a:solidFill>
                <a:latin typeface="Arial"/>
                <a:ea typeface="Arial"/>
                <a:cs typeface="Arial"/>
              </a:defRPr>
            </a:pPr>
            <a:r>
              <a:rPr sz="1725" b="1">
                <a:solidFill>
                  <a:srgbClr val="4B606D"/>
                </a:solidFill>
                <a:latin typeface="Arial"/>
                <a:ea typeface="Arial"/>
                <a:cs typeface="Arial"/>
              </a:rPr>
              <a:t>ENZORA  /  USER GUIDE</a:t>
            </a:r>
          </a:p>
        </p:txBody>
      </p:sp>
      <p:sp>
        <p:nvSpPr>
          <p:cNvPr id="2" name="">
            <a:extLst xmlns:a="http://schemas.openxmlformats.org/drawingml/2006/main">
              <a:ext uri="{FF2B5EF4-FFF2-40B4-BE49-F238E27FC236}">
                <a16:creationId xmlns:a16="http://schemas.microsoft.com/office/drawing/2014/main" id="{B9D4B458-D681-47AF-B89E-88184ABF8325}"/>
              </a:ext>
            </a:extLst>
          </p:cNvPr>
          <p:cNvSpPr>
            <a:spLocks xmlns:a="http://schemas.openxmlformats.org/drawingml/2006/main" noGrp="1"/>
          </p:cNvSpPr>
          <p:nvPr/>
        </p:nvSpPr>
        <p:spPr>
          <a:xfrm xmlns:a="http://schemas.openxmlformats.org/drawingml/2006/main">
            <a:off x="762000" y="952500"/>
            <a:ext cx="13716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4875" b="1">
                <a:solidFill>
                  <a:srgbClr val="20333D"/>
                </a:solidFill>
                <a:latin typeface="Arial"/>
                <a:ea typeface="Arial"/>
                <a:cs typeface="Arial"/>
              </a:defRPr>
            </a:defPPr>
          </a:lstStyle>
          <a:p xmlns:a="http://schemas.openxmlformats.org/drawingml/2006/main">
            <a:pPr>
              <a:defRPr sz="4875" b="1">
                <a:solidFill>
                  <a:srgbClr val="20333D"/>
                </a:solidFill>
                <a:latin typeface="Arial"/>
                <a:ea typeface="Arial"/>
                <a:cs typeface="Arial"/>
              </a:defRPr>
            </a:pPr>
            <a:r>
              <a:rPr sz="4875" b="1">
                <a:solidFill>
                  <a:srgbClr val="20333D"/>
                </a:solidFill>
                <a:latin typeface="Arial"/>
                <a:ea typeface="Arial"/>
                <a:cs typeface="Arial"/>
              </a:rPr>
              <a:t>16. Evidence and further reading</a:t>
            </a:r>
          </a:p>
        </p:txBody>
      </p:sp>
      <p:sp>
        <p:nvSpPr>
          <p:cNvPr id="3" name="">
            <a:extLst xmlns:a="http://schemas.openxmlformats.org/drawingml/2006/main">
              <a:ext uri="{FF2B5EF4-FFF2-40B4-BE49-F238E27FC236}">
                <a16:creationId xmlns:a16="http://schemas.microsoft.com/office/drawing/2014/main" id="{9BA79006-4D17-46AC-8721-F63A7F3539DA}"/>
              </a:ext>
            </a:extLst>
          </p:cNvPr>
          <p:cNvSpPr>
            <a:spLocks xmlns:a="http://schemas.openxmlformats.org/drawingml/2006/main" noGrp="1"/>
          </p:cNvSpPr>
          <p:nvPr/>
        </p:nvSpPr>
        <p:spPr>
          <a:xfrm xmlns:a="http://schemas.openxmlformats.org/drawingml/2006/main">
            <a:off x="762000" y="2524125"/>
            <a:ext cx="13716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550" b="1">
                <a:solidFill>
                  <a:srgbClr val="4B606D"/>
                </a:solidFill>
                <a:latin typeface="Arial"/>
                <a:ea typeface="Arial"/>
                <a:cs typeface="Arial"/>
              </a:defRPr>
            </a:defPPr>
          </a:lstStyle>
          <a:p xmlns:a="http://schemas.openxmlformats.org/drawingml/2006/main">
            <a:pPr>
              <a:defRPr sz="2550" b="1">
                <a:solidFill>
                  <a:srgbClr val="4B606D"/>
                </a:solidFill>
                <a:latin typeface="Arial"/>
                <a:ea typeface="Arial"/>
                <a:cs typeface="Arial"/>
              </a:defRPr>
            </a:pPr>
            <a:r>
              <a:rPr sz="2550" b="1">
                <a:solidFill>
                  <a:srgbClr val="4B606D"/>
                </a:solidFill>
                <a:latin typeface="Arial"/>
                <a:ea typeface="Arial"/>
                <a:cs typeface="Arial"/>
              </a:rPr>
              <a:t>The guide follows the current browser and production code</a:t>
            </a:r>
          </a:p>
        </p:txBody>
      </p:sp>
      <p:sp>
        <p:nvSpPr>
          <p:cNvPr id="4" name="">
            <a:extLst xmlns:a="http://schemas.openxmlformats.org/drawingml/2006/main">
              <a:ext uri="{FF2B5EF4-FFF2-40B4-BE49-F238E27FC236}">
                <a16:creationId xmlns:a16="http://schemas.microsoft.com/office/drawing/2014/main" id="{5B699CA7-E855-4503-A85A-7E73764CC30D}"/>
              </a:ext>
            </a:extLst>
          </p:cNvPr>
          <p:cNvSpPr>
            <a:spLocks xmlns:a="http://schemas.openxmlformats.org/drawingml/2006/main" noGrp="1"/>
          </p:cNvSpPr>
          <p:nvPr/>
        </p:nvSpPr>
        <p:spPr>
          <a:xfrm xmlns:a="http://schemas.openxmlformats.org/drawingml/2006/main">
            <a:off x="762000" y="19240500"/>
            <a:ext cx="1238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650" b="1">
                <a:solidFill>
                  <a:srgbClr val="4B606D"/>
                </a:solidFill>
                <a:latin typeface="Arial"/>
                <a:ea typeface="Arial"/>
                <a:cs typeface="Arial"/>
              </a:defRPr>
            </a:defPPr>
          </a:lstStyle>
          <a:p xmlns:a="http://schemas.openxmlformats.org/drawingml/2006/main">
            <a:pPr>
              <a:defRPr sz="1650" b="1">
                <a:solidFill>
                  <a:srgbClr val="4B606D"/>
                </a:solidFill>
                <a:latin typeface="Arial"/>
                <a:ea typeface="Arial"/>
                <a:cs typeface="Arial"/>
              </a:defRPr>
            </a:pPr>
            <a:r>
              <a:rPr sz="1650" b="1">
                <a:solidFill>
                  <a:srgbClr val="4B606D"/>
                </a:solidFill>
                <a:latin typeface="Arial"/>
                <a:ea typeface="Arial"/>
                <a:cs typeface="Arial"/>
              </a:rPr>
              <a:t>Enzora web platform • 16 October 2026</a:t>
            </a:r>
          </a:p>
        </p:txBody>
      </p:sp>
      <p:sp>
        <p:nvSpPr>
          <p:cNvPr id="5" name="">
            <a:extLst xmlns:a="http://schemas.openxmlformats.org/drawingml/2006/main">
              <a:ext uri="{FF2B5EF4-FFF2-40B4-BE49-F238E27FC236}">
                <a16:creationId xmlns:a16="http://schemas.microsoft.com/office/drawing/2014/main" id="{4BC6BA00-1DC3-440B-8172-57E012F0B136}"/>
              </a:ext>
            </a:extLst>
          </p:cNvPr>
          <p:cNvSpPr>
            <a:spLocks xmlns:a="http://schemas.openxmlformats.org/drawingml/2006/main" noGrp="1"/>
          </p:cNvSpPr>
          <p:nvPr/>
        </p:nvSpPr>
        <p:spPr>
          <a:xfrm xmlns:a="http://schemas.openxmlformats.org/drawingml/2006/main">
            <a:off x="13811250" y="19240500"/>
            <a:ext cx="762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00" b="1">
                <a:solidFill>
                  <a:srgbClr val="4B606D"/>
                </a:solidFill>
                <a:latin typeface="Arial"/>
                <a:ea typeface="Arial"/>
                <a:cs typeface="Arial"/>
              </a:defRPr>
            </a:defPPr>
          </a:lstStyle>
          <a:p xmlns:a="http://schemas.openxmlformats.org/drawingml/2006/main">
            <a:pPr>
              <a:defRPr sz="1800" b="1">
                <a:solidFill>
                  <a:srgbClr val="4B606D"/>
                </a:solidFill>
                <a:latin typeface="Arial"/>
                <a:ea typeface="Arial"/>
                <a:cs typeface="Arial"/>
              </a:defRPr>
            </a:pPr>
            <a:r>
              <a:rPr sz="1800" b="1">
                <a:solidFill>
                  <a:srgbClr val="4B606D"/>
                </a:solidFill>
                <a:latin typeface="Arial"/>
                <a:ea typeface="Arial"/>
                <a:cs typeface="Arial"/>
              </a:rPr>
              <a:t>18</a:t>
            </a:r>
          </a:p>
        </p:txBody>
      </p:sp>
      <p:sp>
        <p:nvSpPr>
          <p:cNvPr id="6" name="">
            <a:extLst xmlns:a="http://schemas.openxmlformats.org/drawingml/2006/main">
              <a:ext uri="{FF2B5EF4-FFF2-40B4-BE49-F238E27FC236}">
                <a16:creationId xmlns:a16="http://schemas.microsoft.com/office/drawing/2014/main" id="{DEB633C1-A224-4B1F-A444-4D37F945BF86}"/>
              </a:ext>
            </a:extLst>
          </p:cNvPr>
          <p:cNvSpPr>
            <a:spLocks xmlns:a="http://schemas.openxmlformats.org/drawingml/2006/main" noGrp="1"/>
          </p:cNvSpPr>
          <p:nvPr/>
        </p:nvSpPr>
        <p:spPr>
          <a:xfrm xmlns:a="http://schemas.openxmlformats.org/drawingml/2006/main">
            <a:off x="762000" y="4048125"/>
            <a:ext cx="13716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925" b="1">
                <a:solidFill>
                  <a:srgbClr val="20333D"/>
                </a:solidFill>
                <a:latin typeface="Arial"/>
                <a:ea typeface="Arial"/>
                <a:cs typeface="Arial"/>
              </a:defRPr>
            </a:defPPr>
          </a:lstStyle>
          <a:p xmlns:a="http://schemas.openxmlformats.org/drawingml/2006/main">
            <a:pPr>
              <a:defRPr sz="2925" b="1">
                <a:solidFill>
                  <a:srgbClr val="20333D"/>
                </a:solidFill>
                <a:latin typeface="Arial"/>
                <a:ea typeface="Arial"/>
                <a:cs typeface="Arial"/>
              </a:defRPr>
            </a:pPr>
            <a:r>
              <a:rPr sz="2925" b="1">
                <a:solidFill>
                  <a:srgbClr val="20333D"/>
                </a:solidFill>
                <a:latin typeface="Arial"/>
                <a:ea typeface="Arial"/>
                <a:cs typeface="Arial"/>
              </a:rPr>
              <a:t>Verified integration example</a:t>
            </a:r>
          </a:p>
        </p:txBody>
      </p:sp>
      <p:sp>
        <p:nvSpPr>
          <p:cNvPr id="7" name="">
            <a:extLst xmlns:a="http://schemas.openxmlformats.org/drawingml/2006/main">
              <a:ext uri="{FF2B5EF4-FFF2-40B4-BE49-F238E27FC236}">
                <a16:creationId xmlns:a16="http://schemas.microsoft.com/office/drawing/2014/main" id="{6C6BCA2E-4E8A-4FC2-83C3-BEECE65BCDF2}"/>
              </a:ext>
            </a:extLst>
          </p:cNvPr>
          <p:cNvSpPr>
            <a:spLocks xmlns:a="http://schemas.openxmlformats.org/drawingml/2006/main" noGrp="1"/>
          </p:cNvSpPr>
          <p:nvPr/>
        </p:nvSpPr>
        <p:spPr>
          <a:xfrm xmlns:a="http://schemas.openxmlformats.org/drawingml/2006/main">
            <a:off x="762000" y="4714875"/>
            <a:ext cx="13716000" cy="1866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550" b="1">
                <a:solidFill>
                  <a:srgbClr val="4B606D"/>
                </a:solidFill>
                <a:latin typeface="Arial"/>
                <a:ea typeface="Arial"/>
                <a:cs typeface="Arial"/>
              </a:defRPr>
            </a:defPPr>
          </a:lstStyle>
          <a:p xmlns:a="http://schemas.openxmlformats.org/drawingml/2006/main">
            <a:pPr>
              <a:defRPr sz="2550" b="1">
                <a:solidFill>
                  <a:srgbClr val="4B606D"/>
                </a:solidFill>
                <a:latin typeface="Arial"/>
                <a:ea typeface="Arial"/>
                <a:cs typeface="Arial"/>
              </a:defRPr>
            </a:pPr>
            <a:r>
              <a:rPr sz="2550" b="1">
                <a:solidFill>
                  <a:srgbClr val="4B606D"/>
                </a:solidFill>
                <a:latin typeface="Arial"/>
                <a:ea typeface="Arial"/>
                <a:cs typeface="Arial"/>
              </a:rPr>
              <a:t>The screenshots use a real 544 aa WT / CO2 task with ten single-mutant candidates and Top-5 output. All three generators, all three scorers and MiniMax native balancing completed. This is an integration check, not 1,000-candidate performance or wet-lab validation.</a:t>
            </a:r>
          </a:p>
        </p:txBody>
      </p:sp>
      <p:sp>
        <p:nvSpPr>
          <p:cNvPr id="8" name="">
            <a:extLst xmlns:a="http://schemas.openxmlformats.org/drawingml/2006/main">
              <a:ext uri="{FF2B5EF4-FFF2-40B4-BE49-F238E27FC236}">
                <a16:creationId xmlns:a16="http://schemas.microsoft.com/office/drawing/2014/main" id="{8EAC8FDE-CB97-4962-A1B5-F8AE1CC99919}"/>
              </a:ext>
            </a:extLst>
          </p:cNvPr>
          <p:cNvSpPr>
            <a:spLocks xmlns:a="http://schemas.openxmlformats.org/drawingml/2006/main" noGrp="1"/>
          </p:cNvSpPr>
          <p:nvPr/>
        </p:nvSpPr>
        <p:spPr>
          <a:xfrm xmlns:a="http://schemas.openxmlformats.org/drawingml/2006/main">
            <a:off x="762000" y="7953375"/>
            <a:ext cx="13716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925" b="1">
                <a:solidFill>
                  <a:srgbClr val="20333D"/>
                </a:solidFill>
                <a:latin typeface="Arial"/>
                <a:ea typeface="Arial"/>
                <a:cs typeface="Arial"/>
              </a:defRPr>
            </a:defPPr>
          </a:lstStyle>
          <a:p xmlns:a="http://schemas.openxmlformats.org/drawingml/2006/main">
            <a:pPr>
              <a:defRPr sz="2925" b="1">
                <a:solidFill>
                  <a:srgbClr val="20333D"/>
                </a:solidFill>
                <a:latin typeface="Arial"/>
                <a:ea typeface="Arial"/>
                <a:cs typeface="Arial"/>
              </a:defRPr>
            </a:pPr>
            <a:r>
              <a:rPr sz="2925" b="1">
                <a:solidFill>
                  <a:srgbClr val="20333D"/>
                </a:solidFill>
                <a:latin typeface="Arial"/>
                <a:ea typeface="Arial"/>
                <a:cs typeface="Arial"/>
              </a:rPr>
              <a:t>Scientific interpretation</a:t>
            </a:r>
          </a:p>
        </p:txBody>
      </p:sp>
      <p:sp>
        <p:nvSpPr>
          <p:cNvPr id="9" name="">
            <a:extLst xmlns:a="http://schemas.openxmlformats.org/drawingml/2006/main">
              <a:ext uri="{FF2B5EF4-FFF2-40B4-BE49-F238E27FC236}">
                <a16:creationId xmlns:a16="http://schemas.microsoft.com/office/drawing/2014/main" id="{31BA3447-5434-4783-93FD-3C93820D3754}"/>
              </a:ext>
            </a:extLst>
          </p:cNvPr>
          <p:cNvSpPr>
            <a:spLocks xmlns:a="http://schemas.openxmlformats.org/drawingml/2006/main" noGrp="1"/>
          </p:cNvSpPr>
          <p:nvPr/>
        </p:nvSpPr>
        <p:spPr>
          <a:xfrm xmlns:a="http://schemas.openxmlformats.org/drawingml/2006/main">
            <a:off x="762000" y="8620125"/>
            <a:ext cx="13716000" cy="1866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550" b="1">
                <a:solidFill>
                  <a:srgbClr val="4B606D"/>
                </a:solidFill>
                <a:latin typeface="Arial"/>
                <a:ea typeface="Arial"/>
                <a:cs typeface="Arial"/>
              </a:defRPr>
            </a:defPPr>
          </a:lstStyle>
          <a:p xmlns:a="http://schemas.openxmlformats.org/drawingml/2006/main">
            <a:pPr>
              <a:defRPr sz="2550" b="1">
                <a:solidFill>
                  <a:srgbClr val="4B606D"/>
                </a:solidFill>
                <a:latin typeface="Arial"/>
                <a:ea typeface="Arial"/>
                <a:cs typeface="Arial"/>
              </a:defRPr>
            </a:pPr>
            <a:r>
              <a:rPr sz="2550" b="1">
                <a:solidFill>
                  <a:srgbClr val="4B606D"/>
                </a:solidFill>
                <a:latin typeface="Arial"/>
                <a:ea typeface="Arial"/>
                <a:cs typeface="Arial"/>
              </a:rPr>
              <a:t>UMAP uses positional amino-acid identity with Hamming distance. It is a visualization. Model uncertainty proxies have different meanings and are not jointly calibrated success probabilities. Predicted candidates require experimental testing.</a:t>
            </a:r>
          </a:p>
        </p:txBody>
      </p:sp>
      <p:sp>
        <p:nvSpPr>
          <p:cNvPr id="10" name="">
            <a:extLst xmlns:a="http://schemas.openxmlformats.org/drawingml/2006/main">
              <a:ext uri="{FF2B5EF4-FFF2-40B4-BE49-F238E27FC236}">
                <a16:creationId xmlns:a16="http://schemas.microsoft.com/office/drawing/2014/main" id="{167A78CD-2649-4014-960B-81D0C1B98435}"/>
              </a:ext>
            </a:extLst>
          </p:cNvPr>
          <p:cNvSpPr>
            <a:spLocks xmlns:a="http://schemas.openxmlformats.org/drawingml/2006/main" noGrp="1"/>
          </p:cNvSpPr>
          <p:nvPr/>
        </p:nvSpPr>
        <p:spPr>
          <a:xfrm xmlns:a="http://schemas.openxmlformats.org/drawingml/2006/main">
            <a:off x="762000" y="12001500"/>
            <a:ext cx="13716000" cy="409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400" b="1">
                <a:solidFill>
                  <a:srgbClr val="20333D"/>
                </a:solidFill>
                <a:latin typeface="Arial"/>
                <a:ea typeface="Arial"/>
                <a:cs typeface="Arial"/>
              </a:defRPr>
            </a:defPPr>
          </a:lstStyle>
          <a:p xmlns:a="http://schemas.openxmlformats.org/drawingml/2006/main">
            <a:pPr>
              <a:defRPr sz="2400" b="1">
                <a:solidFill>
                  <a:srgbClr val="20333D"/>
                </a:solidFill>
                <a:latin typeface="Arial"/>
                <a:ea typeface="Arial"/>
                <a:cs typeface="Arial"/>
              </a:defRPr>
            </a:pPr>
            <a:r>
              <a:rPr sz="2400" b="1">
                <a:solidFill>
                  <a:srgbClr val="20333D"/>
                </a:solidFill>
                <a:latin typeface="Arial"/>
                <a:ea typeface="Arial"/>
                <a:cs typeface="Arial"/>
              </a:rPr>
              <a:t>Further reading</a:t>
            </a:r>
          </a:p>
          <a:p xmlns:a="http://schemas.openxmlformats.org/drawingml/2006/main">
            <a:pPr>
              <a:defRPr sz="2400" b="1">
                <a:solidFill>
                  <a:srgbClr val="20333D"/>
                </a:solidFill>
                <a:latin typeface="Arial"/>
                <a:ea typeface="Arial"/>
                <a:cs typeface="Arial"/>
              </a:defRPr>
            </a:pPr>
            <a:r>
              <a:rPr sz="2400" b="1">
                <a:solidFill>
                  <a:srgbClr val="20333D"/>
                </a:solidFill>
                <a:latin typeface="Arial"/>
                <a:ea typeface="Arial"/>
                <a:cs typeface="Arial"/>
              </a:rPr>
              <a:t>https://enzora-agent.com</a:t>
            </a:r>
          </a:p>
          <a:p xmlns:a="http://schemas.openxmlformats.org/drawingml/2006/main">
            <a:pPr>
              <a:defRPr sz="2400" b="1">
                <a:solidFill>
                  <a:srgbClr val="20333D"/>
                </a:solidFill>
                <a:latin typeface="Arial"/>
                <a:ea typeface="Arial"/>
                <a:cs typeface="Arial"/>
              </a:defRPr>
            </a:pPr>
            <a:r>
              <a:rPr sz="2400" b="1">
                <a:solidFill>
                  <a:srgbClr val="20333D"/>
                </a:solidFill>
                <a:latin typeface="Arial"/>
                <a:ea typeface="Arial"/>
                <a:cs typeface="Arial"/>
              </a:rPr>
              <a:t>https://github.com/YuzhangLi2281/Enzora</a:t>
            </a:r>
          </a:p>
          <a:p xmlns:a="http://schemas.openxmlformats.org/drawingml/2006/main">
            <a:pPr>
              <a:defRPr sz="2400" b="1">
                <a:solidFill>
                  <a:srgbClr val="20333D"/>
                </a:solidFill>
                <a:latin typeface="Arial"/>
                <a:ea typeface="Arial"/>
                <a:cs typeface="Arial"/>
              </a:defRPr>
            </a:pPr>
            <a:r>
              <a:rPr sz="2400" b="1">
                <a:solidFill>
                  <a:srgbClr val="20333D"/>
                </a:solidFill>
                <a:latin typeface="Arial"/>
                <a:ea typeface="Arial"/>
                <a:cs typeface="Arial"/>
              </a:rPr>
              <a:t>https://github.com/YuzhangLi2281/Phenom</a:t>
            </a:r>
          </a:p>
          <a:p xmlns:a="http://schemas.openxmlformats.org/drawingml/2006/main">
            <a:pPr>
              <a:defRPr sz="2400" b="1">
                <a:solidFill>
                  <a:srgbClr val="20333D"/>
                </a:solidFill>
                <a:latin typeface="Arial"/>
                <a:ea typeface="Arial"/>
                <a:cs typeface="Arial"/>
              </a:defRPr>
            </a:pPr>
            <a:r>
              <a:rPr sz="2400" b="1">
                <a:solidFill>
                  <a:srgbClr val="20333D"/>
                </a:solidFill>
                <a:latin typeface="Arial"/>
                <a:ea typeface="Arial"/>
                <a:cs typeface="Arial"/>
              </a:rPr>
              <a:t>https://github.com/ntranoslab/vesm</a:t>
            </a:r>
          </a:p>
          <a:p xmlns:a="http://schemas.openxmlformats.org/drawingml/2006/main">
            <a:pPr>
              <a:defRPr sz="2400" b="1">
                <a:solidFill>
                  <a:srgbClr val="20333D"/>
                </a:solidFill>
                <a:latin typeface="Arial"/>
                <a:ea typeface="Arial"/>
                <a:cs typeface="Arial"/>
              </a:defRPr>
            </a:pPr>
            <a:r>
              <a:rPr sz="2400" b="1">
                <a:solidFill>
                  <a:srgbClr val="20333D"/>
                </a:solidFill>
                <a:latin typeface="Arial"/>
                <a:ea typeface="Arial"/>
                <a:cs typeface="Arial"/>
              </a:rPr>
              <a:t>https://github.com/ai4protein/VenusFactory2</a:t>
            </a:r>
          </a:p>
        </p:txBody>
      </p:sp>
      <p:sp>
        <p:nvSpPr>
          <p:cNvPr id="11" name="">
            <a:extLst xmlns:a="http://schemas.openxmlformats.org/drawingml/2006/main">
              <a:ext uri="{FF2B5EF4-FFF2-40B4-BE49-F238E27FC236}">
                <a16:creationId xmlns:a16="http://schemas.microsoft.com/office/drawing/2014/main" id="{9E4E6248-F588-496B-A04E-CA8675EB8425}"/>
              </a:ext>
            </a:extLst>
          </p:cNvPr>
          <p:cNvSpPr>
            <a:spLocks xmlns:a="http://schemas.openxmlformats.org/drawingml/2006/main" noGrp="1"/>
          </p:cNvSpPr>
          <p:nvPr/>
        </p:nvSpPr>
        <p:spPr>
          <a:xfrm xmlns:a="http://schemas.openxmlformats.org/drawingml/2006/main">
            <a:off x="762000" y="16764000"/>
            <a:ext cx="13716000" cy="1905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475" b="1">
                <a:solidFill>
                  <a:srgbClr val="4B606D"/>
                </a:solidFill>
                <a:latin typeface="Arial"/>
                <a:ea typeface="Arial"/>
                <a:cs typeface="Arial"/>
              </a:defRPr>
            </a:defPPr>
          </a:lstStyle>
          <a:p xmlns:a="http://schemas.openxmlformats.org/drawingml/2006/main">
            <a:pPr>
              <a:defRPr sz="2475" b="1">
                <a:solidFill>
                  <a:srgbClr val="4B606D"/>
                </a:solidFill>
                <a:latin typeface="Arial"/>
                <a:ea typeface="Arial"/>
                <a:cs typeface="Arial"/>
              </a:defRPr>
            </a:pPr>
            <a:r>
              <a:rPr sz="2475" b="1">
                <a:solidFill>
                  <a:srgbClr val="4B606D"/>
                </a:solidFill>
                <a:latin typeface="Arial"/>
                <a:ea typeface="Arial"/>
                <a:cs typeface="Arial"/>
              </a:rPr>
              <a:t>Figure direction follows AnewOmni’s molecular detail and visual hierarchy. Project diagrams retain editable labels and separate formula source slides.</a:t>
            </a:r>
          </a:p>
        </p:txBody>
      </p:sp>
    </p:spTree>
    <p:extLst>
      <p:ext uri="{BB962C8B-B14F-4D97-AF65-F5344CB8AC3E}">
        <p14:creationId xmlns:p14="http://schemas.microsoft.com/office/powerpoint/2010/main" val="53599181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2026-10-16T10:49:01.0840000Z</dcterms:created>
  <dcterms:modified xsi:type="dcterms:W3CDTF">2026-10-16T10:49:01.0840000Z</dcterms:modified>
</coreProperties>
</file>