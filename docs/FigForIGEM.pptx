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087c41328d41fe" /><Relationship Type="http://schemas.openxmlformats.org/officeDocument/2006/relationships/extended-properties" Target="/docProps/app.xml" Id="Rc904df2e78f9483a" /><Relationship Type="http://schemas.openxmlformats.org/officeDocument/2006/relationships/officeDocument" Target="/ppt/presentation.xml" Id="Rcff69c4e44a74d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e3c52adf44471a"/>
  </p:sldMasterIdLst>
  <p:notesMasterIdLst>
    <p:notesMasterId xmlns:r="http://schemas.openxmlformats.org/officeDocument/2006/relationships" r:id="R98e3f97620514940"/>
  </p:notesMasterIdLst>
  <p:sldIdLst>
    <p:sldId xmlns:r="http://schemas.openxmlformats.org/officeDocument/2006/relationships" id="256" r:id="R1613e57816364a07"/>
    <p:sldId xmlns:r="http://schemas.openxmlformats.org/officeDocument/2006/relationships" id="257" r:id="Rcef9473cc71e478d"/>
    <p:sldId xmlns:r="http://schemas.openxmlformats.org/officeDocument/2006/relationships" id="258" r:id="R14a3061b38c14377"/>
  </p:sldIdLst>
  <p:sldSz cx="15240000" cy="11239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d282a365854a5b" /><Relationship Type="http://schemas.openxmlformats.org/officeDocument/2006/relationships/slideMaster" Target="/ppt/slideMasters/slideMaster1.xml" Id="Rc0e3c52adf44471a" /><Relationship Type="http://schemas.openxmlformats.org/officeDocument/2006/relationships/notesMaster" Target="/ppt/notesMasters/notesMaster1.xml" Id="R98e3f97620514940" /><Relationship Type="http://schemas.openxmlformats.org/officeDocument/2006/relationships/presProps" Target="/ppt/presProps.xml" Id="R72d1fa1698664dbb" /><Relationship Type="http://schemas.openxmlformats.org/officeDocument/2006/relationships/tableStyles" Target="/ppt/tableStyles.xml" Id="Rc727f332db1342ce" /><Relationship Type="http://schemas.openxmlformats.org/officeDocument/2006/relationships/slide" Target="/ppt/slides/slide1.xml" Id="R1613e57816364a07" /><Relationship Type="http://schemas.openxmlformats.org/officeDocument/2006/relationships/slide" Target="/ppt/slides/slide2.xml" Id="Rcef9473cc71e478d" /><Relationship Type="http://schemas.openxmlformats.org/officeDocument/2006/relationships/slide" Target="/ppt/slides/slide3.xml" Id="R14a3061b38c143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6329ef0d7c43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ba2ef564db4201" /><Relationship Type="http://schemas.openxmlformats.org/officeDocument/2006/relationships/notesMaster" Target="/ppt/notesMasters/notesMaster1.xml" Id="R4d14ea76b3e04b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dbc9d7421346c9" /><Relationship Type="http://schemas.openxmlformats.org/officeDocument/2006/relationships/notesMaster" Target="/ppt/notesMasters/notesMaster1.xml" Id="R1323a972da3d4a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b49aedfa4c4224" /><Relationship Type="http://schemas.openxmlformats.org/officeDocument/2006/relationships/notesMaster" Target="/ppt/notesMasters/notesMaster1.xml" Id="R4c8e4bee23aa4b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editable workflow. Three-model construction runs left to right. Enzora Assistant controls scorer weights from below. Computational iteration is supported; the wet-lab feedback route is prospective and was not tested over multiple experimental rounds.</a:t>
            </a:r>
          </a:p>
          <a:p xmlns:a="http://schemas.openxmlformats.org/drawingml/2006/main">
            <a:r>
              <a:t>Sources: Enzora production workflow and fixed WT-reference scoring. UMAP coordinates come from the verified ten-candidate computational integration run. Input-fold component is coordinate-derived from the project prediction. Original vector components; prospective wet-lab route is explicitly identified. Equations: native PowerPoint LaTeX-to-OMML conversion, screenshot after conversion. The separate formula source preserves editable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formula screenshots were created from LaTeX in PowerPoint. Curves show exact analytical functions, not measured model calibration.</a:t>
            </a:r>
          </a:p>
          <a:p xmlns:a="http://schemas.openxmlformats.org/drawingml/2006/main">
            <a:r>
              <a:t>Sources: Enzora production workflow and fixed WT-reference scoring. UMAP coordinates come from the verified ten-candidate computational integration run. Input-fold component is coordinate-derived from the project prediction. Original vector components; prospective wet-lab route is explicitly identified. Equations: native PowerPoint LaTeX-to-OMML conversion, screenshot after conversion. The separate formula source preserves editable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browser communicates with an authenticated API. A persistent job scheduler runs fixed stages, while typed tools expose validated operations to the Assistant.</a:t>
            </a:r>
          </a:p>
          <a:p xmlns:a="http://schemas.openxmlformats.org/drawingml/2006/main">
            <a:r>
              <a:t>Sources: Enzora production workflow and fixed WT-reference scoring. UMAP coordinates come from the verified ten-candidate computational integration run. Input-fold component is coordinate-derived from the project prediction. Original vector components; prospective wet-lab route is explicitly identified. Equations: native PowerPoint LaTeX-to-OMML conversion, screenshot after conversion. The separate formula source preserves editable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55a72379b4e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de8f5009744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0320a08c046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2157825e1a45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6ddb5858a41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5673f570a40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891885-01E9-4912-8C51-DB83887EA6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4246033"/>
            <a:ext cx="12192000" cy="1623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DFC252C-7DCE-4E96-9B2D-4715D384B2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6181725"/>
            <a:ext cx="10668000" cy="1248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93847FB-1C56-49F5-8B6D-2F642A1D7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4683125"/>
            <a:ext cx="12192000" cy="187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A716FD-2C41-411F-AA64-2354EF34AC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874183"/>
            <a:ext cx="13525500" cy="13737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7312D6-8743-43FF-A494-77DA856B46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3122083"/>
            <a:ext cx="13525500" cy="6993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9E192F3-6521-4F50-9105-78DC14E6C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874183"/>
            <a:ext cx="13525500" cy="13737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A9FBBB9-56EA-4458-B1EA-993E20BB54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3122083"/>
            <a:ext cx="6286500" cy="6993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482E2B1-6293-4387-B817-5C253FBF6F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3122083"/>
            <a:ext cx="6286500" cy="6993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B15577-EC3A-402B-A77B-924B3DD8D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874183"/>
            <a:ext cx="13525500" cy="13737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DEE5E5-02A6-46DF-990F-C70D9B9A88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3122083"/>
            <a:ext cx="6286500" cy="6993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4b9d8f44ee4187" /><Relationship Type="http://schemas.openxmlformats.org/officeDocument/2006/relationships/slideLayout" Target="/ppt/slideLayouts/slideLayout1.xml" Id="Rf28a7f5636a345c8" /><Relationship Type="http://schemas.openxmlformats.org/officeDocument/2006/relationships/slideLayout" Target="/ppt/slideLayouts/slideLayout2.xml" Id="Rc37f98502794424e" /><Relationship Type="http://schemas.openxmlformats.org/officeDocument/2006/relationships/slideLayout" Target="/ppt/slideLayouts/slideLayout3.xml" Id="R589bae4444cf45aa" /><Relationship Type="http://schemas.openxmlformats.org/officeDocument/2006/relationships/slideLayout" Target="/ppt/slideLayouts/slideLayout4.xml" Id="R914ca684e1454098" /><Relationship Type="http://schemas.openxmlformats.org/officeDocument/2006/relationships/slideLayout" Target="/ppt/slideLayouts/slideLayout5.xml" Id="Re08e0e60860f4f6d" /><Relationship Type="http://schemas.openxmlformats.org/officeDocument/2006/relationships/slideLayout" Target="/ppt/slideLayouts/slideLayout6.xml" Id="Rbd8307ac845446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8a7f5636a345c8"/>
    <p:sldLayoutId xmlns:r="http://schemas.openxmlformats.org/officeDocument/2006/relationships" id="2147483650" r:id="Rc37f98502794424e"/>
    <p:sldLayoutId xmlns:r="http://schemas.openxmlformats.org/officeDocument/2006/relationships" id="2147483651" r:id="R589bae4444cf45aa"/>
    <p:sldLayoutId xmlns:r="http://schemas.openxmlformats.org/officeDocument/2006/relationships" id="2147483652" r:id="R914ca684e1454098"/>
    <p:sldLayoutId xmlns:r="http://schemas.openxmlformats.org/officeDocument/2006/relationships" id="2147483653" r:id="Re08e0e60860f4f6d"/>
    <p:sldLayoutId xmlns:r="http://schemas.openxmlformats.org/officeDocument/2006/relationships" id="2147483654" r:id="Rbd8307ac845446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db3317f48447e3" /><Relationship Type="http://schemas.openxmlformats.org/officeDocument/2006/relationships/image" Target="/ppt/media/image.png" Id="Rb0233b9653b24f81" /><Relationship Type="http://schemas.openxmlformats.org/officeDocument/2006/relationships/image" Target="/ppt/media/image.svg" Id="Ra957634879c74c7e" /><Relationship Type="http://schemas.openxmlformats.org/officeDocument/2006/relationships/image" Target="/ppt/media/image2.png" Id="R9c92d0d29f7d4f40" /><Relationship Type="http://schemas.openxmlformats.org/officeDocument/2006/relationships/image" Target="/ppt/media/image2.svg" Id="Rc31c2fd5555542ea" /><Relationship Type="http://schemas.openxmlformats.org/officeDocument/2006/relationships/image" Target="/ppt/media/image3.png" Id="R2742685667a94b78" /><Relationship Type="http://schemas.openxmlformats.org/officeDocument/2006/relationships/image" Target="/ppt/media/image3.svg" Id="R00f973bb50174435" /><Relationship Type="http://schemas.openxmlformats.org/officeDocument/2006/relationships/image" Target="/ppt/media/image4.png" Id="R252260cd00fe430b" /><Relationship Type="http://schemas.openxmlformats.org/officeDocument/2006/relationships/image" Target="/ppt/media/image4.svg" Id="R3f81271df0f744f0" /><Relationship Type="http://schemas.openxmlformats.org/officeDocument/2006/relationships/image" Target="/ppt/media/image5.png" Id="R748080433afa4ee9" /><Relationship Type="http://schemas.openxmlformats.org/officeDocument/2006/relationships/image" Target="/ppt/media/image5.svg" Id="R2cd81ce9df5041ad" /><Relationship Type="http://schemas.openxmlformats.org/officeDocument/2006/relationships/image" Target="/ppt/media/image6.png" Id="Rba52f0beff944d73" /><Relationship Type="http://schemas.openxmlformats.org/officeDocument/2006/relationships/image" Target="/ppt/media/image6.svg" Id="R8b8ff1214c6b408f" /><Relationship Type="http://schemas.openxmlformats.org/officeDocument/2006/relationships/image" Target="/ppt/media/image7.png" Id="R6ad5a8b1fdc3493c" /><Relationship Type="http://schemas.openxmlformats.org/officeDocument/2006/relationships/image" Target="/ppt/media/image7.svg" Id="R8904e0537bba4b6e" /><Relationship Type="http://schemas.openxmlformats.org/officeDocument/2006/relationships/image" Target="/ppt/media/image8.png" Id="Re07b55ff4f1341ac" /><Relationship Type="http://schemas.openxmlformats.org/officeDocument/2006/relationships/image" Target="/ppt/media/image8.svg" Id="Re9ea2cbacafe4465" /><Relationship Type="http://schemas.openxmlformats.org/officeDocument/2006/relationships/image" Target="/ppt/media/image9.png" Id="R533436a906054fae" /><Relationship Type="http://schemas.openxmlformats.org/officeDocument/2006/relationships/image" Target="/ppt/media/image9.svg" Id="R21b8dcf8eba54491" /><Relationship Type="http://schemas.openxmlformats.org/officeDocument/2006/relationships/notesSlide" Target="/ppt/notesSlides/notesSlide1.xml" Id="R0132c413491143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7b6ba2a8c94e97" /><Relationship Type="http://schemas.openxmlformats.org/officeDocument/2006/relationships/image" Target="/ppt/media/image10.png" Id="R60fda683fddb4126" /><Relationship Type="http://schemas.openxmlformats.org/officeDocument/2006/relationships/image" Target="/ppt/media/image11.png" Id="R114b4a74bd0045b8" /><Relationship Type="http://schemas.openxmlformats.org/officeDocument/2006/relationships/image" Target="/ppt/media/image12.png" Id="R247f4ed9384b40fb" /><Relationship Type="http://schemas.openxmlformats.org/officeDocument/2006/relationships/image" Target="/ppt/media/image13.png" Id="R6bdc164d58d94330" /><Relationship Type="http://schemas.openxmlformats.org/officeDocument/2006/relationships/image" Target="/ppt/media/image14.png" Id="R860ce6de8ec84e5c" /><Relationship Type="http://schemas.openxmlformats.org/officeDocument/2006/relationships/image" Target="/ppt/media/image10.svg" Id="R3ad41faca3f74bef" /><Relationship Type="http://schemas.openxmlformats.org/officeDocument/2006/relationships/notesSlide" Target="/ppt/notesSlides/notesSlide2.xml" Id="R866594a3a52943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b11afc60344f7b" /><Relationship Type="http://schemas.openxmlformats.org/officeDocument/2006/relationships/notesSlide" Target="/ppt/notesSlides/notesSlide3.xml" Id="R7631f09591e645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2BE8BF5-AB9D-4492-B4B1-ED5D0778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1123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label-1">
            <a:extLst xmlns:a="http://schemas.openxmlformats.org/drawingml/2006/main">
              <a:ext uri="{FF2B5EF4-FFF2-40B4-BE49-F238E27FC236}">
                <a16:creationId xmlns:a16="http://schemas.microsoft.com/office/drawing/2014/main" id="{45F01621-43B1-4859-9DA3-B590AAF5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9550"/>
            <a:ext cx="14287500" cy="5200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9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9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Enzora: automated enzyme design, selection and iteration</a:t>
            </a:r>
          </a:p>
        </p:txBody>
      </p:sp>
      <p:sp>
        <p:nvSpPr>
          <p:cNvPr id="3" name="label-2">
            <a:extLst xmlns:a="http://schemas.openxmlformats.org/drawingml/2006/main">
              <a:ext uri="{FF2B5EF4-FFF2-40B4-BE49-F238E27FC236}">
                <a16:creationId xmlns:a16="http://schemas.microsoft.com/office/drawing/2014/main" id="{B96AF128-ED36-4EF3-84F3-292EFFA6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41922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A finite candidate budget turns an expanding mutation space into testable designs.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6C07-AD04-4043-BE0E-ADA3926D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295400"/>
            <a:ext cx="14382750" cy="3028950"/>
          </a:xfrm>
          <a:prstGeom xmlns:a="http://schemas.openxmlformats.org/drawingml/2006/main" prst="roundRect">
            <a:avLst>
              <a:gd name="adj" fmla="val 5031"/>
            </a:avLst>
          </a:prstGeom>
          <a:solidFill xmlns:a="http://schemas.openxmlformats.org/drawingml/2006/main">
            <a:srgbClr val="F0F7F8"/>
          </a:solidFill>
          <a:ln xmlns:a="http://schemas.openxmlformats.org/drawingml/2006/main" w="0">
            <a:noFill/>
          </a:ln>
        </p:spPr>
      </p:sp>
      <p:sp>
        <p:nvSpPr>
          <p:cNvPr id="5" name="label-4">
            <a:extLst xmlns:a="http://schemas.openxmlformats.org/drawingml/2006/main">
              <a:ext uri="{FF2B5EF4-FFF2-40B4-BE49-F238E27FC236}">
                <a16:creationId xmlns:a16="http://schemas.microsoft.com/office/drawing/2014/main" id="{C11F83E7-C656-49B6-B4D0-92E4C7F6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9700"/>
            <a:ext cx="139065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  Budgeted mutation-library construction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CFF2B-7AA7-4ABD-9546-55640F630C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33b9653b24f81">
            <a:extLst>
              <a:ext uri="{96DAC541-7B7A-43D3-8B79-37D633B846F1}">
                <asvg:svgBlip xmlns:asvg="http://schemas.microsoft.com/office/drawing/2016/SVG/main" r:embed="Ra957634879c74c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" y="1981200"/>
            <a:ext cx="1714500" cy="1209675"/>
          </a:xfrm>
          <a:prstGeom xmlns:a="http://schemas.openxmlformats.org/drawingml/2006/main" prst="rect">
            <a:avLst/>
          </a:prstGeom>
        </p:spPr>
      </p:pic>
      <p:sp>
        <p:nvSpPr>
          <p:cNvPr id="7" name="label-6">
            <a:extLst xmlns:a="http://schemas.openxmlformats.org/drawingml/2006/main">
              <a:ext uri="{FF2B5EF4-FFF2-40B4-BE49-F238E27FC236}">
                <a16:creationId xmlns:a16="http://schemas.microsoft.com/office/drawing/2014/main" id="{93F7FCF5-C132-4896-BA9C-308B7BE0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0"/>
            <a:ext cx="2238375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Enzyme + substrate</a:t>
            </a:r>
          </a:p>
        </p:txBody>
      </p:sp>
      <p:sp>
        <p:nvSpPr>
          <p:cNvPr id="8" name="label-7">
            <a:extLst xmlns:a="http://schemas.openxmlformats.org/drawingml/2006/main">
              <a:ext uri="{FF2B5EF4-FFF2-40B4-BE49-F238E27FC236}">
                <a16:creationId xmlns:a16="http://schemas.microsoft.com/office/drawing/2014/main" id="{4A5D856D-1FF7-4A9D-B89B-0FF67442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544 aa WT · CO2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C8DB9-8557-4769-AB6B-9E87EB62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619375"/>
            <a:ext cx="52387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1BAB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55AD4-1BE3-49AA-AF43-93CD5AE0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62150"/>
            <a:ext cx="338137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AE91C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0EC8E-1784-4C0E-82F9-46C6E2B9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62150"/>
            <a:ext cx="76200" cy="504825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AE91C8"/>
          </a:solidFill>
          <a:ln xmlns:a="http://schemas.openxmlformats.org/drawingml/2006/main" w="0">
            <a:noFill/>
          </a:ln>
        </p:spPr>
      </p:sp>
      <p:sp>
        <p:nvSpPr>
          <p:cNvPr id="12" name="label-11">
            <a:extLst xmlns:a="http://schemas.openxmlformats.org/drawingml/2006/main">
              <a:ext uri="{FF2B5EF4-FFF2-40B4-BE49-F238E27FC236}">
                <a16:creationId xmlns:a16="http://schemas.microsoft.com/office/drawing/2014/main" id="{359D0EED-CB17-44A6-BB12-F4CEE184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19300"/>
            <a:ext cx="3000375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ProteinDPO</a:t>
            </a:r>
          </a:p>
        </p:txBody>
      </p:sp>
      <p:sp>
        <p:nvSpPr>
          <p:cNvPr id="13" name="label-12">
            <a:extLst xmlns:a="http://schemas.openxmlformats.org/drawingml/2006/main">
              <a:ext uri="{FF2B5EF4-FFF2-40B4-BE49-F238E27FC236}">
                <a16:creationId xmlns:a16="http://schemas.microsoft.com/office/drawing/2014/main" id="{B5B9435D-38D2-4977-A490-DC7A7E6B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66950"/>
            <a:ext cx="300037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Inverse folding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3C0407-4D63-49C5-9E2C-3CF9B51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71750"/>
            <a:ext cx="338137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1BAB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336578-5866-4363-A0F3-2DDACC58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71750"/>
            <a:ext cx="76200" cy="504825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81BABC"/>
          </a:solidFill>
          <a:ln xmlns:a="http://schemas.openxmlformats.org/drawingml/2006/main" w="0">
            <a:noFill/>
          </a:ln>
        </p:spPr>
      </p:sp>
      <p:sp>
        <p:nvSpPr>
          <p:cNvPr id="16" name="label-15">
            <a:extLst xmlns:a="http://schemas.openxmlformats.org/drawingml/2006/main">
              <a:ext uri="{FF2B5EF4-FFF2-40B4-BE49-F238E27FC236}">
                <a16:creationId xmlns:a16="http://schemas.microsoft.com/office/drawing/2014/main" id="{BC517424-53DB-416E-85AB-E7E6590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28900"/>
            <a:ext cx="3000375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EnzGFM</a:t>
            </a:r>
          </a:p>
        </p:txBody>
      </p:sp>
      <p:sp>
        <p:nvSpPr>
          <p:cNvPr id="17" name="label-16">
            <a:extLst xmlns:a="http://schemas.openxmlformats.org/drawingml/2006/main">
              <a:ext uri="{FF2B5EF4-FFF2-40B4-BE49-F238E27FC236}">
                <a16:creationId xmlns:a16="http://schemas.microsoft.com/office/drawing/2014/main" id="{C6C3D252-CF86-4511-954C-A4B2DAEA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300037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Enzyme-adapted PLM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B2591E-CD15-449E-873F-78D91BF8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81350"/>
            <a:ext cx="338137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8ACC9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D6914C-1B58-4A85-B96B-8A5CAF12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81350"/>
            <a:ext cx="76200" cy="504825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8ACC9"/>
          </a:solidFill>
          <a:ln xmlns:a="http://schemas.openxmlformats.org/drawingml/2006/main" w="0">
            <a:noFill/>
          </a:ln>
        </p:spPr>
      </p:sp>
      <p:sp>
        <p:nvSpPr>
          <p:cNvPr id="20" name="label-19">
            <a:extLst xmlns:a="http://schemas.openxmlformats.org/drawingml/2006/main">
              <a:ext uri="{FF2B5EF4-FFF2-40B4-BE49-F238E27FC236}">
                <a16:creationId xmlns:a16="http://schemas.microsoft.com/office/drawing/2014/main" id="{798B3A28-1B89-4227-A992-B26CE184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38500"/>
            <a:ext cx="3000375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VESM3</a:t>
            </a:r>
          </a:p>
        </p:txBody>
      </p:sp>
      <p:sp>
        <p:nvSpPr>
          <p:cNvPr id="21" name="label-20">
            <a:extLst xmlns:a="http://schemas.openxmlformats.org/drawingml/2006/main">
              <a:ext uri="{FF2B5EF4-FFF2-40B4-BE49-F238E27FC236}">
                <a16:creationId xmlns:a16="http://schemas.microsoft.com/office/drawing/2014/main" id="{1D942077-6357-4CA8-913C-10177DF6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486150"/>
            <a:ext cx="300037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Distilled multimodal ESM3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EBB4A-10A8-4C78-B122-7E5BB0D0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619375"/>
            <a:ext cx="552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1BABC"/>
          </a:solidFill>
          <a:ln xmlns:a="http://schemas.openxmlformats.org/drawingml/2006/main" w="0">
            <a:noFill/>
          </a:ln>
        </p:spPr>
      </p:sp>
      <p:sp>
        <p:nvSpPr>
          <p:cNvPr id="23" name="label-22">
            <a:extLst xmlns:a="http://schemas.openxmlformats.org/drawingml/2006/main">
              <a:ext uri="{FF2B5EF4-FFF2-40B4-BE49-F238E27FC236}">
                <a16:creationId xmlns:a16="http://schemas.microsoft.com/office/drawing/2014/main" id="{2B9C3FC2-DE67-41ED-8E8D-5556CE82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76450"/>
            <a:ext cx="314325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Align substitution effects</a:t>
            </a:r>
          </a:p>
        </p:txBody>
      </p:sp>
      <p:sp>
        <p:nvSpPr>
          <p:cNvPr id="24" name="label-23">
            <a:extLst xmlns:a="http://schemas.openxmlformats.org/drawingml/2006/main">
              <a:ext uri="{FF2B5EF4-FFF2-40B4-BE49-F238E27FC236}">
                <a16:creationId xmlns:a16="http://schemas.microsoft.com/office/drawing/2014/main" id="{C1A8E7DE-2786-4899-9334-23182C52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05075"/>
            <a:ext cx="314325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Quantile calibration</a:t>
            </a:r>
          </a:p>
        </p:txBody>
      </p:sp>
      <p:sp>
        <p:nvSpPr>
          <p:cNvPr id="25" name="label-24">
            <a:extLst xmlns:a="http://schemas.openxmlformats.org/drawingml/2006/main">
              <a:ext uri="{FF2B5EF4-FFF2-40B4-BE49-F238E27FC236}">
                <a16:creationId xmlns:a16="http://schemas.microsoft.com/office/drawing/2014/main" id="{F5AA6AF4-BA59-4DA3-A3B3-4C1782B7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867025"/>
            <a:ext cx="314325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Conservative ensemble</a:t>
            </a:r>
          </a:p>
        </p:txBody>
      </p:sp>
      <p:sp>
        <p:nvSpPr>
          <p:cNvPr id="26" name="label-25">
            <a:extLst xmlns:a="http://schemas.openxmlformats.org/drawingml/2006/main">
              <a:ext uri="{FF2B5EF4-FFF2-40B4-BE49-F238E27FC236}">
                <a16:creationId xmlns:a16="http://schemas.microsoft.com/office/drawing/2014/main" id="{664BEBC3-4FE8-441E-B4BE-30C8A89A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33750"/>
            <a:ext cx="3190875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Combine selected positions</a:t>
            </a:r>
          </a:p>
        </p:txBody>
      </p:sp>
      <p:sp>
        <p:nvSpPr>
          <p:cNvPr id="27" name="label-26">
            <a:extLst xmlns:a="http://schemas.openxmlformats.org/drawingml/2006/main">
              <a:ext uri="{FF2B5EF4-FFF2-40B4-BE49-F238E27FC236}">
                <a16:creationId xmlns:a16="http://schemas.microsoft.com/office/drawing/2014/main" id="{5EF7F47D-ADEA-4375-B361-370FCB4F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705225"/>
            <a:ext cx="3190875" cy="253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No exhaustive enumeration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20E60E-91D9-48C4-9F22-20E1F2AA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2619375"/>
            <a:ext cx="52387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1BABC"/>
          </a:solidFill>
          <a:ln xmlns:a="http://schemas.openxmlformats.org/drawingml/2006/main" w="0">
            <a:noFill/>
          </a:ln>
        </p:spPr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47FDB-2C29-4488-9629-B054225331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2d0d29f7d4f40">
            <a:extLst>
              <a:ext uri="{96DAC541-7B7A-43D3-8B79-37D633B846F1}">
                <asvg:svgBlip xmlns:asvg="http://schemas.microsoft.com/office/drawing/2016/SVG/main" r:embed="Rc31c2fd5555542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811000" y="1924050"/>
            <a:ext cx="2476500" cy="1685925"/>
          </a:xfrm>
          <a:prstGeom xmlns:a="http://schemas.openxmlformats.org/drawingml/2006/main" prst="rect">
            <a:avLst/>
          </a:prstGeom>
        </p:spPr>
      </p:pic>
      <p:sp>
        <p:nvSpPr>
          <p:cNvPr id="30" name="label-29">
            <a:extLst xmlns:a="http://schemas.openxmlformats.org/drawingml/2006/main">
              <a:ext uri="{FF2B5EF4-FFF2-40B4-BE49-F238E27FC236}">
                <a16:creationId xmlns:a16="http://schemas.microsoft.com/office/drawing/2014/main" id="{0E6F5F8F-79F7-429B-9DD9-E13A4103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3676650"/>
            <a:ext cx="27622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1,000 variants by default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C88222-2EAF-474C-8980-21F6BCE376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2685667a94b78">
            <a:extLst>
              <a:ext uri="{96DAC541-7B7A-43D3-8B79-37D633B846F1}">
                <asvg:svgBlip xmlns:asvg="http://schemas.microsoft.com/office/drawing/2016/SVG/main" r:embed="R00f973bb501744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85750" y="4333875"/>
            <a:ext cx="14478000" cy="781050"/>
          </a:xfrm>
          <a:prstGeom xmlns:a="http://schemas.openxmlformats.org/drawingml/2006/main" prst="rect">
            <a:avLst/>
          </a:prstGeom>
        </p:spPr>
      </p:pic>
      <p:sp>
        <p:nvSpPr>
          <p:cNvPr id="32" name="label-31">
            <a:extLst xmlns:a="http://schemas.openxmlformats.org/drawingml/2006/main">
              <a:ext uri="{FF2B5EF4-FFF2-40B4-BE49-F238E27FC236}">
                <a16:creationId xmlns:a16="http://schemas.microsoft.com/office/drawing/2014/main" id="{C616D790-9672-4E36-B58F-B3BD497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29150"/>
            <a:ext cx="76200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b  Confidence-informed multi-objective screening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5A0AF8-0999-4F5F-A56D-99FC369B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62550"/>
            <a:ext cx="2924175" cy="1314450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FAFBFD"/>
          </a:solidFill>
          <a:ln xmlns:a="http://schemas.openxmlformats.org/drawingml/2006/main" w="19050">
            <a:solidFill>
              <a:srgbClr val="AE91C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47F26C-F5E5-471A-811A-E94F318A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62550"/>
            <a:ext cx="2924175" cy="762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AE91C8"/>
          </a:solidFill>
          <a:ln xmlns:a="http://schemas.openxmlformats.org/drawingml/2006/main" w="0">
            <a:noFill/>
          </a:ln>
        </p:spPr>
      </p:sp>
      <p:sp>
        <p:nvSpPr>
          <p:cNvPr id="35" name="label-34">
            <a:extLst xmlns:a="http://schemas.openxmlformats.org/drawingml/2006/main">
              <a:ext uri="{FF2B5EF4-FFF2-40B4-BE49-F238E27FC236}">
                <a16:creationId xmlns:a16="http://schemas.microsoft.com/office/drawing/2014/main" id="{6592B07F-C9AC-4CFF-824E-DE8C5E70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24475"/>
            <a:ext cx="2571750" cy="346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PHENOM</a:t>
            </a:r>
          </a:p>
        </p:txBody>
      </p:sp>
      <p:sp>
        <p:nvSpPr>
          <p:cNvPr id="36" name="label-35">
            <a:extLst xmlns:a="http://schemas.openxmlformats.org/drawingml/2006/main">
              <a:ext uri="{FF2B5EF4-FFF2-40B4-BE49-F238E27FC236}">
                <a16:creationId xmlns:a16="http://schemas.microsoft.com/office/drawing/2014/main" id="{B10FC63B-E23B-4F22-8FAB-C1F77003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715000"/>
            <a:ext cx="25717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Catalytic activity</a:t>
            </a:r>
          </a:p>
        </p:txBody>
      </p:sp>
      <p:sp>
        <p:nvSpPr>
          <p:cNvPr id="37" name="label-36">
            <a:extLst xmlns:a="http://schemas.openxmlformats.org/drawingml/2006/main">
              <a:ext uri="{FF2B5EF4-FFF2-40B4-BE49-F238E27FC236}">
                <a16:creationId xmlns:a16="http://schemas.microsoft.com/office/drawing/2014/main" id="{0A78EF9B-B9CE-4654-A6FC-D147FF18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067425"/>
            <a:ext cx="25717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Gaussian-head uncertainty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5C0C68-515A-415A-9852-F20FF079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162550"/>
            <a:ext cx="2924175" cy="1314450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FAFBFD"/>
          </a:solidFill>
          <a:ln xmlns:a="http://schemas.openxmlformats.org/drawingml/2006/main" w="19050">
            <a:solidFill>
              <a:srgbClr val="81BABC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3B99E1-80F6-45D8-BADE-3CDCA4D0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162550"/>
            <a:ext cx="2924175" cy="762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81BABC"/>
          </a:solidFill>
          <a:ln xmlns:a="http://schemas.openxmlformats.org/drawingml/2006/main" w="0">
            <a:noFill/>
          </a:ln>
        </p:spPr>
      </p:sp>
      <p:sp>
        <p:nvSpPr>
          <p:cNvPr id="40" name="label-39">
            <a:extLst xmlns:a="http://schemas.openxmlformats.org/drawingml/2006/main">
              <a:ext uri="{FF2B5EF4-FFF2-40B4-BE49-F238E27FC236}">
                <a16:creationId xmlns:a16="http://schemas.microsoft.com/office/drawing/2014/main" id="{5D2B1C51-2AA9-4870-9FD4-0EE54DA7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24475"/>
            <a:ext cx="2571750" cy="346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EpHod</a:t>
            </a:r>
          </a:p>
        </p:txBody>
      </p:sp>
      <p:sp>
        <p:nvSpPr>
          <p:cNvPr id="41" name="label-40">
            <a:extLst xmlns:a="http://schemas.openxmlformats.org/drawingml/2006/main">
              <a:ext uri="{FF2B5EF4-FFF2-40B4-BE49-F238E27FC236}">
                <a16:creationId xmlns:a16="http://schemas.microsoft.com/office/drawing/2014/main" id="{7C6E1217-88E7-4577-9148-BD4F3DB4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715000"/>
            <a:ext cx="25717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Optimal pH</a:t>
            </a:r>
          </a:p>
        </p:txBody>
      </p:sp>
      <p:sp>
        <p:nvSpPr>
          <p:cNvPr id="42" name="label-41">
            <a:extLst xmlns:a="http://schemas.openxmlformats.org/drawingml/2006/main">
              <a:ext uri="{FF2B5EF4-FFF2-40B4-BE49-F238E27FC236}">
                <a16:creationId xmlns:a16="http://schemas.microsoft.com/office/drawing/2014/main" id="{1F1A87BA-E890-457B-A79B-D44C9942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067425"/>
            <a:ext cx="25717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Predictor disagreement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EF46C3-EB42-4FD6-8180-0121565A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162550"/>
            <a:ext cx="2924175" cy="1314450"/>
          </a:xfrm>
          <a:prstGeom xmlns:a="http://schemas.openxmlformats.org/drawingml/2006/main" prst="roundRect">
            <a:avLst>
              <a:gd name="adj" fmla="val 7246"/>
            </a:avLst>
          </a:prstGeom>
          <a:solidFill xmlns:a="http://schemas.openxmlformats.org/drawingml/2006/main">
            <a:srgbClr val="FAFBFD"/>
          </a:solidFill>
          <a:ln xmlns:a="http://schemas.openxmlformats.org/drawingml/2006/main" w="19050">
            <a:solidFill>
              <a:srgbClr val="E8ACC9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F7397F-797F-4643-8185-DF352197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162550"/>
            <a:ext cx="2924175" cy="762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8ACC9"/>
          </a:solidFill>
          <a:ln xmlns:a="http://schemas.openxmlformats.org/drawingml/2006/main" w="0">
            <a:noFill/>
          </a:ln>
        </p:spPr>
      </p:sp>
      <p:sp>
        <p:nvSpPr>
          <p:cNvPr id="45" name="label-44">
            <a:extLst xmlns:a="http://schemas.openxmlformats.org/drawingml/2006/main">
              <a:ext uri="{FF2B5EF4-FFF2-40B4-BE49-F238E27FC236}">
                <a16:creationId xmlns:a16="http://schemas.microsoft.com/office/drawing/2014/main" id="{189BB8DD-A6D2-450E-A93E-9F5EA618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24475"/>
            <a:ext cx="2571750" cy="346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UniStab</a:t>
            </a:r>
          </a:p>
        </p:txBody>
      </p:sp>
      <p:sp>
        <p:nvSpPr>
          <p:cNvPr id="46" name="label-45">
            <a:extLst xmlns:a="http://schemas.openxmlformats.org/drawingml/2006/main">
              <a:ext uri="{FF2B5EF4-FFF2-40B4-BE49-F238E27FC236}">
                <a16:creationId xmlns:a16="http://schemas.microsoft.com/office/drawing/2014/main" id="{CE4F3830-B83B-46A3-8C4E-DE74ABC6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715000"/>
            <a:ext cx="25717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Stability change</a:t>
            </a:r>
          </a:p>
        </p:txBody>
      </p:sp>
      <p:sp>
        <p:nvSpPr>
          <p:cNvPr id="47" name="label-46">
            <a:extLst xmlns:a="http://schemas.openxmlformats.org/drawingml/2006/main">
              <a:ext uri="{FF2B5EF4-FFF2-40B4-BE49-F238E27FC236}">
                <a16:creationId xmlns:a16="http://schemas.microsoft.com/office/drawing/2014/main" id="{6CCB4EB2-A0C7-4113-8410-1AA308DB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067425"/>
            <a:ext cx="25717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Head-dropout variation</a:t>
            </a:r>
          </a:p>
        </p:txBody>
      </p:sp>
      <p:pic>
        <p:nvPic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185ED9-6AF2-41EE-AF54-0512903221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260cd00fe430b">
            <a:extLst>
              <a:ext uri="{96DAC541-7B7A-43D3-8B79-37D633B846F1}">
                <asvg:svgBlip xmlns:asvg="http://schemas.microsoft.com/office/drawing/2016/SVG/main" r:embed="R3f81271df0f744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" y="6515100"/>
            <a:ext cx="9906000" cy="1181100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781BF9-A239-47CC-AB09-FB3B8550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543800"/>
            <a:ext cx="5095875" cy="1152525"/>
          </a:xfrm>
          <a:prstGeom xmlns:a="http://schemas.openxmlformats.org/drawingml/2006/main" prst="roundRect">
            <a:avLst>
              <a:gd name="adj" fmla="val 9917"/>
            </a:avLst>
          </a:prstGeom>
          <a:solidFill xmlns:a="http://schemas.openxmlformats.org/drawingml/2006/main">
            <a:srgbClr val="F2EDF8"/>
          </a:solidFill>
          <a:ln xmlns:a="http://schemas.openxmlformats.org/drawingml/2006/main" w="19050">
            <a:solidFill>
              <a:srgbClr val="AE91C8"/>
            </a:solidFill>
          </a:ln>
        </p:spPr>
      </p:sp>
      <p:pic>
        <p:nvPic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D0DBC9-CA8A-4147-B80C-9BD02EC8D2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8080433afa4ee9">
            <a:extLst>
              <a:ext uri="{96DAC541-7B7A-43D3-8B79-37D633B846F1}">
                <asvg:svgBlip xmlns:asvg="http://schemas.microsoft.com/office/drawing/2016/SVG/main" r:embed="R2cd81ce9df5041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67150" y="7686675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51" name="label-50">
            <a:extLst xmlns:a="http://schemas.openxmlformats.org/drawingml/2006/main">
              <a:ext uri="{FF2B5EF4-FFF2-40B4-BE49-F238E27FC236}">
                <a16:creationId xmlns:a16="http://schemas.microsoft.com/office/drawing/2014/main" id="{E16F7093-CDB1-458C-AEDA-BC1613D5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7677150"/>
            <a:ext cx="3762375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Enzora Assistant</a:t>
            </a:r>
          </a:p>
        </p:txBody>
      </p:sp>
      <p:sp>
        <p:nvSpPr>
          <p:cNvPr id="52" name="label-51">
            <a:extLst xmlns:a="http://schemas.openxmlformats.org/drawingml/2006/main">
              <a:ext uri="{FF2B5EF4-FFF2-40B4-BE49-F238E27FC236}">
                <a16:creationId xmlns:a16="http://schemas.microsoft.com/office/drawing/2014/main" id="{F82213D7-70F2-4996-928B-C0DE57DF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8067675"/>
            <a:ext cx="3762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Reads evidence; balances priorities</a:t>
            </a:r>
          </a:p>
        </p:txBody>
      </p:sp>
      <p:sp>
        <p:nvSpPr>
          <p:cNvPr id="53" name="label-52">
            <a:extLst xmlns:a="http://schemas.openxmlformats.org/drawingml/2006/main">
              <a:ext uri="{FF2B5EF4-FFF2-40B4-BE49-F238E27FC236}">
                <a16:creationId xmlns:a16="http://schemas.microsoft.com/office/drawing/2014/main" id="{8A5588D9-3A7E-4558-BCFB-FE64DFA4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8448675"/>
            <a:ext cx="4429125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Validated weights · Fixed WT reference</a:t>
            </a:r>
          </a:p>
        </p:txBody>
      </p:sp>
      <p:pic>
        <p:nvPic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C3231CD-7373-4328-AD1E-7CC644A909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2f0beff944d73">
            <a:extLst>
              <a:ext uri="{96DAC541-7B7A-43D3-8B79-37D633B846F1}">
                <asvg:svgBlip xmlns:asvg="http://schemas.microsoft.com/office/drawing/2016/SVG/main" r:embed="R8b8ff1214c6b40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" y="6896100"/>
            <a:ext cx="2228850" cy="1314450"/>
          </a:xfrm>
          <a:prstGeom xmlns:a="http://schemas.openxmlformats.org/drawingml/2006/main" prst="rect">
            <a:avLst/>
          </a:prstGeom>
        </p:spPr>
      </p:pic>
      <p:sp>
        <p:nvSpPr>
          <p:cNvPr id="55" name="label-54">
            <a:extLst xmlns:a="http://schemas.openxmlformats.org/drawingml/2006/main">
              <a:ext uri="{FF2B5EF4-FFF2-40B4-BE49-F238E27FC236}">
                <a16:creationId xmlns:a16="http://schemas.microsoft.com/office/drawing/2014/main" id="{F2102ECC-DB43-4112-ADB2-AF9CB4F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286750"/>
            <a:ext cx="2619375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Activity · pH · Stability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D29B898-D4E7-47AD-BED3-3F914BB6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638800"/>
            <a:ext cx="5524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606D"/>
          </a:solidFill>
          <a:ln xmlns:a="http://schemas.openxmlformats.org/drawingml/2006/main" w="0">
            <a:noFill/>
          </a:ln>
        </p:spPr>
      </p:sp>
      <p:pic>
        <p:nvPic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5FFD77-6926-4447-89A8-9C23C4015D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d5a8b1fdc3493c">
            <a:extLst>
              <a:ext uri="{96DAC541-7B7A-43D3-8B79-37D633B846F1}">
                <asvg:svgBlip xmlns:asvg="http://schemas.microsoft.com/office/drawing/2016/SVG/main" r:embed="R8904e0537bba4b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77575" y="4981575"/>
            <a:ext cx="3476625" cy="2114550"/>
          </a:xfrm>
          <a:prstGeom xmlns:a="http://schemas.openxmlformats.org/drawingml/2006/main" prst="rect">
            <a:avLst/>
          </a:prstGeom>
        </p:spPr>
      </p:pic>
      <p:sp>
        <p:nvSpPr>
          <p:cNvPr id="58" name="label-57">
            <a:extLst xmlns:a="http://schemas.openxmlformats.org/drawingml/2006/main">
              <a:ext uri="{FF2B5EF4-FFF2-40B4-BE49-F238E27FC236}">
                <a16:creationId xmlns:a16="http://schemas.microsoft.com/office/drawing/2014/main" id="{AEB8DFCD-6874-4D0E-A9A3-CE025819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7162800"/>
            <a:ext cx="3476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Ranked candidates</a:t>
            </a:r>
          </a:p>
        </p:txBody>
      </p:sp>
      <p:sp>
        <p:nvSpPr>
          <p:cNvPr id="59" name="label-58">
            <a:extLst xmlns:a="http://schemas.openxmlformats.org/drawingml/2006/main">
              <a:ext uri="{FF2B5EF4-FFF2-40B4-BE49-F238E27FC236}">
                <a16:creationId xmlns:a16="http://schemas.microsoft.com/office/drawing/2014/main" id="{0937C28A-9680-48C5-9846-DC57C8D3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756285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Protein designs + score evidence</a:t>
            </a:r>
          </a:p>
        </p:txBody>
      </p:sp>
      <p:sp>
        <p:nvSpPr>
          <p:cNvPr id="60" name="label-59">
            <a:extLst xmlns:a="http://schemas.openxmlformats.org/drawingml/2006/main">
              <a:ext uri="{FF2B5EF4-FFF2-40B4-BE49-F238E27FC236}">
                <a16:creationId xmlns:a16="http://schemas.microsoft.com/office/drawing/2014/main" id="{22A1CA3F-28B4-4737-8E9A-CAD89E24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79152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Top-K · report · coding DNA</a:t>
            </a:r>
          </a:p>
        </p:txBody>
      </p:sp>
      <p:sp>
        <p:nvSpPr>
          <p:cNvPr id="61" name="label-60">
            <a:extLst xmlns:a="http://schemas.openxmlformats.org/drawingml/2006/main">
              <a:ext uri="{FF2B5EF4-FFF2-40B4-BE49-F238E27FC236}">
                <a16:creationId xmlns:a16="http://schemas.microsoft.com/office/drawing/2014/main" id="{572C4A5F-CCBB-441F-9B3E-FF5AFCDB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8372475"/>
            <a:ext cx="3476625" cy="253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1">
                <a:solidFill>
                  <a:srgbClr val="173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73F8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F80"/>
                </a:solidFill>
                <a:latin typeface="Arial"/>
                <a:ea typeface="Arial"/>
                <a:cs typeface="Arial"/>
              </a:rPr>
              <a:t>Next-round parents / lab designs</a:t>
            </a:r>
          </a:p>
        </p:txBody>
      </p:sp>
      <p:sp>
        <p:nvSpPr>
          <p:cNvPr id="62" name="label-61">
            <a:extLst xmlns:a="http://schemas.openxmlformats.org/drawingml/2006/main">
              <a:ext uri="{FF2B5EF4-FFF2-40B4-BE49-F238E27FC236}">
                <a16:creationId xmlns:a16="http://schemas.microsoft.com/office/drawing/2014/main" id="{B1E5379F-89DD-4944-ABCB-390EB7F4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9077325"/>
            <a:ext cx="133350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c  Reuse the evidence in the next design cycle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AB92DDB-D52E-4836-83A2-7FAF1ED7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9563100"/>
            <a:ext cx="9144000" cy="676275"/>
          </a:xfrm>
          <a:prstGeom xmlns:a="http://schemas.openxmlformats.org/drawingml/2006/main" prst="roundRect">
            <a:avLst>
              <a:gd name="adj" fmla="val 14085"/>
            </a:avLst>
          </a:prstGeom>
          <a:solidFill xmlns:a="http://schemas.openxmlformats.org/drawingml/2006/main">
            <a:srgbClr val="EDF6F7"/>
          </a:solidFill>
          <a:ln xmlns:a="http://schemas.openxmlformats.org/drawingml/2006/main" w="0">
            <a:noFill/>
          </a:ln>
        </p:spPr>
      </p:sp>
      <p:sp>
        <p:nvSpPr>
          <p:cNvPr id="64" name="label-63">
            <a:extLst xmlns:a="http://schemas.openxmlformats.org/drawingml/2006/main">
              <a:ext uri="{FF2B5EF4-FFF2-40B4-BE49-F238E27FC236}">
                <a16:creationId xmlns:a16="http://schemas.microsoft.com/office/drawing/2014/main" id="{2F814F10-A87A-4BB6-BC1F-2054A048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658350"/>
            <a:ext cx="85725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In silico iteration through protein sequence-space exploration</a:t>
            </a:r>
          </a:p>
        </p:txBody>
      </p:sp>
      <p:sp>
        <p:nvSpPr>
          <p:cNvPr id="65" name="label-64">
            <a:extLst xmlns:a="http://schemas.openxmlformats.org/drawingml/2006/main">
              <a:ext uri="{FF2B5EF4-FFF2-40B4-BE49-F238E27FC236}">
                <a16:creationId xmlns:a16="http://schemas.microsoft.com/office/drawing/2014/main" id="{63217868-BD94-4D7F-B3BD-30AA991A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963150"/>
            <a:ext cx="857250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Select parents → add substitutions → predict and rank again</a:t>
            </a:r>
          </a:p>
        </p:txBody>
      </p:sp>
      <p:pic>
        <p:nvPic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4BDBAEE-DC52-4AF3-AE9B-84CEFBC209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b55ff4f1341ac">
            <a:extLst>
              <a:ext uri="{96DAC541-7B7A-43D3-8B79-37D633B846F1}">
                <asvg:svgBlip xmlns:asvg="http://schemas.microsoft.com/office/drawing/2016/SVG/main" r:embed="Re9ea2cbacafe44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10800" y="9448800"/>
            <a:ext cx="1219200" cy="723900"/>
          </a:xfrm>
          <a:prstGeom xmlns:a="http://schemas.openxmlformats.org/drawingml/2006/main" prst="rect">
            <a:avLst/>
          </a:prstGeom>
        </p:spPr>
      </p:pic>
      <p:sp>
        <p:nvSpPr>
          <p:cNvPr id="67" name="label-66">
            <a:extLst xmlns:a="http://schemas.openxmlformats.org/drawingml/2006/main">
              <a:ext uri="{FF2B5EF4-FFF2-40B4-BE49-F238E27FC236}">
                <a16:creationId xmlns:a16="http://schemas.microsoft.com/office/drawing/2014/main" id="{49619B0D-2BBA-4F6D-9A75-37901146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9075" y="9582150"/>
            <a:ext cx="304800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Lab-in-the-loop interface</a:t>
            </a:r>
          </a:p>
        </p:txBody>
      </p:sp>
      <p:sp>
        <p:nvSpPr>
          <p:cNvPr id="68" name="label-67">
            <a:extLst xmlns:a="http://schemas.openxmlformats.org/drawingml/2006/main">
              <a:ext uri="{FF2B5EF4-FFF2-40B4-BE49-F238E27FC236}">
                <a16:creationId xmlns:a16="http://schemas.microsoft.com/office/drawing/2014/main" id="{399BE9B0-B0BC-40E2-AC3A-4253F121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9075" y="9953625"/>
            <a:ext cx="304800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Assay feedback → next design</a:t>
            </a:r>
          </a:p>
        </p:txBody>
      </p:sp>
      <p:pic>
        <p:nvPic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38E2436-C325-4AA0-8BF3-A548715585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436a906054fae">
            <a:extLst>
              <a:ext uri="{96DAC541-7B7A-43D3-8B79-37D633B846F1}">
                <asvg:svgBlip xmlns:asvg="http://schemas.microsoft.com/office/drawing/2016/SVG/main" r:embed="R21b8dcf8eba544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0" y="0"/>
            <a:ext cx="15240000" cy="11239500"/>
          </a:xfrm>
          <a:prstGeom xmlns:a="http://schemas.openxmlformats.org/drawingml/2006/main" prst="rect">
            <a:avLst/>
          </a:prstGeom>
        </p:spPr>
      </p:pic>
      <p:sp>
        <p:nvSpPr>
          <p:cNvPr id="70" name="label-69">
            <a:extLst xmlns:a="http://schemas.openxmlformats.org/drawingml/2006/main">
              <a:ext uri="{FF2B5EF4-FFF2-40B4-BE49-F238E27FC236}">
                <a16:creationId xmlns:a16="http://schemas.microsoft.com/office/drawing/2014/main" id="{C8CDF8EB-2099-4EE5-9D19-D4E4F36C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953750"/>
            <a:ext cx="13906500" cy="226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Computational iterations are evaluated. Multi-round wet-lab feedback was not performed because of budget limits.</a:t>
            </a:r>
          </a:p>
        </p:txBody>
      </p:sp>
    </p:spTree>
    <p:extLst>
      <p:ext uri="{BB962C8B-B14F-4D97-AF65-F5344CB8AC3E}">
        <p14:creationId xmlns:p14="http://schemas.microsoft.com/office/powerpoint/2010/main" val="18434299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E9CDC0-549B-4446-82BC-0F6685D9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"/>
            <a:ext cx="15240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label-1">
            <a:extLst xmlns:a="http://schemas.openxmlformats.org/drawingml/2006/main">
              <a:ext uri="{FF2B5EF4-FFF2-40B4-BE49-F238E27FC236}">
                <a16:creationId xmlns:a16="http://schemas.microsoft.com/office/drawing/2014/main" id="{C25112FE-6C4F-4036-A59A-11B70CF5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38200"/>
            <a:ext cx="14192250" cy="573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How model evidence becomes a candidate score</a:t>
            </a:r>
          </a:p>
        </p:txBody>
      </p:sp>
      <p:sp>
        <p:nvSpPr>
          <p:cNvPr id="3" name="label-2">
            <a:extLst xmlns:a="http://schemas.openxmlformats.org/drawingml/2006/main">
              <a:ext uri="{FF2B5EF4-FFF2-40B4-BE49-F238E27FC236}">
                <a16:creationId xmlns:a16="http://schemas.microsoft.com/office/drawing/2014/main" id="{78924C1E-98C1-4A0E-9D1A-603A3A5F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409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Global priorities and candidate-specific uncertainty play different roles.</a:t>
            </a:r>
          </a:p>
        </p:txBody>
      </p:sp>
      <p:sp>
        <p:nvSpPr>
          <p:cNvPr id="4" name="label-3">
            <a:extLst xmlns:a="http://schemas.openxmlformats.org/drawingml/2006/main">
              <a:ext uri="{FF2B5EF4-FFF2-40B4-BE49-F238E27FC236}">
                <a16:creationId xmlns:a16="http://schemas.microsoft.com/office/drawing/2014/main" id="{1BB7C4F4-F0E5-4BF1-84BE-8C6CFA1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574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  Global priorities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7A734-A831-4A0A-B713-8F2A02316F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da683fddb4126"/>
          <a:stretch xmlns:a="http://schemas.openxmlformats.org/drawingml/2006/main"/>
        </p:blipFill>
        <p:spPr>
          <a:xfrm xmlns:a="http://schemas.openxmlformats.org/drawingml/2006/main">
            <a:off x="1105530" y="2581275"/>
            <a:ext cx="4427865" cy="1819275"/>
          </a:xfrm>
          <a:prstGeom xmlns:a="http://schemas.openxmlformats.org/drawingml/2006/main" prst="rect">
            <a:avLst/>
          </a:prstGeom>
        </p:spPr>
      </p:pic>
      <p:sp>
        <p:nvSpPr>
          <p:cNvPr id="6" name="label-5">
            <a:extLst xmlns:a="http://schemas.openxmlformats.org/drawingml/2006/main">
              <a:ext uri="{FF2B5EF4-FFF2-40B4-BE49-F238E27FC236}">
                <a16:creationId xmlns:a16="http://schemas.microsoft.com/office/drawing/2014/main" id="{238D4DDD-C1D6-4768-9C18-2FF272E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91050"/>
            <a:ext cx="64770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Preference sets the importance of each property.</a:t>
            </a:r>
          </a:p>
        </p:txBody>
      </p:sp>
      <p:sp>
        <p:nvSpPr>
          <p:cNvPr id="7" name="label-6">
            <a:extLst xmlns:a="http://schemas.openxmlformats.org/drawingml/2006/main">
              <a:ext uri="{FF2B5EF4-FFF2-40B4-BE49-F238E27FC236}">
                <a16:creationId xmlns:a16="http://schemas.microsoft.com/office/drawing/2014/main" id="{4BDBA52A-81EF-4C50-8824-CEF2B823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933950"/>
            <a:ext cx="64770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Confidence changes how much a predictor influences ranking.</a:t>
            </a:r>
          </a:p>
        </p:txBody>
      </p:sp>
      <p:sp>
        <p:nvSpPr>
          <p:cNvPr id="8" name="label-7">
            <a:extLst xmlns:a="http://schemas.openxmlformats.org/drawingml/2006/main">
              <a:ext uri="{FF2B5EF4-FFF2-40B4-BE49-F238E27FC236}">
                <a16:creationId xmlns:a16="http://schemas.microsoft.com/office/drawing/2014/main" id="{A172FE25-E57C-4348-855D-AA01A373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86375"/>
            <a:ext cx="64770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The three effective weights sum to one.</a:t>
            </a:r>
          </a:p>
        </p:txBody>
      </p:sp>
      <p:sp>
        <p:nvSpPr>
          <p:cNvPr id="9" name="label-8">
            <a:extLst xmlns:a="http://schemas.openxmlformats.org/drawingml/2006/main">
              <a:ext uri="{FF2B5EF4-FFF2-40B4-BE49-F238E27FC236}">
                <a16:creationId xmlns:a16="http://schemas.microsoft.com/office/drawing/2014/main" id="{6AB1B954-CC37-4112-BE15-ECBC508A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57400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b  Candidate-specific uncertainty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82B42-8605-474F-A6EA-DE84EF829E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b4a74bd0045b8"/>
          <a:stretch xmlns:a="http://schemas.openxmlformats.org/drawingml/2006/main"/>
        </p:blipFill>
        <p:spPr>
          <a:xfrm xmlns:a="http://schemas.openxmlformats.org/drawingml/2006/main">
            <a:off x="9048750" y="2593172"/>
            <a:ext cx="4191000" cy="1481157"/>
          </a:xfrm>
          <a:prstGeom xmlns:a="http://schemas.openxmlformats.org/drawingml/2006/main" prst="rect">
            <a:avLst/>
          </a:prstGeom>
        </p:spPr>
      </p:pic>
      <p:sp>
        <p:nvSpPr>
          <p:cNvPr id="11" name="label-10">
            <a:extLst xmlns:a="http://schemas.openxmlformats.org/drawingml/2006/main">
              <a:ext uri="{FF2B5EF4-FFF2-40B4-BE49-F238E27FC236}">
                <a16:creationId xmlns:a16="http://schemas.microsoft.com/office/drawing/2014/main" id="{229968D6-7853-4E12-BC0B-C973600E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76725"/>
            <a:ext cx="67627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Larger uncertainty reduces the size of a predicted gain or loss.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8ACBF-5EEA-400B-BE7A-03FAC880DE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7f4ed9384b40fb"/>
          <a:stretch xmlns:a="http://schemas.openxmlformats.org/drawingml/2006/main"/>
        </p:blipFill>
        <p:spPr>
          <a:xfrm xmlns:a="http://schemas.openxmlformats.org/drawingml/2006/main">
            <a:off x="8096250" y="4811387"/>
            <a:ext cx="6429375" cy="1130950"/>
          </a:xfrm>
          <a:prstGeom xmlns:a="http://schemas.openxmlformats.org/drawingml/2006/main" prst="rect">
            <a:avLst/>
          </a:prstGeom>
        </p:spPr>
      </p:pic>
      <p:sp>
        <p:nvSpPr>
          <p:cNvPr id="13" name="label-12">
            <a:extLst xmlns:a="http://schemas.openxmlformats.org/drawingml/2006/main">
              <a:ext uri="{FF2B5EF4-FFF2-40B4-BE49-F238E27FC236}">
                <a16:creationId xmlns:a16="http://schemas.microsoft.com/office/drawing/2014/main" id="{383770AE-3CEC-46F9-8211-C38BA5C4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6153150"/>
            <a:ext cx="67627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Gain compares the candidate with WT. Scales stay frozen.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5B576F-F192-4B86-9614-6B23A890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686550"/>
            <a:ext cx="1419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FDCE4"/>
            </a:solidFill>
          </a:ln>
        </p:spPr>
      </p:sp>
      <p:sp>
        <p:nvSpPr>
          <p:cNvPr id="15" name="label-14">
            <a:extLst xmlns:a="http://schemas.openxmlformats.org/drawingml/2006/main">
              <a:ext uri="{FF2B5EF4-FFF2-40B4-BE49-F238E27FC236}">
                <a16:creationId xmlns:a16="http://schemas.microsoft.com/office/drawing/2014/main" id="{394E2907-92E6-4B98-891A-D13D9143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99135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c  Final candidate score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7A883-4D3D-40DF-9787-9684DE4A4B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c164d58d94330"/>
          <a:stretch xmlns:a="http://schemas.openxmlformats.org/drawingml/2006/main"/>
        </p:blipFill>
        <p:spPr>
          <a:xfrm xmlns:a="http://schemas.openxmlformats.org/drawingml/2006/main">
            <a:off x="704850" y="7670006"/>
            <a:ext cx="3400425" cy="1700213"/>
          </a:xfrm>
          <a:prstGeom xmlns:a="http://schemas.openxmlformats.org/drawingml/2006/main" prst="rect">
            <a:avLst/>
          </a:prstGeom>
        </p:spPr>
      </p:pic>
      <p:sp>
        <p:nvSpPr>
          <p:cNvPr id="17" name="label-16">
            <a:extLst xmlns:a="http://schemas.openxmlformats.org/drawingml/2006/main">
              <a:ext uri="{FF2B5EF4-FFF2-40B4-BE49-F238E27FC236}">
                <a16:creationId xmlns:a16="http://schemas.microsoft.com/office/drawing/2014/main" id="{F6902A99-A085-41AA-88FF-30B383D1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7943850"/>
            <a:ext cx="3048000" cy="613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Combine the three</a:t>
            </a:r>
          </a:p>
          <a:p xmlns:a="http://schemas.openxmlformats.org/drawingml/2006/main">
            <a:pPr>
              <a:defRPr sz="17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normalized components.</a:t>
            </a:r>
          </a:p>
        </p:txBody>
      </p:sp>
      <p:sp>
        <p:nvSpPr>
          <p:cNvPr id="18" name="label-17">
            <a:extLst xmlns:a="http://schemas.openxmlformats.org/drawingml/2006/main">
              <a:ext uri="{FF2B5EF4-FFF2-40B4-BE49-F238E27FC236}">
                <a16:creationId xmlns:a16="http://schemas.microsoft.com/office/drawing/2014/main" id="{A25F6A27-4C0A-4B35-B912-9603DEB0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9775"/>
            <a:ext cx="657225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Threshold filters remain separate from ranking.</a:t>
            </a:r>
          </a:p>
        </p:txBody>
      </p:sp>
      <p:sp>
        <p:nvSpPr>
          <p:cNvPr id="19" name="label-18">
            <a:extLst xmlns:a="http://schemas.openxmlformats.org/drawingml/2006/main">
              <a:ext uri="{FF2B5EF4-FFF2-40B4-BE49-F238E27FC236}">
                <a16:creationId xmlns:a16="http://schemas.microsoft.com/office/drawing/2014/main" id="{2F5D1B32-51CA-4353-A2D5-5ADB561D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6991350"/>
            <a:ext cx="676275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d  Increasing uncertainty softens the evidence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BB831-F110-4BBA-8DA2-09F87EDEC8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ce6de8ec84e5c">
            <a:extLst>
              <a:ext uri="{96DAC541-7B7A-43D3-8B79-37D633B846F1}">
                <asvg:svgBlip xmlns:asvg="http://schemas.microsoft.com/office/drawing/2016/SVG/main" r:embed="R3ad41faca3f74b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953375" y="7477125"/>
            <a:ext cx="6762750" cy="2857500"/>
          </a:xfrm>
          <a:prstGeom xmlns:a="http://schemas.openxmlformats.org/drawingml/2006/main" prst="rect">
            <a:avLst/>
          </a:prstGeom>
        </p:spPr>
      </p:pic>
      <p:sp>
        <p:nvSpPr>
          <p:cNvPr id="21" name="label-20">
            <a:extLst xmlns:a="http://schemas.openxmlformats.org/drawingml/2006/main">
              <a:ext uri="{FF2B5EF4-FFF2-40B4-BE49-F238E27FC236}">
                <a16:creationId xmlns:a16="http://schemas.microsoft.com/office/drawing/2014/main" id="{476DECF6-89F5-489F-937D-893332C1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334625"/>
            <a:ext cx="69532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Analytical explanation of the implemented policy, not a calibration result.</a:t>
            </a:r>
          </a:p>
        </p:txBody>
      </p:sp>
    </p:spTree>
    <p:extLst>
      <p:ext uri="{BB962C8B-B14F-4D97-AF65-F5344CB8AC3E}">
        <p14:creationId xmlns:p14="http://schemas.microsoft.com/office/powerpoint/2010/main" val="1839124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9813FD-6125-4D26-88C9-3233ECB3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5240000" cy="952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label-1">
            <a:extLst xmlns:a="http://schemas.openxmlformats.org/drawingml/2006/main">
              <a:ext uri="{FF2B5EF4-FFF2-40B4-BE49-F238E27FC236}">
                <a16:creationId xmlns:a16="http://schemas.microsoft.com/office/drawing/2014/main" id="{B997E9F6-1CD4-4E91-AE5D-73CF83AF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19200"/>
            <a:ext cx="14192250" cy="573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Enzora as a software system</a:t>
            </a:r>
          </a:p>
        </p:txBody>
      </p:sp>
      <p:sp>
        <p:nvSpPr>
          <p:cNvPr id="3" name="label-2">
            <a:extLst xmlns:a="http://schemas.openxmlformats.org/drawingml/2006/main">
              <a:ext uri="{FF2B5EF4-FFF2-40B4-BE49-F238E27FC236}">
                <a16:creationId xmlns:a16="http://schemas.microsoft.com/office/drawing/2014/main" id="{AB5A8B02-F622-4283-8943-63601C13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38325"/>
            <a:ext cx="1409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A stable execution path with typed tools, persistent results and live progress.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D1838-CB74-4266-BF61-2FFEE96C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71775"/>
            <a:ext cx="428625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81BABC"/>
            </a:solidFill>
          </a:ln>
        </p:spPr>
      </p:sp>
      <p:sp>
        <p:nvSpPr>
          <p:cNvPr id="5" name="label-4">
            <a:extLst xmlns:a="http://schemas.openxmlformats.org/drawingml/2006/main">
              <a:ext uri="{FF2B5EF4-FFF2-40B4-BE49-F238E27FC236}">
                <a16:creationId xmlns:a16="http://schemas.microsoft.com/office/drawing/2014/main" id="{0612D1C3-5C38-44A5-96AA-DA1A9572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908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Browser workspace</a:t>
            </a:r>
          </a:p>
        </p:txBody>
      </p:sp>
      <p:sp>
        <p:nvSpPr>
          <p:cNvPr id="6" name="label-5">
            <a:extLst xmlns:a="http://schemas.openxmlformats.org/drawingml/2006/main">
              <a:ext uri="{FF2B5EF4-FFF2-40B4-BE49-F238E27FC236}">
                <a16:creationId xmlns:a16="http://schemas.microsoft.com/office/drawing/2014/main" id="{083E94B9-5FC8-44C6-9E11-3D458401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19500"/>
            <a:ext cx="3810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Sequence input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Screening controls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Maps, reports and exports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D84FFD-0C2B-49DF-9735-B3DE81A6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771775"/>
            <a:ext cx="428625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AE91C8"/>
            </a:solidFill>
          </a:ln>
        </p:spPr>
      </p:sp>
      <p:sp>
        <p:nvSpPr>
          <p:cNvPr id="8" name="label-7">
            <a:extLst xmlns:a="http://schemas.openxmlformats.org/drawingml/2006/main">
              <a:ext uri="{FF2B5EF4-FFF2-40B4-BE49-F238E27FC236}">
                <a16:creationId xmlns:a16="http://schemas.microsoft.com/office/drawing/2014/main" id="{DA4E1135-5456-4D9E-B1C7-A282A437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9908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Authenticated API</a:t>
            </a:r>
          </a:p>
        </p:txBody>
      </p:sp>
      <p:sp>
        <p:nvSpPr>
          <p:cNvPr id="9" name="label-8">
            <a:extLst xmlns:a="http://schemas.openxmlformats.org/drawingml/2006/main">
              <a:ext uri="{FF2B5EF4-FFF2-40B4-BE49-F238E27FC236}">
                <a16:creationId xmlns:a16="http://schemas.microsoft.com/office/drawing/2014/main" id="{30606BAE-E624-4F77-827B-4340F0D3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19500"/>
            <a:ext cx="3810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Validated requests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Live progress over SSE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Session-scoped Assistant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3F8163-E7AF-426A-A9D2-3D641AE6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771775"/>
            <a:ext cx="428625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8ACC9"/>
            </a:solidFill>
          </a:ln>
        </p:spPr>
      </p:sp>
      <p:sp>
        <p:nvSpPr>
          <p:cNvPr id="11" name="label-10">
            <a:extLst xmlns:a="http://schemas.openxmlformats.org/drawingml/2006/main">
              <a:ext uri="{FF2B5EF4-FFF2-40B4-BE49-F238E27FC236}">
                <a16:creationId xmlns:a16="http://schemas.microsoft.com/office/drawing/2014/main" id="{65F42669-C8AB-494E-A94A-9EB0679D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9908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Job scheduler</a:t>
            </a:r>
          </a:p>
        </p:txBody>
      </p:sp>
      <p:sp>
        <p:nvSpPr>
          <p:cNvPr id="12" name="label-11">
            <a:extLst xmlns:a="http://schemas.openxmlformats.org/drawingml/2006/main">
              <a:ext uri="{FF2B5EF4-FFF2-40B4-BE49-F238E27FC236}">
                <a16:creationId xmlns:a16="http://schemas.microsoft.com/office/drawing/2014/main" id="{B0929DEF-BD51-40DC-9863-EF1CF907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619500"/>
            <a:ext cx="3810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Persisted stage state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Explicit execution gates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Independent model jobs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F874AD-3DCE-4E3E-8BA6-D18E5023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90950"/>
            <a:ext cx="4286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606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3CA63E-E431-4338-982C-B70B6D44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90950"/>
            <a:ext cx="4286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606D"/>
          </a:solidFill>
          <a:ln xmlns:a="http://schemas.openxmlformats.org/drawingml/2006/main" w="0">
            <a:noFill/>
          </a:ln>
        </p:spPr>
      </p:sp>
      <p:sp>
        <p:nvSpPr>
          <p:cNvPr id="15" name="label-14">
            <a:extLst xmlns:a="http://schemas.openxmlformats.org/drawingml/2006/main">
              <a:ext uri="{FF2B5EF4-FFF2-40B4-BE49-F238E27FC236}">
                <a16:creationId xmlns:a16="http://schemas.microsoft.com/office/drawing/2014/main" id="{83EE3334-1A69-41BA-B074-4AD086AC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531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Data and tool contracts</a:t>
            </a:r>
          </a:p>
        </p:txBody>
      </p:sp>
      <p:sp>
        <p:nvSpPr>
          <p:cNvPr id="16" name="label-15">
            <a:extLst xmlns:a="http://schemas.openxmlformats.org/drawingml/2006/main">
              <a:ext uri="{FF2B5EF4-FFF2-40B4-BE49-F238E27FC236}">
                <a16:creationId xmlns:a16="http://schemas.microsoft.com/office/drawing/2014/main" id="{D6E3E127-68C2-4AB6-9AC1-696D4832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246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BioArtifact keeps sequences, predictions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and provenance together.</a:t>
            </a:r>
          </a:p>
        </p:txBody>
      </p:sp>
      <p:sp>
        <p:nvSpPr>
          <p:cNvPr id="17" name="label-16">
            <a:extLst xmlns:a="http://schemas.openxmlformats.org/drawingml/2006/main">
              <a:ext uri="{FF2B5EF4-FFF2-40B4-BE49-F238E27FC236}">
                <a16:creationId xmlns:a16="http://schemas.microsoft.com/office/drawing/2014/main" id="{10B333E5-BDA3-4777-AAE9-AFD60EA7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10565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ToolSpec and Tool Registry describe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supported capabilities.</a:t>
            </a:r>
          </a:p>
        </p:txBody>
      </p:sp>
      <p:sp>
        <p:nvSpPr>
          <p:cNvPr id="18" name="label-17">
            <a:extLst xmlns:a="http://schemas.openxmlformats.org/drawingml/2006/main">
              <a:ext uri="{FF2B5EF4-FFF2-40B4-BE49-F238E27FC236}">
                <a16:creationId xmlns:a16="http://schemas.microsoft.com/office/drawing/2014/main" id="{A02302C1-0C86-402D-8048-CC117960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867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Adapters prepare model inputs</a:t>
            </a:r>
          </a:p>
          <a:p xmlns:a="http://schemas.openxmlformats.org/drawingml/2006/main">
            <a:pPr>
              <a:defRPr sz="187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and validate returned outputs.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D2908-9140-499B-87C9-188F76AC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715000"/>
            <a:ext cx="676275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F2EDF8"/>
          </a:solidFill>
          <a:ln xmlns:a="http://schemas.openxmlformats.org/drawingml/2006/main" w="0">
            <a:noFill/>
          </a:ln>
        </p:spPr>
      </p:sp>
      <p:sp>
        <p:nvSpPr>
          <p:cNvPr id="20" name="label-19">
            <a:extLst xmlns:a="http://schemas.openxmlformats.org/drawingml/2006/main">
              <a:ext uri="{FF2B5EF4-FFF2-40B4-BE49-F238E27FC236}">
                <a16:creationId xmlns:a16="http://schemas.microsoft.com/office/drawing/2014/main" id="{94B11A6D-B87C-41E6-8689-F9475DEB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94360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Fixed computational stages</a:t>
            </a:r>
          </a:p>
        </p:txBody>
      </p:sp>
      <p:sp>
        <p:nvSpPr>
          <p:cNvPr id="21" name="label-20">
            <a:extLst xmlns:a="http://schemas.openxmlformats.org/drawingml/2006/main">
              <a:ext uri="{FF2B5EF4-FFF2-40B4-BE49-F238E27FC236}">
                <a16:creationId xmlns:a16="http://schemas.microsoft.com/office/drawing/2014/main" id="{6AD18C9C-ACA2-4A94-9820-CD6881BC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34150"/>
            <a:ext cx="628650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VESM library construction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F70687-2F72-4321-A47A-77F80E1A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6962775"/>
            <a:ext cx="180975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E91C8"/>
          </a:solidFill>
          <a:ln xmlns:a="http://schemas.openxmlformats.org/drawingml/2006/main" w="0">
            <a:noFill/>
          </a:ln>
        </p:spPr>
      </p:sp>
      <p:sp>
        <p:nvSpPr>
          <p:cNvPr id="23" name="label-22">
            <a:extLst xmlns:a="http://schemas.openxmlformats.org/drawingml/2006/main">
              <a:ext uri="{FF2B5EF4-FFF2-40B4-BE49-F238E27FC236}">
                <a16:creationId xmlns:a16="http://schemas.microsoft.com/office/drawing/2014/main" id="{463AE48B-BB49-4E9B-9E9C-152871B6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7048500"/>
            <a:ext cx="552450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Phenom, EpHod and UniStab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259D0A-8418-434A-A19A-7897F443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477125"/>
            <a:ext cx="180975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E91C8"/>
          </a:solidFill>
          <a:ln xmlns:a="http://schemas.openxmlformats.org/drawingml/2006/main" w="0">
            <a:noFill/>
          </a:ln>
        </p:spPr>
      </p:sp>
      <p:sp>
        <p:nvSpPr>
          <p:cNvPr id="25" name="label-24">
            <a:extLst xmlns:a="http://schemas.openxmlformats.org/drawingml/2006/main">
              <a:ext uri="{FF2B5EF4-FFF2-40B4-BE49-F238E27FC236}">
                <a16:creationId xmlns:a16="http://schemas.microsoft.com/office/drawing/2014/main" id="{1364D969-556F-4B01-B4B0-B4B0B496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7600950"/>
            <a:ext cx="552450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Scoring, Top-K, UMAP and reporting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2464A-47AD-4264-808D-B9587112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191125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E91C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F771F7-C69E-4384-B3BE-18B396F7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077325"/>
            <a:ext cx="14192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DF6F7"/>
          </a:solidFill>
          <a:ln xmlns:a="http://schemas.openxmlformats.org/drawingml/2006/main" w="0">
            <a:noFill/>
          </a:ln>
        </p:spPr>
      </p:sp>
      <p:sp>
        <p:nvSpPr>
          <p:cNvPr id="28" name="label-27">
            <a:extLst xmlns:a="http://schemas.openxmlformats.org/drawingml/2006/main">
              <a:ext uri="{FF2B5EF4-FFF2-40B4-BE49-F238E27FC236}">
                <a16:creationId xmlns:a16="http://schemas.microsoft.com/office/drawing/2014/main" id="{9F479C35-8E4F-4064-87DC-8DE75E06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258300"/>
            <a:ext cx="136207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033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333D"/>
                </a:solidFill>
                <a:latin typeface="Arial"/>
                <a:ea typeface="Arial"/>
                <a:cs typeface="Arial"/>
              </a:rPr>
              <a:t>Shared model weights stay separate from each run. Temporary graphs and logits are cleared after completion.</a:t>
            </a:r>
          </a:p>
        </p:txBody>
      </p:sp>
      <p:sp>
        <p:nvSpPr>
          <p:cNvPr id="29" name="label-28">
            <a:extLst xmlns:a="http://schemas.openxmlformats.org/drawingml/2006/main">
              <a:ext uri="{FF2B5EF4-FFF2-40B4-BE49-F238E27FC236}">
                <a16:creationId xmlns:a16="http://schemas.microsoft.com/office/drawing/2014/main" id="{EA788CCC-6BC1-4E2B-9540-6B94BFBB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077450"/>
            <a:ext cx="141922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B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B606D"/>
                </a:solidFill>
                <a:latin typeface="Arial"/>
                <a:ea typeface="Arial"/>
                <a:cs typeface="Arial"/>
              </a:rPr>
              <a:t>MiniMax requests tools through a bounded interface. The API validates parameters before changing a run.</a:t>
            </a:r>
          </a:p>
        </p:txBody>
      </p:sp>
    </p:spTree>
    <p:extLst>
      <p:ext uri="{BB962C8B-B14F-4D97-AF65-F5344CB8AC3E}">
        <p14:creationId xmlns:p14="http://schemas.microsoft.com/office/powerpoint/2010/main" val="15523452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2026-10-16T14:43:22.2590000Z</dcterms:created>
  <dcterms:modified xsi:type="dcterms:W3CDTF">2026-10-16T14:43:22.2590000Z</dcterms:modified>
</coreProperties>
</file>