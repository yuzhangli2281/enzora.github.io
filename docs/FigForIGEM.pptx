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0cda0f6c34882" /><Relationship Type="http://schemas.openxmlformats.org/officeDocument/2006/relationships/extended-properties" Target="/docProps/app.xml" Id="R471f3a26529e44dd" /><Relationship Type="http://schemas.openxmlformats.org/officeDocument/2006/relationships/officeDocument" Target="/ppt/presentation.xml" Id="R3a48198a3199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af444852554556"/>
  </p:sldMasterIdLst>
  <p:notesMasterIdLst>
    <p:notesMasterId xmlns:r="http://schemas.openxmlformats.org/officeDocument/2006/relationships" r:id="Rd6bce3e2c0124471"/>
  </p:notesMasterIdLst>
  <p:sldIdLst>
    <p:sldId xmlns:r="http://schemas.openxmlformats.org/officeDocument/2006/relationships" id="256" r:id="Rf261b47795d247d6"/>
    <p:sldId xmlns:r="http://schemas.openxmlformats.org/officeDocument/2006/relationships" id="257" r:id="R6233a6aeaa574515"/>
    <p:sldId xmlns:r="http://schemas.openxmlformats.org/officeDocument/2006/relationships" id="258" r:id="Rd7ad3a2779da4aaa"/>
  </p:sldIdLst>
  <p:sldSz cx="15240000" cy="1123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12e658b594f9c" /><Relationship Type="http://schemas.openxmlformats.org/officeDocument/2006/relationships/slideMaster" Target="/ppt/slideMasters/slideMaster1.xml" Id="R07af444852554556" /><Relationship Type="http://schemas.openxmlformats.org/officeDocument/2006/relationships/notesMaster" Target="/ppt/notesMasters/notesMaster1.xml" Id="Rd6bce3e2c0124471" /><Relationship Type="http://schemas.openxmlformats.org/officeDocument/2006/relationships/presProps" Target="/ppt/presProps.xml" Id="R8689ca8f2c0a456e" /><Relationship Type="http://schemas.openxmlformats.org/officeDocument/2006/relationships/tableStyles" Target="/ppt/tableStyles.xml" Id="R59583adaf4be401a" /><Relationship Type="http://schemas.openxmlformats.org/officeDocument/2006/relationships/slide" Target="/ppt/slides/slide1.xml" Id="Rf261b47795d247d6" /><Relationship Type="http://schemas.openxmlformats.org/officeDocument/2006/relationships/slide" Target="/ppt/slides/slide2.xml" Id="R6233a6aeaa574515" /><Relationship Type="http://schemas.openxmlformats.org/officeDocument/2006/relationships/slide" Target="/ppt/slides/slide3.xml" Id="Rd7ad3a2779da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b015c692f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9e44f4db14e27" /><Relationship Type="http://schemas.openxmlformats.org/officeDocument/2006/relationships/notesMaster" Target="/ppt/notesMasters/notesMaster1.xml" Id="R7b21184243e8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77074b17c7464c" /><Relationship Type="http://schemas.openxmlformats.org/officeDocument/2006/relationships/notesMaster" Target="/ppt/notesMasters/notesMaster1.xml" Id="R3533d1fcd40743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193370b1fc4349" /><Relationship Type="http://schemas.openxmlformats.org/officeDocument/2006/relationships/notesMaster" Target="/ppt/notesMasters/notesMaster1.xml" Id="R7d0c516f224c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stages connect a starting enzyme and substrate to predicted candidates. The UMAP inset uses ten real computational candidates, not experimental observations.</a:t>
            </a:r>
          </a:p>
          <a:p xmlns:a="http://schemas.openxmlformats.org/drawingml/2006/main">
            <a:r>
              <a:t>Sources: Enzora production workflow and fixed WT-reference scoring. UMAP coordinates come from the verified ten-candidate computational integration run. Input-fold component is coordinate-derived from the project prediction. Design direction: AnewOmni figure composition, DOI 10.64898/2026.03.12.711044. Equations: native PowerPoint LaTeX-to-OMML conversion, screenshot after conversion. The separate formula source preserves editable equations.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formula screenshots were created from LaTeX in PowerPoint. Curves show exact analytical functions, not measured model calibration.</a:t>
            </a:r>
          </a:p>
          <a:p xmlns:a="http://schemas.openxmlformats.org/drawingml/2006/main">
            <a:r>
              <a:t>Sources: Enzora production workflow and fixed WT-reference scoring. UMAP coordinates come from the verified ten-candidate computational integration run. Input-fold component is coordinate-derived from the project prediction. Design direction: AnewOmni figure composition, DOI 10.64898/2026.03.12.711044. Equations: native PowerPoint LaTeX-to-OMML conversion, screenshot after conversion. The separate formula source preserves editable equations.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communicates with an authenticated API. A persistent job scheduler runs fixed stages, while typed tools expose validated operations to the Assistant.</a:t>
            </a:r>
          </a:p>
          <a:p xmlns:a="http://schemas.openxmlformats.org/drawingml/2006/main">
            <a:r>
              <a:t>Sources: Enzora production workflow and fixed WT-reference scoring. UMAP coordinates come from the verified ten-candidate computational integration run. Input-fold component is coordinate-derived from the project prediction. Design direction: AnewOmni figure composition, DOI 10.64898/2026.03.12.711044. Equations: native PowerPoint LaTeX-to-OMML conversion, screenshot after conversion. The separate formula source preserves editable equations.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9efe8a84142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0c7b8bd6d44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13e48c9714c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44bb4dbf343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f12342f5e40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05c3277d442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8AED51-91DE-4BAA-916C-E79B0C5A1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246033"/>
            <a:ext cx="12192000" cy="162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2B9B4B-0EC6-4679-BA8D-66538A646C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6181725"/>
            <a:ext cx="10668000" cy="1248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31D0FD-63CF-48FC-B4A7-080C21C8A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683125"/>
            <a:ext cx="12192000" cy="187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F56095-67CD-4087-8F86-7B13EE059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74183"/>
            <a:ext cx="13525500" cy="137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6464F7-62BE-4FBD-814E-74A194D843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22083"/>
            <a:ext cx="13525500" cy="6993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DAB4F2-9105-4140-AA8B-A72A041E1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74183"/>
            <a:ext cx="13525500" cy="137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1D2F5C-3B38-4833-AE89-330E63E3F2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22083"/>
            <a:ext cx="6286500" cy="6993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17117A-F70A-40DC-964A-09CD52E819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3122083"/>
            <a:ext cx="6286500" cy="6993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CBD200-CDE5-46A1-9D50-758BEC5F7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74183"/>
            <a:ext cx="13525500" cy="137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9C7909-E335-4A2F-AC1E-E194BFD16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22083"/>
            <a:ext cx="6286500" cy="6993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29aa22ba948cc" /><Relationship Type="http://schemas.openxmlformats.org/officeDocument/2006/relationships/slideLayout" Target="/ppt/slideLayouts/slideLayout1.xml" Id="Re5c26af251eb4f0f" /><Relationship Type="http://schemas.openxmlformats.org/officeDocument/2006/relationships/slideLayout" Target="/ppt/slideLayouts/slideLayout2.xml" Id="R85f4b089625f4377" /><Relationship Type="http://schemas.openxmlformats.org/officeDocument/2006/relationships/slideLayout" Target="/ppt/slideLayouts/slideLayout3.xml" Id="R806b66ebf75b40b3" /><Relationship Type="http://schemas.openxmlformats.org/officeDocument/2006/relationships/slideLayout" Target="/ppt/slideLayouts/slideLayout4.xml" Id="R72eedc888c624981" /><Relationship Type="http://schemas.openxmlformats.org/officeDocument/2006/relationships/slideLayout" Target="/ppt/slideLayouts/slideLayout5.xml" Id="R8e782ae7e4e34544" /><Relationship Type="http://schemas.openxmlformats.org/officeDocument/2006/relationships/slideLayout" Target="/ppt/slideLayouts/slideLayout6.xml" Id="Rf8403edcafc8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26af251eb4f0f"/>
    <p:sldLayoutId xmlns:r="http://schemas.openxmlformats.org/officeDocument/2006/relationships" id="2147483650" r:id="R85f4b089625f4377"/>
    <p:sldLayoutId xmlns:r="http://schemas.openxmlformats.org/officeDocument/2006/relationships" id="2147483651" r:id="R806b66ebf75b40b3"/>
    <p:sldLayoutId xmlns:r="http://schemas.openxmlformats.org/officeDocument/2006/relationships" id="2147483652" r:id="R72eedc888c624981"/>
    <p:sldLayoutId xmlns:r="http://schemas.openxmlformats.org/officeDocument/2006/relationships" id="2147483653" r:id="R8e782ae7e4e34544"/>
    <p:sldLayoutId xmlns:r="http://schemas.openxmlformats.org/officeDocument/2006/relationships" id="2147483654" r:id="Rf8403edcafc8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b3bb39a6c4f70" /><Relationship Type="http://schemas.openxmlformats.org/officeDocument/2006/relationships/image" Target="/ppt/media/image.png" Id="R1594ca6d82cb435a" /><Relationship Type="http://schemas.openxmlformats.org/officeDocument/2006/relationships/image" Target="/ppt/media/image.svg" Id="Rcdae0befd9eb4aa6" /><Relationship Type="http://schemas.openxmlformats.org/officeDocument/2006/relationships/image" Target="/ppt/media/image2.png" Id="Rd4d0e206d4bf4c08" /><Relationship Type="http://schemas.openxmlformats.org/officeDocument/2006/relationships/image" Target="/ppt/media/image2.svg" Id="R309d115787f142a9" /><Relationship Type="http://schemas.openxmlformats.org/officeDocument/2006/relationships/image" Target="/ppt/media/image3.png" Id="Rb2d0bde8f6534a6c" /><Relationship Type="http://schemas.openxmlformats.org/officeDocument/2006/relationships/image" Target="/ppt/media/image3.svg" Id="Rbd4ac031ec70446d" /><Relationship Type="http://schemas.openxmlformats.org/officeDocument/2006/relationships/notesSlide" Target="/ppt/notesSlides/notesSlide1.xml" Id="R583b1f40012843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7de65a8e946d5" /><Relationship Type="http://schemas.openxmlformats.org/officeDocument/2006/relationships/image" Target="/ppt/media/image4.png" Id="Ra368f790b2654210" /><Relationship Type="http://schemas.openxmlformats.org/officeDocument/2006/relationships/image" Target="/ppt/media/image5.png" Id="Rabd01ac549ba4754" /><Relationship Type="http://schemas.openxmlformats.org/officeDocument/2006/relationships/image" Target="/ppt/media/image6.png" Id="R3490c31fa78e4c14" /><Relationship Type="http://schemas.openxmlformats.org/officeDocument/2006/relationships/image" Target="/ppt/media/image7.png" Id="R5ce1679696d5471d" /><Relationship Type="http://schemas.openxmlformats.org/officeDocument/2006/relationships/image" Target="/ppt/media/image8.png" Id="Ra439fc206acd4f4e" /><Relationship Type="http://schemas.openxmlformats.org/officeDocument/2006/relationships/image" Target="/ppt/media/image4.svg" Id="R282af99a05a04b56" /><Relationship Type="http://schemas.openxmlformats.org/officeDocument/2006/relationships/notesSlide" Target="/ppt/notesSlides/notesSlide2.xml" Id="Rea9f5c60d6cc44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18275ce044dc1" /><Relationship Type="http://schemas.openxmlformats.org/officeDocument/2006/relationships/notesSlide" Target="/ppt/notesSlides/notesSlide3.xml" Id="R675a632af3184f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ECE7E17-2A26-462A-8BAF-06681E1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23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label-1">
            <a:extLst xmlns:a="http://schemas.openxmlformats.org/drawingml/2006/main">
              <a:ext uri="{FF2B5EF4-FFF2-40B4-BE49-F238E27FC236}">
                <a16:creationId xmlns:a16="http://schemas.microsoft.com/office/drawing/2014/main" id="{727A6A67-1911-47E7-8DD5-79E8F44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4192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Enzora: mutations for the next experiment</a:t>
            </a:r>
          </a:p>
        </p:txBody>
      </p:sp>
      <p:sp>
        <p:nvSpPr>
          <p:cNvPr id="3" name="label-2">
            <a:extLst xmlns:a="http://schemas.openxmlformats.org/drawingml/2006/main">
              <a:ext uri="{FF2B5EF4-FFF2-40B4-BE49-F238E27FC236}">
                <a16:creationId xmlns:a16="http://schemas.microsoft.com/office/drawing/2014/main" id="{8A777D8F-2607-4C3F-9B34-46E4DD22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52500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Many possible substitutions. A limited budget for prediction and wet-lab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6F22E-540E-43D4-8DD3-1370EB6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41922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DF6F7"/>
          </a:solidFill>
          <a:ln xmlns:a="http://schemas.openxmlformats.org/drawingml/2006/main" w="0">
            <a:noFill/>
          </a:ln>
        </p:spPr>
      </p:sp>
      <p:sp>
        <p:nvSpPr>
          <p:cNvPr id="5" name="label-4">
            <a:extLst xmlns:a="http://schemas.openxmlformats.org/drawingml/2006/main">
              <a:ext uri="{FF2B5EF4-FFF2-40B4-BE49-F238E27FC236}">
                <a16:creationId xmlns:a16="http://schemas.microsoft.com/office/drawing/2014/main" id="{9CBD47AB-C740-4962-927B-1D7AF4FF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143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Starting enzyme and substrate</a:t>
            </a:r>
          </a:p>
        </p:txBody>
      </p:sp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F1FE06E9-131F-49BF-AE53-8D83EA4D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5143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Define the property you want to improve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19B4E-2B20-4FC5-BB79-C9E5E7F6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1BABC"/>
          </a:solidFill>
          <a:ln xmlns:a="http://schemas.openxmlformats.org/drawingml/2006/main" w="0">
            <a:noFill/>
          </a:ln>
        </p:spPr>
      </p:sp>
      <p:sp>
        <p:nvSpPr>
          <p:cNvPr id="8" name="label-7">
            <a:extLst xmlns:a="http://schemas.openxmlformats.org/drawingml/2006/main">
              <a:ext uri="{FF2B5EF4-FFF2-40B4-BE49-F238E27FC236}">
                <a16:creationId xmlns:a16="http://schemas.microsoft.com/office/drawing/2014/main" id="{4C2CC042-4A32-4225-AB1C-290084C6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709612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 ranked shortlist with traceable evidence</a:t>
            </a:r>
          </a:p>
        </p:txBody>
      </p:sp>
      <p:sp>
        <p:nvSpPr>
          <p:cNvPr id="9" name="label-8">
            <a:extLst xmlns:a="http://schemas.openxmlformats.org/drawingml/2006/main">
              <a:ext uri="{FF2B5EF4-FFF2-40B4-BE49-F238E27FC236}">
                <a16:creationId xmlns:a16="http://schemas.microsoft.com/office/drawing/2014/main" id="{1F9F416B-8158-404B-A540-307F1876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70961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Keep the sequence, predictions and design decisions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261D1-DBC8-4068-9D38-B063562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4286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9F4F4"/>
          </a:solidFill>
          <a:ln xmlns:a="http://schemas.openxmlformats.org/drawingml/2006/main" w="0">
            <a:noFill/>
          </a:ln>
        </p:spPr>
      </p:sp>
      <p:sp>
        <p:nvSpPr>
          <p:cNvPr id="11" name="label-10">
            <a:extLst xmlns:a="http://schemas.openxmlformats.org/drawingml/2006/main">
              <a:ext uri="{FF2B5EF4-FFF2-40B4-BE49-F238E27FC236}">
                <a16:creationId xmlns:a16="http://schemas.microsoft.com/office/drawing/2014/main" id="{3FF0F73C-0BB7-4EB3-9A70-F9CDAEF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05125"/>
            <a:ext cx="4000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01  Construct the mutation library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8D8C4-7A55-4C07-B29E-BD97F13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4286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0">
            <a:noFill/>
          </a:ln>
        </p:spPr>
      </p:sp>
      <p:sp>
        <p:nvSpPr>
          <p:cNvPr id="13" name="label-12">
            <a:extLst xmlns:a="http://schemas.openxmlformats.org/drawingml/2006/main">
              <a:ext uri="{FF2B5EF4-FFF2-40B4-BE49-F238E27FC236}">
                <a16:creationId xmlns:a16="http://schemas.microsoft.com/office/drawing/2014/main" id="{C2E8E91A-62E3-452E-9442-41E50CC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05125"/>
            <a:ext cx="4000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02  Predict and balance scores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01270-56EB-463A-BE33-2D38F527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00350"/>
            <a:ext cx="4286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BF0F5"/>
          </a:solidFill>
          <a:ln xmlns:a="http://schemas.openxmlformats.org/drawingml/2006/main" w="0">
            <a:noFill/>
          </a:ln>
        </p:spPr>
      </p:sp>
      <p:sp>
        <p:nvSpPr>
          <p:cNvPr id="15" name="label-14">
            <a:extLst xmlns:a="http://schemas.openxmlformats.org/drawingml/2006/main">
              <a:ext uri="{FF2B5EF4-FFF2-40B4-BE49-F238E27FC236}">
                <a16:creationId xmlns:a16="http://schemas.microsoft.com/office/drawing/2014/main" id="{75168B84-1CA7-485E-A96C-8E25D682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905125"/>
            <a:ext cx="4000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03  Inspect and export 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A47E2-5C3E-497F-8AF5-84C4823D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0" cy="689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E5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93C55-9407-4BF5-9C64-70C08C3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524250"/>
            <a:ext cx="0" cy="689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E5E9"/>
            </a:solidFill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9E7A1-5FD6-4ED1-8A35-A50B73CB3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4ca6d82cb435a">
            <a:extLst>
              <a:ext uri="{96DAC541-7B7A-43D3-8B79-37D633B846F1}">
                <asvg:svgBlip xmlns:asvg="http://schemas.microsoft.com/office/drawing/2016/SVG/main" r:embed="Rcdae0befd9eb4a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" y="3524250"/>
            <a:ext cx="1809750" cy="1600200"/>
          </a:xfrm>
          <a:prstGeom xmlns:a="http://schemas.openxmlformats.org/drawingml/2006/main" prst="rect">
            <a:avLst/>
          </a:prstGeom>
        </p:spPr>
      </p:pic>
      <p:sp>
        <p:nvSpPr>
          <p:cNvPr id="19" name="label-18">
            <a:extLst xmlns:a="http://schemas.openxmlformats.org/drawingml/2006/main">
              <a:ext uri="{FF2B5EF4-FFF2-40B4-BE49-F238E27FC236}">
                <a16:creationId xmlns:a16="http://schemas.microsoft.com/office/drawing/2014/main" id="{8E6EFABB-63D6-45B5-A544-42ECC28E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385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CO2 substrate</a:t>
            </a:r>
          </a:p>
        </p:txBody>
      </p:sp>
      <p:sp>
        <p:nvSpPr>
          <p:cNvPr id="20" name="label-19">
            <a:extLst xmlns:a="http://schemas.openxmlformats.org/drawingml/2006/main">
              <a:ext uri="{FF2B5EF4-FFF2-40B4-BE49-F238E27FC236}">
                <a16:creationId xmlns:a16="http://schemas.microsoft.com/office/drawing/2014/main" id="{ADA76060-34B1-4697-BD2E-0F0910C7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38625"/>
            <a:ext cx="19050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O = C = O</a:t>
            </a:r>
          </a:p>
        </p:txBody>
      </p:sp>
      <p:sp>
        <p:nvSpPr>
          <p:cNvPr id="21" name="label-20">
            <a:extLst xmlns:a="http://schemas.openxmlformats.org/drawingml/2006/main">
              <a:ext uri="{FF2B5EF4-FFF2-40B4-BE49-F238E27FC236}">
                <a16:creationId xmlns:a16="http://schemas.microsoft.com/office/drawing/2014/main" id="{86F33551-B758-475C-88E4-0C6EB455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404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544 aa carbonic anhydrase</a:t>
            </a:r>
          </a:p>
        </p:txBody>
      </p:sp>
      <p:sp>
        <p:nvSpPr>
          <p:cNvPr id="22" name="label-21">
            <a:extLst xmlns:a="http://schemas.openxmlformats.org/drawingml/2006/main">
              <a:ext uri="{FF2B5EF4-FFF2-40B4-BE49-F238E27FC236}">
                <a16:creationId xmlns:a16="http://schemas.microsoft.com/office/drawing/2014/main" id="{C26D8767-7D77-4A1A-B7A0-734265C9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Predicted input fold, residues 65–544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8956C-711C-4F98-A8CB-8A14268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019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D60CD-1834-4ED8-A09E-34A955A9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" cy="4953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sp>
        <p:nvSpPr>
          <p:cNvPr id="25" name="label-24">
            <a:extLst xmlns:a="http://schemas.openxmlformats.org/drawingml/2006/main">
              <a:ext uri="{FF2B5EF4-FFF2-40B4-BE49-F238E27FC236}">
                <a16:creationId xmlns:a16="http://schemas.microsoft.com/office/drawing/2014/main" id="{A1DDCADB-3133-464F-BE56-A279948E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18097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ProteinDPO</a:t>
            </a:r>
          </a:p>
        </p:txBody>
      </p:sp>
      <p:sp>
        <p:nvSpPr>
          <p:cNvPr id="26" name="label-25">
            <a:extLst xmlns:a="http://schemas.openxmlformats.org/drawingml/2006/main">
              <a:ext uri="{FF2B5EF4-FFF2-40B4-BE49-F238E27FC236}">
                <a16:creationId xmlns:a16="http://schemas.microsoft.com/office/drawing/2014/main" id="{804E2FCF-9A72-4A6C-BC69-D630D9CC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10300"/>
            <a:ext cx="19812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Inverse folding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7DD86-9B25-4B81-9AC4-F35B3AC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15125"/>
            <a:ext cx="4019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44F29-43C3-45CD-93BF-A260B87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15125"/>
            <a:ext cx="66675" cy="4953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1BABC"/>
          </a:solidFill>
          <a:ln xmlns:a="http://schemas.openxmlformats.org/drawingml/2006/main" w="0">
            <a:noFill/>
          </a:ln>
        </p:spPr>
      </p:sp>
      <p:sp>
        <p:nvSpPr>
          <p:cNvPr id="29" name="label-28">
            <a:extLst xmlns:a="http://schemas.openxmlformats.org/drawingml/2006/main">
              <a:ext uri="{FF2B5EF4-FFF2-40B4-BE49-F238E27FC236}">
                <a16:creationId xmlns:a16="http://schemas.microsoft.com/office/drawing/2014/main" id="{B6176E82-E1E6-4D74-8413-661CE8D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00850"/>
            <a:ext cx="18097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EnzGFM</a:t>
            </a:r>
          </a:p>
        </p:txBody>
      </p:sp>
      <p:sp>
        <p:nvSpPr>
          <p:cNvPr id="30" name="label-29">
            <a:extLst xmlns:a="http://schemas.openxmlformats.org/drawingml/2006/main">
              <a:ext uri="{FF2B5EF4-FFF2-40B4-BE49-F238E27FC236}">
                <a16:creationId xmlns:a16="http://schemas.microsoft.com/office/drawing/2014/main" id="{94FFA88E-DD98-4CB0-ACA9-FA105193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829425"/>
            <a:ext cx="19812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Enzyme-adapted PLM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7DF1F-CD91-48D0-B86A-8E6122A1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4019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D009B-F529-4F21-AE94-63D7640E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66675" cy="4953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CC9"/>
          </a:solidFill>
          <a:ln xmlns:a="http://schemas.openxmlformats.org/drawingml/2006/main" w="0">
            <a:noFill/>
          </a:ln>
        </p:spPr>
      </p:sp>
      <p:sp>
        <p:nvSpPr>
          <p:cNvPr id="33" name="label-32">
            <a:extLst xmlns:a="http://schemas.openxmlformats.org/drawingml/2006/main">
              <a:ext uri="{FF2B5EF4-FFF2-40B4-BE49-F238E27FC236}">
                <a16:creationId xmlns:a16="http://schemas.microsoft.com/office/drawing/2014/main" id="{EEE7158B-8AA9-40C0-BA08-7E2A5F92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9975"/>
            <a:ext cx="18097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VESM3</a:t>
            </a:r>
          </a:p>
        </p:txBody>
      </p:sp>
      <p:sp>
        <p:nvSpPr>
          <p:cNvPr id="34" name="label-33">
            <a:extLst xmlns:a="http://schemas.openxmlformats.org/drawingml/2006/main">
              <a:ext uri="{FF2B5EF4-FFF2-40B4-BE49-F238E27FC236}">
                <a16:creationId xmlns:a16="http://schemas.microsoft.com/office/drawing/2014/main" id="{C95750F8-3E18-4835-8A07-9F5A1C7A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448550"/>
            <a:ext cx="19812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Distilled ESM3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FBFBB1-6B83-4927-BC8B-CDAA83E3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972425"/>
            <a:ext cx="2095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sp>
        <p:nvSpPr>
          <p:cNvPr id="36" name="label-35">
            <a:extLst xmlns:a="http://schemas.openxmlformats.org/drawingml/2006/main">
              <a:ext uri="{FF2B5EF4-FFF2-40B4-BE49-F238E27FC236}">
                <a16:creationId xmlns:a16="http://schemas.microsoft.com/office/drawing/2014/main" id="{1DA1D632-CF1C-42F0-A7EF-370C25C2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448675"/>
            <a:ext cx="40481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Align single-substitution effects</a:t>
            </a:r>
          </a:p>
        </p:txBody>
      </p:sp>
      <p:sp>
        <p:nvSpPr>
          <p:cNvPr id="37" name="label-36">
            <a:extLst xmlns:a="http://schemas.openxmlformats.org/drawingml/2006/main">
              <a:ext uri="{FF2B5EF4-FFF2-40B4-BE49-F238E27FC236}">
                <a16:creationId xmlns:a16="http://schemas.microsoft.com/office/drawing/2014/main" id="{4E763851-14F7-4E1E-9586-EF0BBE7F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810625"/>
            <a:ext cx="40481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Keep the minimum across models</a:t>
            </a:r>
          </a:p>
        </p:txBody>
      </p:sp>
      <p:sp>
        <p:nvSpPr>
          <p:cNvPr id="38" name="label-37">
            <a:extLst xmlns:a="http://schemas.openxmlformats.org/drawingml/2006/main">
              <a:ext uri="{FF2B5EF4-FFF2-40B4-BE49-F238E27FC236}">
                <a16:creationId xmlns:a16="http://schemas.microsoft.com/office/drawing/2014/main" id="{CF3DADD5-887A-4139-8152-77844CA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011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1,000 unique variants by default</a:t>
            </a:r>
          </a:p>
        </p:txBody>
      </p:sp>
      <p:sp>
        <p:nvSpPr>
          <p:cNvPr id="39" name="label-38">
            <a:extLst xmlns:a="http://schemas.openxmlformats.org/drawingml/2006/main">
              <a:ext uri="{FF2B5EF4-FFF2-40B4-BE49-F238E27FC236}">
                <a16:creationId xmlns:a16="http://schemas.microsoft.com/office/drawing/2014/main" id="{DE3B22E2-0119-4480-8043-1059546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801225"/>
            <a:ext cx="4000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Choose mutation order and allowed sites</a:t>
            </a:r>
          </a:p>
        </p:txBody>
      </p:sp>
      <p:sp>
        <p:nvSpPr>
          <p:cNvPr id="40" name="label-39">
            <a:extLst xmlns:a="http://schemas.openxmlformats.org/drawingml/2006/main">
              <a:ext uri="{FF2B5EF4-FFF2-40B4-BE49-F238E27FC236}">
                <a16:creationId xmlns:a16="http://schemas.microsoft.com/office/drawing/2014/main" id="{3C0E6876-7E02-4AC0-8F07-FFF83CE8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34600"/>
            <a:ext cx="4000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Combine sites without full enumeration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AEDC6-6AD4-439C-B9E4-59D98762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324600"/>
            <a:ext cx="4667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06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04865B-B6B8-46CB-894E-0EAFBE6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67125"/>
            <a:ext cx="114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sp>
        <p:nvSpPr>
          <p:cNvPr id="43" name="label-42">
            <a:extLst xmlns:a="http://schemas.openxmlformats.org/drawingml/2006/main">
              <a:ext uri="{FF2B5EF4-FFF2-40B4-BE49-F238E27FC236}">
                <a16:creationId xmlns:a16="http://schemas.microsoft.com/office/drawing/2014/main" id="{5A69584C-3E55-43FF-8B16-36E273BB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3733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Phenom</a:t>
            </a:r>
          </a:p>
        </p:txBody>
      </p:sp>
      <p:sp>
        <p:nvSpPr>
          <p:cNvPr id="44" name="label-43">
            <a:extLst xmlns:a="http://schemas.openxmlformats.org/drawingml/2006/main">
              <a:ext uri="{FF2B5EF4-FFF2-40B4-BE49-F238E27FC236}">
                <a16:creationId xmlns:a16="http://schemas.microsoft.com/office/drawing/2014/main" id="{705ADB39-7E45-4F72-8351-7DC596FE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71925"/>
            <a:ext cx="37623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Activity and native uncertainty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2F7CC8-DE18-425E-BF49-3617B4B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33875"/>
            <a:ext cx="114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1BABC"/>
          </a:solidFill>
          <a:ln xmlns:a="http://schemas.openxmlformats.org/drawingml/2006/main" w="0">
            <a:noFill/>
          </a:ln>
        </p:spPr>
      </p:sp>
      <p:sp>
        <p:nvSpPr>
          <p:cNvPr id="46" name="label-45">
            <a:extLst xmlns:a="http://schemas.openxmlformats.org/drawingml/2006/main">
              <a:ext uri="{FF2B5EF4-FFF2-40B4-BE49-F238E27FC236}">
                <a16:creationId xmlns:a16="http://schemas.microsoft.com/office/drawing/2014/main" id="{43F99EB4-FFB5-4CE8-A140-62E15106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24350"/>
            <a:ext cx="3733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EpHod</a:t>
            </a:r>
          </a:p>
        </p:txBody>
      </p:sp>
      <p:sp>
        <p:nvSpPr>
          <p:cNvPr id="47" name="label-46">
            <a:extLst xmlns:a="http://schemas.openxmlformats.org/drawingml/2006/main">
              <a:ext uri="{FF2B5EF4-FFF2-40B4-BE49-F238E27FC236}">
                <a16:creationId xmlns:a16="http://schemas.microsoft.com/office/drawing/2014/main" id="{E40F199D-E113-4590-A0D3-D2AC7AF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38675"/>
            <a:ext cx="37623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Optimal pH and disagreement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75D274-2ED6-41BF-88F7-B0163B9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00625"/>
            <a:ext cx="114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CC9"/>
          </a:solidFill>
          <a:ln xmlns:a="http://schemas.openxmlformats.org/drawingml/2006/main" w="0">
            <a:noFill/>
          </a:ln>
        </p:spPr>
      </p:sp>
      <p:sp>
        <p:nvSpPr>
          <p:cNvPr id="49" name="label-48">
            <a:extLst xmlns:a="http://schemas.openxmlformats.org/drawingml/2006/main">
              <a:ext uri="{FF2B5EF4-FFF2-40B4-BE49-F238E27FC236}">
                <a16:creationId xmlns:a16="http://schemas.microsoft.com/office/drawing/2014/main" id="{D824A1FC-7685-4BA4-9035-B89C71F9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91100"/>
            <a:ext cx="3733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UniStab</a:t>
            </a:r>
          </a:p>
        </p:txBody>
      </p:sp>
      <p:sp>
        <p:nvSpPr>
          <p:cNvPr id="50" name="label-49">
            <a:extLst xmlns:a="http://schemas.openxmlformats.org/drawingml/2006/main">
              <a:ext uri="{FF2B5EF4-FFF2-40B4-BE49-F238E27FC236}">
                <a16:creationId xmlns:a16="http://schemas.microsoft.com/office/drawing/2014/main" id="{DCC05305-B796-43A4-B651-B85149AA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37623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Stability change and variation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4F019B-9006-4F3E-A0DC-0BFC5C6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743575"/>
            <a:ext cx="1905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9B4610-3D9E-49C4-8CF4-FBFD5EFDB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0e206d4bf4c08">
            <a:extLst>
              <a:ext uri="{96DAC541-7B7A-43D3-8B79-37D633B846F1}">
                <asvg:svgBlip xmlns:asvg="http://schemas.microsoft.com/office/drawing/2016/SVG/main" r:embed="R309d115787f142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0" y="635317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53" name="label-52">
            <a:extLst xmlns:a="http://schemas.openxmlformats.org/drawingml/2006/main">
              <a:ext uri="{FF2B5EF4-FFF2-40B4-BE49-F238E27FC236}">
                <a16:creationId xmlns:a16="http://schemas.microsoft.com/office/drawing/2014/main" id="{730E1698-5984-4423-83E3-F1D4AC94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372225"/>
            <a:ext cx="31432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Enzora Assistant</a:t>
            </a:r>
          </a:p>
        </p:txBody>
      </p:sp>
      <p:sp>
        <p:nvSpPr>
          <p:cNvPr id="54" name="label-53">
            <a:extLst xmlns:a="http://schemas.openxmlformats.org/drawingml/2006/main">
              <a:ext uri="{FF2B5EF4-FFF2-40B4-BE49-F238E27FC236}">
                <a16:creationId xmlns:a16="http://schemas.microsoft.com/office/drawing/2014/main" id="{B337DA56-DBE1-4C22-9155-2C8EA94A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762750"/>
            <a:ext cx="314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MiniMax tool use</a:t>
            </a:r>
          </a:p>
        </p:txBody>
      </p:sp>
      <p:sp>
        <p:nvSpPr>
          <p:cNvPr id="55" name="label-54">
            <a:extLst xmlns:a="http://schemas.openxmlformats.org/drawingml/2006/main">
              <a:ext uri="{FF2B5EF4-FFF2-40B4-BE49-F238E27FC236}">
                <a16:creationId xmlns:a16="http://schemas.microsoft.com/office/drawing/2014/main" id="{17834C67-2B39-4D34-9815-0F9CB282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315200"/>
            <a:ext cx="40481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Reads predictions and uncertainty</a:t>
            </a:r>
          </a:p>
        </p:txBody>
      </p:sp>
      <p:sp>
        <p:nvSpPr>
          <p:cNvPr id="56" name="label-55">
            <a:extLst xmlns:a="http://schemas.openxmlformats.org/drawingml/2006/main">
              <a:ext uri="{FF2B5EF4-FFF2-40B4-BE49-F238E27FC236}">
                <a16:creationId xmlns:a16="http://schemas.microsoft.com/office/drawing/2014/main" id="{2845B221-AEDB-4170-98CB-588AF99A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77150"/>
            <a:ext cx="40481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Requests bounded changes to weights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A4809D-07F4-4FAB-BCFE-82FCED1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53400"/>
            <a:ext cx="3952875" cy="542925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19050">
            <a:solidFill>
              <a:srgbClr val="AE91C8"/>
            </a:solidFill>
          </a:ln>
        </p:spPr>
      </p:sp>
      <p:sp>
        <p:nvSpPr>
          <p:cNvPr id="58" name="label-57">
            <a:extLst xmlns:a="http://schemas.openxmlformats.org/drawingml/2006/main">
              <a:ext uri="{FF2B5EF4-FFF2-40B4-BE49-F238E27FC236}">
                <a16:creationId xmlns:a16="http://schemas.microsoft.com/office/drawing/2014/main" id="{70223E04-7F6E-4ED9-833B-159FD264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286750"/>
            <a:ext cx="3571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Validate and record the policy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6D9DD9-2FED-43F3-89DA-479A0A44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848725"/>
            <a:ext cx="1905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sp>
        <p:nvSpPr>
          <p:cNvPr id="60" name="label-59">
            <a:extLst xmlns:a="http://schemas.openxmlformats.org/drawingml/2006/main">
              <a:ext uri="{FF2B5EF4-FFF2-40B4-BE49-F238E27FC236}">
                <a16:creationId xmlns:a16="http://schemas.microsoft.com/office/drawing/2014/main" id="{63E994AD-9E1E-4BD0-AA40-B0EE1E25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391650"/>
            <a:ext cx="404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Rank against a fixed WT reference</a:t>
            </a:r>
          </a:p>
        </p:txBody>
      </p:sp>
      <p:sp>
        <p:nvSpPr>
          <p:cNvPr id="61" name="label-60">
            <a:extLst xmlns:a="http://schemas.openxmlformats.org/drawingml/2006/main">
              <a:ext uri="{FF2B5EF4-FFF2-40B4-BE49-F238E27FC236}">
                <a16:creationId xmlns:a16="http://schemas.microsoft.com/office/drawing/2014/main" id="{56757AD7-D6C3-4F29-B179-7D63516C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772650"/>
            <a:ext cx="4048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Uncertain gains shrink towards neutral</a:t>
            </a:r>
          </a:p>
        </p:txBody>
      </p:sp>
      <p:sp>
        <p:nvSpPr>
          <p:cNvPr id="62" name="label-61">
            <a:extLst xmlns:a="http://schemas.openxmlformats.org/drawingml/2006/main">
              <a:ext uri="{FF2B5EF4-FFF2-40B4-BE49-F238E27FC236}">
                <a16:creationId xmlns:a16="http://schemas.microsoft.com/office/drawing/2014/main" id="{63869D28-217D-47C4-94DD-EBB2EE99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115550"/>
            <a:ext cx="4048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Apply target and threshold filters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BC988F-A0FC-4702-A169-EBCE8BB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324600"/>
            <a:ext cx="4667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06D"/>
          </a:solidFill>
          <a:ln xmlns:a="http://schemas.openxmlformats.org/drawingml/2006/main" w="0">
            <a:noFill/>
          </a:ln>
        </p:spPr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828082-DFCF-496F-8664-C161D8BF9A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0bde8f6534a6c">
            <a:extLst>
              <a:ext uri="{96DAC541-7B7A-43D3-8B79-37D633B846F1}">
                <asvg:svgBlip xmlns:asvg="http://schemas.microsoft.com/office/drawing/2016/SVG/main" r:embed="Rbd4ac031ec7044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01325" y="3448050"/>
            <a:ext cx="4057650" cy="2647950"/>
          </a:xfrm>
          <a:prstGeom xmlns:a="http://schemas.openxmlformats.org/drawingml/2006/main" prst="rect">
            <a:avLst/>
          </a:prstGeom>
        </p:spPr>
      </p:pic>
      <p:sp>
        <p:nvSpPr>
          <p:cNvPr id="65" name="label-64">
            <a:extLst xmlns:a="http://schemas.openxmlformats.org/drawingml/2006/main">
              <a:ext uri="{FF2B5EF4-FFF2-40B4-BE49-F238E27FC236}">
                <a16:creationId xmlns:a16="http://schemas.microsoft.com/office/drawing/2014/main" id="{A04CAB9A-1969-4793-8E57-AE24D7FC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172200"/>
            <a:ext cx="3952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Real 10-candidate UMAP example</a:t>
            </a:r>
          </a:p>
        </p:txBody>
      </p:sp>
      <p:sp>
        <p:nvSpPr>
          <p:cNvPr id="66" name="label-65">
            <a:extLst xmlns:a="http://schemas.openxmlformats.org/drawingml/2006/main">
              <a:ext uri="{FF2B5EF4-FFF2-40B4-BE49-F238E27FC236}">
                <a16:creationId xmlns:a16="http://schemas.microsoft.com/office/drawing/2014/main" id="{D1EB9633-8369-4A3E-A470-DA8E0FC6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734175"/>
            <a:ext cx="3952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The changed residue stays visible</a:t>
            </a:r>
          </a:p>
        </p:txBody>
      </p:sp>
      <p:sp>
        <p:nvSpPr>
          <p:cNvPr id="67" name="label-66">
            <a:extLst xmlns:a="http://schemas.openxmlformats.org/drawingml/2006/main">
              <a:ext uri="{FF2B5EF4-FFF2-40B4-BE49-F238E27FC236}">
                <a16:creationId xmlns:a16="http://schemas.microsoft.com/office/drawing/2014/main" id="{9EDB7B8C-C451-4AC5-8D9A-47AAD2A5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71628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WT</a:t>
            </a:r>
          </a:p>
        </p:txBody>
      </p:sp>
      <p:sp>
        <p:nvSpPr>
          <p:cNvPr id="68" name="label-67">
            <a:extLst xmlns:a="http://schemas.openxmlformats.org/drawingml/2006/main">
              <a:ext uri="{FF2B5EF4-FFF2-40B4-BE49-F238E27FC236}">
                <a16:creationId xmlns:a16="http://schemas.microsoft.com/office/drawing/2014/main" id="{2CC39CFA-43D4-4AF0-8713-EE53CEBC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9" name="label-68">
            <a:extLst xmlns:a="http://schemas.openxmlformats.org/drawingml/2006/main">
              <a:ext uri="{FF2B5EF4-FFF2-40B4-BE49-F238E27FC236}">
                <a16:creationId xmlns:a16="http://schemas.microsoft.com/office/drawing/2014/main" id="{EC3DDFA9-EC11-4F8F-9B9C-AB6D62C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label-69">
            <a:extLst xmlns:a="http://schemas.openxmlformats.org/drawingml/2006/main">
              <a:ext uri="{FF2B5EF4-FFF2-40B4-BE49-F238E27FC236}">
                <a16:creationId xmlns:a16="http://schemas.microsoft.com/office/drawing/2014/main" id="{4BC3BE5F-2D74-4CE9-90E0-137F18FC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1" name="label-70">
            <a:extLst xmlns:a="http://schemas.openxmlformats.org/drawingml/2006/main">
              <a:ext uri="{FF2B5EF4-FFF2-40B4-BE49-F238E27FC236}">
                <a16:creationId xmlns:a16="http://schemas.microsoft.com/office/drawing/2014/main" id="{051BCA0A-C8F2-4379-AF66-0E58D4A3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2" name="label-71">
            <a:extLst xmlns:a="http://schemas.openxmlformats.org/drawingml/2006/main">
              <a:ext uri="{FF2B5EF4-FFF2-40B4-BE49-F238E27FC236}">
                <a16:creationId xmlns:a16="http://schemas.microsoft.com/office/drawing/2014/main" id="{0237319C-FB8B-49F9-AEAD-4B235B6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3" name="label-72">
            <a:extLst xmlns:a="http://schemas.openxmlformats.org/drawingml/2006/main">
              <a:ext uri="{FF2B5EF4-FFF2-40B4-BE49-F238E27FC236}">
                <a16:creationId xmlns:a16="http://schemas.microsoft.com/office/drawing/2014/main" id="{ACB41B10-8409-44CD-99AB-15A9F394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74" name="label-73">
            <a:extLst xmlns:a="http://schemas.openxmlformats.org/drawingml/2006/main">
              <a:ext uri="{FF2B5EF4-FFF2-40B4-BE49-F238E27FC236}">
                <a16:creationId xmlns:a16="http://schemas.microsoft.com/office/drawing/2014/main" id="{442E22F7-EE74-4B77-A501-0162D0C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75" name="label-74">
            <a:extLst xmlns:a="http://schemas.openxmlformats.org/drawingml/2006/main">
              <a:ext uri="{FF2B5EF4-FFF2-40B4-BE49-F238E27FC236}">
                <a16:creationId xmlns:a16="http://schemas.microsoft.com/office/drawing/2014/main" id="{D590CDF4-A115-4262-9BEF-7E47CF14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6" name="label-75">
            <a:extLst xmlns:a="http://schemas.openxmlformats.org/drawingml/2006/main">
              <a:ext uri="{FF2B5EF4-FFF2-40B4-BE49-F238E27FC236}">
                <a16:creationId xmlns:a16="http://schemas.microsoft.com/office/drawing/2014/main" id="{65C132CC-637E-4F60-956B-C5EE81FA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77" name="label-76">
            <a:extLst xmlns:a="http://schemas.openxmlformats.org/drawingml/2006/main">
              <a:ext uri="{FF2B5EF4-FFF2-40B4-BE49-F238E27FC236}">
                <a16:creationId xmlns:a16="http://schemas.microsoft.com/office/drawing/2014/main" id="{BAA4CB52-BFD5-4034-A5FA-B821783B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714375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78" name="label-77">
            <a:extLst xmlns:a="http://schemas.openxmlformats.org/drawingml/2006/main">
              <a:ext uri="{FF2B5EF4-FFF2-40B4-BE49-F238E27FC236}">
                <a16:creationId xmlns:a16="http://schemas.microsoft.com/office/drawing/2014/main" id="{A214337D-F823-44F2-85A3-A67E90C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75247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N32A</a:t>
            </a:r>
          </a:p>
        </p:txBody>
      </p:sp>
      <p:sp>
        <p:nvSpPr>
          <p:cNvPr id="79" name="label-78">
            <a:extLst xmlns:a="http://schemas.openxmlformats.org/drawingml/2006/main">
              <a:ext uri="{FF2B5EF4-FFF2-40B4-BE49-F238E27FC236}">
                <a16:creationId xmlns:a16="http://schemas.microsoft.com/office/drawing/2014/main" id="{A1E527D3-9288-47B5-B6E6-BFBC6C85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0" name="label-79">
            <a:extLst xmlns:a="http://schemas.openxmlformats.org/drawingml/2006/main">
              <a:ext uri="{FF2B5EF4-FFF2-40B4-BE49-F238E27FC236}">
                <a16:creationId xmlns:a16="http://schemas.microsoft.com/office/drawing/2014/main" id="{A177316D-0A39-44A2-AE7E-9207CD25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1" name="label-80">
            <a:extLst xmlns:a="http://schemas.openxmlformats.org/drawingml/2006/main">
              <a:ext uri="{FF2B5EF4-FFF2-40B4-BE49-F238E27FC236}">
                <a16:creationId xmlns:a16="http://schemas.microsoft.com/office/drawing/2014/main" id="{B18511C6-1051-41F5-A8ED-4D0F0C53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label-81">
            <a:extLst xmlns:a="http://schemas.openxmlformats.org/drawingml/2006/main">
              <a:ext uri="{FF2B5EF4-FFF2-40B4-BE49-F238E27FC236}">
                <a16:creationId xmlns:a16="http://schemas.microsoft.com/office/drawing/2014/main" id="{3012BEBB-D165-4B16-A40B-8BF4344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B89E47-89C3-4D2F-81E6-05467277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486650"/>
            <a:ext cx="238125" cy="2952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3F80"/>
          </a:solidFill>
          <a:ln xmlns:a="http://schemas.openxmlformats.org/drawingml/2006/main" w="0">
            <a:noFill/>
          </a:ln>
        </p:spPr>
      </p:sp>
      <p:sp>
        <p:nvSpPr>
          <p:cNvPr id="84" name="label-83">
            <a:extLst xmlns:a="http://schemas.openxmlformats.org/drawingml/2006/main">
              <a:ext uri="{FF2B5EF4-FFF2-40B4-BE49-F238E27FC236}">
                <a16:creationId xmlns:a16="http://schemas.microsoft.com/office/drawing/2014/main" id="{320C2649-975E-4682-95D0-7FAD8891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5" name="label-84">
            <a:extLst xmlns:a="http://schemas.openxmlformats.org/drawingml/2006/main">
              <a:ext uri="{FF2B5EF4-FFF2-40B4-BE49-F238E27FC236}">
                <a16:creationId xmlns:a16="http://schemas.microsoft.com/office/drawing/2014/main" id="{EF51F08A-6CDF-4B75-8477-C20A27F4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6" name="label-85">
            <a:extLst xmlns:a="http://schemas.openxmlformats.org/drawingml/2006/main">
              <a:ext uri="{FF2B5EF4-FFF2-40B4-BE49-F238E27FC236}">
                <a16:creationId xmlns:a16="http://schemas.microsoft.com/office/drawing/2014/main" id="{841C74D2-5A21-40C3-B728-FB9D530D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7" name="label-86">
            <a:extLst xmlns:a="http://schemas.openxmlformats.org/drawingml/2006/main">
              <a:ext uri="{FF2B5EF4-FFF2-40B4-BE49-F238E27FC236}">
                <a16:creationId xmlns:a16="http://schemas.microsoft.com/office/drawing/2014/main" id="{46A95AB5-3861-48AC-A2E8-7A65388E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8" name="label-87">
            <a:extLst xmlns:a="http://schemas.openxmlformats.org/drawingml/2006/main">
              <a:ext uri="{FF2B5EF4-FFF2-40B4-BE49-F238E27FC236}">
                <a16:creationId xmlns:a16="http://schemas.microsoft.com/office/drawing/2014/main" id="{28723B5F-23E4-4CA1-B282-5F7984DF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9" name="label-88">
            <a:extLst xmlns:a="http://schemas.openxmlformats.org/drawingml/2006/main">
              <a:ext uri="{FF2B5EF4-FFF2-40B4-BE49-F238E27FC236}">
                <a16:creationId xmlns:a16="http://schemas.microsoft.com/office/drawing/2014/main" id="{830467A0-54F6-465E-8929-7D155B0D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7505700"/>
            <a:ext cx="24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0" name="label-89">
            <a:extLst xmlns:a="http://schemas.openxmlformats.org/drawingml/2006/main">
              <a:ext uri="{FF2B5EF4-FFF2-40B4-BE49-F238E27FC236}">
                <a16:creationId xmlns:a16="http://schemas.microsoft.com/office/drawing/2014/main" id="{1B574CB7-B5F4-4C6F-8DF1-A0BAD5C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8115300"/>
            <a:ext cx="3952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Top-K proteins and report</a:t>
            </a:r>
          </a:p>
        </p:txBody>
      </p:sp>
      <p:sp>
        <p:nvSpPr>
          <p:cNvPr id="91" name="label-90">
            <a:extLst xmlns:a="http://schemas.openxmlformats.org/drawingml/2006/main">
              <a:ext uri="{FF2B5EF4-FFF2-40B4-BE49-F238E27FC236}">
                <a16:creationId xmlns:a16="http://schemas.microsoft.com/office/drawing/2014/main" id="{84F0473E-3680-4C57-A287-D07B3457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8524875"/>
            <a:ext cx="3952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CSV, FASTA, JSON, GenBank, SBOL</a:t>
            </a:r>
          </a:p>
        </p:txBody>
      </p:sp>
      <p:sp>
        <p:nvSpPr>
          <p:cNvPr id="92" name="label-91">
            <a:extLst xmlns:a="http://schemas.openxmlformats.org/drawingml/2006/main">
              <a:ext uri="{FF2B5EF4-FFF2-40B4-BE49-F238E27FC236}">
                <a16:creationId xmlns:a16="http://schemas.microsoft.com/office/drawing/2014/main" id="{A8D14F79-7DF7-4311-A27C-101973F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9124950"/>
            <a:ext cx="3952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Optional host-specific coding DNA</a:t>
            </a:r>
          </a:p>
        </p:txBody>
      </p:sp>
      <p:sp>
        <p:nvSpPr>
          <p:cNvPr id="93" name="label-92">
            <a:extLst xmlns:a="http://schemas.openxmlformats.org/drawingml/2006/main">
              <a:ext uri="{FF2B5EF4-FFF2-40B4-BE49-F238E27FC236}">
                <a16:creationId xmlns:a16="http://schemas.microsoft.com/office/drawing/2014/main" id="{CFAF0776-C32F-49DF-A51B-456E48F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9534525"/>
            <a:ext cx="3952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Synonymous codons preserve identity</a:t>
            </a:r>
          </a:p>
        </p:txBody>
      </p:sp>
      <p:sp>
        <p:nvSpPr>
          <p:cNvPr id="94" name="label-93">
            <a:extLst xmlns:a="http://schemas.openxmlformats.org/drawingml/2006/main">
              <a:ext uri="{FF2B5EF4-FFF2-40B4-BE49-F238E27FC236}">
                <a16:creationId xmlns:a16="http://schemas.microsoft.com/office/drawing/2014/main" id="{52CE93A6-157A-4315-9A49-211A9709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9925050"/>
            <a:ext cx="3952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Ready for the next experimental design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E217C9-9DA4-4C47-8425-1244951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0"/>
            <a:ext cx="1419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D5DE"/>
            </a:solidFill>
          </a:ln>
        </p:spPr>
      </p:sp>
      <p:sp>
        <p:nvSpPr>
          <p:cNvPr id="96" name="label-95">
            <a:extLst xmlns:a="http://schemas.openxmlformats.org/drawingml/2006/main">
              <a:ext uri="{FF2B5EF4-FFF2-40B4-BE49-F238E27FC236}">
                <a16:creationId xmlns:a16="http://schemas.microsoft.com/office/drawing/2014/main" id="{0F511046-7F89-491E-A44E-88C415E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0"/>
            <a:ext cx="141922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Computational workflow. Predicted structures and ranked candidates still require wet-lab validation.</a:t>
            </a:r>
          </a:p>
        </p:txBody>
      </p:sp>
    </p:spTree>
    <p:extLst>
      <p:ext uri="{BB962C8B-B14F-4D97-AF65-F5344CB8AC3E}">
        <p14:creationId xmlns:p14="http://schemas.microsoft.com/office/powerpoint/2010/main" val="1160707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99112-2105-4B9A-8087-A9688186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15240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label-1">
            <a:extLst xmlns:a="http://schemas.openxmlformats.org/drawingml/2006/main">
              <a:ext uri="{FF2B5EF4-FFF2-40B4-BE49-F238E27FC236}">
                <a16:creationId xmlns:a16="http://schemas.microsoft.com/office/drawing/2014/main" id="{1F04CCE6-22EE-4328-8DDB-DF81C7D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192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How model evidence becomes a candidate score</a:t>
            </a:r>
          </a:p>
        </p:txBody>
      </p:sp>
      <p:sp>
        <p:nvSpPr>
          <p:cNvPr id="3" name="label-2">
            <a:extLst xmlns:a="http://schemas.openxmlformats.org/drawingml/2006/main">
              <a:ext uri="{FF2B5EF4-FFF2-40B4-BE49-F238E27FC236}">
                <a16:creationId xmlns:a16="http://schemas.microsoft.com/office/drawing/2014/main" id="{45C56FBA-A11A-4752-A8FF-C08B468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Global priorities and candidate-specific uncertainty play different roles.</a:t>
            </a:r>
          </a:p>
        </p:txBody>
      </p:sp>
      <p:sp>
        <p:nvSpPr>
          <p:cNvPr id="4" name="label-3">
            <a:extLst xmlns:a="http://schemas.openxmlformats.org/drawingml/2006/main">
              <a:ext uri="{FF2B5EF4-FFF2-40B4-BE49-F238E27FC236}">
                <a16:creationId xmlns:a16="http://schemas.microsoft.com/office/drawing/2014/main" id="{04F619C8-A19B-4385-AECB-0EE43A1E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  Global priorities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70D98-4C17-4258-ADFF-1FC84B81D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8f790b2654210"/>
          <a:stretch xmlns:a="http://schemas.openxmlformats.org/drawingml/2006/main"/>
        </p:blipFill>
        <p:spPr>
          <a:xfrm xmlns:a="http://schemas.openxmlformats.org/drawingml/2006/main">
            <a:off x="1105530" y="2581275"/>
            <a:ext cx="4427865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DC8AD294-CDA2-42E5-A925-0F04D28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6477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Preference sets the importance of each property.</a:t>
            </a:r>
          </a:p>
        </p:txBody>
      </p:sp>
      <p:sp>
        <p:nvSpPr>
          <p:cNvPr id="7" name="label-6">
            <a:extLst xmlns:a="http://schemas.openxmlformats.org/drawingml/2006/main">
              <a:ext uri="{FF2B5EF4-FFF2-40B4-BE49-F238E27FC236}">
                <a16:creationId xmlns:a16="http://schemas.microsoft.com/office/drawing/2014/main" id="{435F1B66-3B9B-481C-B3F8-4AC5AB70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950"/>
            <a:ext cx="6477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Confidence changes how much a predictor influences ranking.</a:t>
            </a:r>
          </a:p>
        </p:txBody>
      </p:sp>
      <p:sp>
        <p:nvSpPr>
          <p:cNvPr id="8" name="label-7">
            <a:extLst xmlns:a="http://schemas.openxmlformats.org/drawingml/2006/main">
              <a:ext uri="{FF2B5EF4-FFF2-40B4-BE49-F238E27FC236}">
                <a16:creationId xmlns:a16="http://schemas.microsoft.com/office/drawing/2014/main" id="{F9A66D8D-0E1A-4FB0-BE65-F684A19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6477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The three effective weights sum to one.</a:t>
            </a:r>
          </a:p>
        </p:txBody>
      </p:sp>
      <p:sp>
        <p:nvSpPr>
          <p:cNvPr id="9" name="label-8">
            <a:extLst xmlns:a="http://schemas.openxmlformats.org/drawingml/2006/main">
              <a:ext uri="{FF2B5EF4-FFF2-40B4-BE49-F238E27FC236}">
                <a16:creationId xmlns:a16="http://schemas.microsoft.com/office/drawing/2014/main" id="{E2985765-7082-49CE-B6D6-D304068C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574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b  Candidate-specific uncertainty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669F1-BC76-47AD-9B99-367977A7D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01ac549ba4754"/>
          <a:stretch xmlns:a="http://schemas.openxmlformats.org/drawingml/2006/main"/>
        </p:blipFill>
        <p:spPr>
          <a:xfrm xmlns:a="http://schemas.openxmlformats.org/drawingml/2006/main">
            <a:off x="9048750" y="2593172"/>
            <a:ext cx="4191000" cy="1481157"/>
          </a:xfrm>
          <a:prstGeom xmlns:a="http://schemas.openxmlformats.org/drawingml/2006/main" prst="rect">
            <a:avLst/>
          </a:prstGeom>
        </p:spPr>
      </p:pic>
      <p:sp>
        <p:nvSpPr>
          <p:cNvPr id="11" name="label-10">
            <a:extLst xmlns:a="http://schemas.openxmlformats.org/drawingml/2006/main">
              <a:ext uri="{FF2B5EF4-FFF2-40B4-BE49-F238E27FC236}">
                <a16:creationId xmlns:a16="http://schemas.microsoft.com/office/drawing/2014/main" id="{74A877E7-1530-4242-902F-C3CB40A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76725"/>
            <a:ext cx="6762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Larger uncertainty reduces the size of a predicted gain or loss.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95E50-A41D-45FA-8232-FBB16D0515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0c31fa78e4c14"/>
          <a:stretch xmlns:a="http://schemas.openxmlformats.org/drawingml/2006/main"/>
        </p:blipFill>
        <p:spPr>
          <a:xfrm xmlns:a="http://schemas.openxmlformats.org/drawingml/2006/main">
            <a:off x="8096250" y="4811387"/>
            <a:ext cx="6429375" cy="1130950"/>
          </a:xfrm>
          <a:prstGeom xmlns:a="http://schemas.openxmlformats.org/drawingml/2006/main" prst="rect">
            <a:avLst/>
          </a:prstGeom>
        </p:spPr>
      </p:pic>
      <p:sp>
        <p:nvSpPr>
          <p:cNvPr id="13" name="label-12">
            <a:extLst xmlns:a="http://schemas.openxmlformats.org/drawingml/2006/main">
              <a:ext uri="{FF2B5EF4-FFF2-40B4-BE49-F238E27FC236}">
                <a16:creationId xmlns:a16="http://schemas.microsoft.com/office/drawing/2014/main" id="{277A5452-5DE2-4EBD-B942-BDDDF4C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153150"/>
            <a:ext cx="6762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Gain compares the candidate with WT. Scales stay frozen.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3DF5F-8A73-4ED1-9A90-8A79CAC2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86550"/>
            <a:ext cx="1419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CE4"/>
            </a:solidFill>
          </a:ln>
        </p:spPr>
      </p:sp>
      <p:sp>
        <p:nvSpPr>
          <p:cNvPr id="15" name="label-14">
            <a:extLst xmlns:a="http://schemas.openxmlformats.org/drawingml/2006/main">
              <a:ext uri="{FF2B5EF4-FFF2-40B4-BE49-F238E27FC236}">
                <a16:creationId xmlns:a16="http://schemas.microsoft.com/office/drawing/2014/main" id="{DCC9176F-1D58-45F1-89BD-D7DCB8ED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9913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c  Final candidate score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8DAD4-9961-457D-AEA4-48B231AAB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1679696d5471d"/>
          <a:stretch xmlns:a="http://schemas.openxmlformats.org/drawingml/2006/main"/>
        </p:blipFill>
        <p:spPr>
          <a:xfrm xmlns:a="http://schemas.openxmlformats.org/drawingml/2006/main">
            <a:off x="704850" y="7670006"/>
            <a:ext cx="3400425" cy="1700213"/>
          </a:xfrm>
          <a:prstGeom xmlns:a="http://schemas.openxmlformats.org/drawingml/2006/main" prst="rect">
            <a:avLst/>
          </a:prstGeom>
        </p:spPr>
      </p:pic>
      <p:sp>
        <p:nvSpPr>
          <p:cNvPr id="17" name="label-16">
            <a:extLst xmlns:a="http://schemas.openxmlformats.org/drawingml/2006/main">
              <a:ext uri="{FF2B5EF4-FFF2-40B4-BE49-F238E27FC236}">
                <a16:creationId xmlns:a16="http://schemas.microsoft.com/office/drawing/2014/main" id="{44ADB0FF-53AC-4905-B160-A2FA1FE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943850"/>
            <a:ext cx="3048000" cy="613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Combine the three</a:t>
            </a:r>
          </a:p>
          <a:p xmlns:a="http://schemas.openxmlformats.org/drawingml/2006/main">
            <a:pPr>
              <a:defRPr sz="17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normalized components.</a:t>
            </a:r>
          </a:p>
        </p:txBody>
      </p:sp>
      <p:sp>
        <p:nvSpPr>
          <p:cNvPr id="18" name="label-17">
            <a:extLst xmlns:a="http://schemas.openxmlformats.org/drawingml/2006/main">
              <a:ext uri="{FF2B5EF4-FFF2-40B4-BE49-F238E27FC236}">
                <a16:creationId xmlns:a16="http://schemas.microsoft.com/office/drawing/2014/main" id="{09136706-A53D-4032-840C-E583F52A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9775"/>
            <a:ext cx="65722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Threshold filters remain separate from ranking.</a:t>
            </a:r>
          </a:p>
        </p:txBody>
      </p:sp>
      <p:sp>
        <p:nvSpPr>
          <p:cNvPr id="19" name="label-18">
            <a:extLst xmlns:a="http://schemas.openxmlformats.org/drawingml/2006/main">
              <a:ext uri="{FF2B5EF4-FFF2-40B4-BE49-F238E27FC236}">
                <a16:creationId xmlns:a16="http://schemas.microsoft.com/office/drawing/2014/main" id="{D1789444-A12F-4A4E-B615-CACC55B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991350"/>
            <a:ext cx="67627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d  Increasing uncertainty softens the evidence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6A6FB-B292-4F07-890B-7971BEFB2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9fc206acd4f4e">
            <a:extLst>
              <a:ext uri="{96DAC541-7B7A-43D3-8B79-37D633B846F1}">
                <asvg:svgBlip xmlns:asvg="http://schemas.microsoft.com/office/drawing/2016/SVG/main" r:embed="R282af99a05a04b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7477125"/>
            <a:ext cx="6762750" cy="2857500"/>
          </a:xfrm>
          <a:prstGeom xmlns:a="http://schemas.openxmlformats.org/drawingml/2006/main" prst="rect">
            <a:avLst/>
          </a:prstGeom>
        </p:spPr>
      </p:pic>
      <p:sp>
        <p:nvSpPr>
          <p:cNvPr id="21" name="label-20">
            <a:extLst xmlns:a="http://schemas.openxmlformats.org/drawingml/2006/main">
              <a:ext uri="{FF2B5EF4-FFF2-40B4-BE49-F238E27FC236}">
                <a16:creationId xmlns:a16="http://schemas.microsoft.com/office/drawing/2014/main" id="{F45830AA-464C-4B8E-BAEE-FA008F8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334625"/>
            <a:ext cx="6953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Analytical explanation of the implemented policy, not a calibration result.</a:t>
            </a:r>
          </a:p>
        </p:txBody>
      </p:sp>
    </p:spTree>
    <p:extLst>
      <p:ext uri="{BB962C8B-B14F-4D97-AF65-F5344CB8AC3E}">
        <p14:creationId xmlns:p14="http://schemas.microsoft.com/office/powerpoint/2010/main" val="56447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012B6-C1A5-4822-9563-081C48EC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label-1">
            <a:extLst xmlns:a="http://schemas.openxmlformats.org/drawingml/2006/main">
              <a:ext uri="{FF2B5EF4-FFF2-40B4-BE49-F238E27FC236}">
                <a16:creationId xmlns:a16="http://schemas.microsoft.com/office/drawing/2014/main" id="{C19639D4-469A-42B2-B3A4-38F81B03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14192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Enzora as a software system</a:t>
            </a:r>
          </a:p>
        </p:txBody>
      </p:sp>
      <p:sp>
        <p:nvSpPr>
          <p:cNvPr id="3" name="label-2">
            <a:extLst xmlns:a="http://schemas.openxmlformats.org/drawingml/2006/main">
              <a:ext uri="{FF2B5EF4-FFF2-40B4-BE49-F238E27FC236}">
                <a16:creationId xmlns:a16="http://schemas.microsoft.com/office/drawing/2014/main" id="{5E8A5151-B024-4F4B-9925-9A87DA0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38325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A stable execution path with typed tools, persistent results and live progress.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4AA61-9F82-4B13-9D17-69D661D3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71775"/>
            <a:ext cx="428625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81BABC"/>
            </a:solidFill>
          </a:ln>
        </p:spPr>
      </p:sp>
      <p:sp>
        <p:nvSpPr>
          <p:cNvPr id="5" name="label-4">
            <a:extLst xmlns:a="http://schemas.openxmlformats.org/drawingml/2006/main">
              <a:ext uri="{FF2B5EF4-FFF2-40B4-BE49-F238E27FC236}">
                <a16:creationId xmlns:a16="http://schemas.microsoft.com/office/drawing/2014/main" id="{7004D85F-C762-4183-A90A-8D380F11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90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Browser workspace</a:t>
            </a:r>
          </a:p>
        </p:txBody>
      </p:sp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6F6F6EE4-E7E2-4AAA-B188-05FE2C1E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Sequence input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Screening controls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Maps, reports and exports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F47E8-14F3-4085-B184-B774BE7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71775"/>
            <a:ext cx="428625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AE91C8"/>
            </a:solidFill>
          </a:ln>
        </p:spPr>
      </p:sp>
      <p:sp>
        <p:nvSpPr>
          <p:cNvPr id="8" name="label-7">
            <a:extLst xmlns:a="http://schemas.openxmlformats.org/drawingml/2006/main">
              <a:ext uri="{FF2B5EF4-FFF2-40B4-BE49-F238E27FC236}">
                <a16:creationId xmlns:a16="http://schemas.microsoft.com/office/drawing/2014/main" id="{6BBF7FF0-E0B3-4D6C-81B7-F5D49E0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90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Authenticated API</a:t>
            </a:r>
          </a:p>
        </p:txBody>
      </p:sp>
      <p:sp>
        <p:nvSpPr>
          <p:cNvPr id="9" name="label-8">
            <a:extLst xmlns:a="http://schemas.openxmlformats.org/drawingml/2006/main">
              <a:ext uri="{FF2B5EF4-FFF2-40B4-BE49-F238E27FC236}">
                <a16:creationId xmlns:a16="http://schemas.microsoft.com/office/drawing/2014/main" id="{C6BDCC14-0424-4CD2-BB5F-FA23A34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195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Validated requests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Live progress over SSE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Session-scoped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73B66-4472-442B-8815-838DFB5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71775"/>
            <a:ext cx="428625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8ACC9"/>
            </a:solidFill>
          </a:ln>
        </p:spPr>
      </p:sp>
      <p:sp>
        <p:nvSpPr>
          <p:cNvPr id="11" name="label-10">
            <a:extLst xmlns:a="http://schemas.openxmlformats.org/drawingml/2006/main">
              <a:ext uri="{FF2B5EF4-FFF2-40B4-BE49-F238E27FC236}">
                <a16:creationId xmlns:a16="http://schemas.microsoft.com/office/drawing/2014/main" id="{A34D74CD-5746-4F6B-9CC7-E73BDD6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90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Job scheduler</a:t>
            </a:r>
          </a:p>
        </p:txBody>
      </p:sp>
      <p:sp>
        <p:nvSpPr>
          <p:cNvPr id="12" name="label-11">
            <a:extLst xmlns:a="http://schemas.openxmlformats.org/drawingml/2006/main">
              <a:ext uri="{FF2B5EF4-FFF2-40B4-BE49-F238E27FC236}">
                <a16:creationId xmlns:a16="http://schemas.microsoft.com/office/drawing/2014/main" id="{ACBA4837-8AA6-4A7F-B70A-BDE49D44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6195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Persisted stage state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Explicit execution gates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Independent model 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26808-D3A6-4F2F-B616-EAF65AFA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909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0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0BE0C-F896-4B96-8E96-C8590E06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909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06D"/>
          </a:solidFill>
          <a:ln xmlns:a="http://schemas.openxmlformats.org/drawingml/2006/main" w="0">
            <a:noFill/>
          </a:ln>
        </p:spPr>
      </p:sp>
      <p:sp>
        <p:nvSpPr>
          <p:cNvPr id="15" name="label-14">
            <a:extLst xmlns:a="http://schemas.openxmlformats.org/drawingml/2006/main">
              <a:ext uri="{FF2B5EF4-FFF2-40B4-BE49-F238E27FC236}">
                <a16:creationId xmlns:a16="http://schemas.microsoft.com/office/drawing/2014/main" id="{404134CE-903A-467C-A878-E021DA0C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Data and tool contracts</a:t>
            </a:r>
          </a:p>
        </p:txBody>
      </p:sp>
      <p:sp>
        <p:nvSpPr>
          <p:cNvPr id="16" name="label-15">
            <a:extLst xmlns:a="http://schemas.openxmlformats.org/drawingml/2006/main">
              <a:ext uri="{FF2B5EF4-FFF2-40B4-BE49-F238E27FC236}">
                <a16:creationId xmlns:a16="http://schemas.microsoft.com/office/drawing/2014/main" id="{E7B34FDF-2648-4800-8320-02AC8B6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246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BioArtifact keeps sequences, predictions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and provenance together.</a:t>
            </a:r>
          </a:p>
        </p:txBody>
      </p:sp>
      <p:sp>
        <p:nvSpPr>
          <p:cNvPr id="17" name="label-16">
            <a:extLst xmlns:a="http://schemas.openxmlformats.org/drawingml/2006/main">
              <a:ext uri="{FF2B5EF4-FFF2-40B4-BE49-F238E27FC236}">
                <a16:creationId xmlns:a16="http://schemas.microsoft.com/office/drawing/2014/main" id="{0106E8C9-E728-48E8-9892-461675C1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056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ToolSpec and Tool Registry describe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supported capabilities.</a:t>
            </a:r>
          </a:p>
        </p:txBody>
      </p:sp>
      <p:sp>
        <p:nvSpPr>
          <p:cNvPr id="18" name="label-17">
            <a:extLst xmlns:a="http://schemas.openxmlformats.org/drawingml/2006/main">
              <a:ext uri="{FF2B5EF4-FFF2-40B4-BE49-F238E27FC236}">
                <a16:creationId xmlns:a16="http://schemas.microsoft.com/office/drawing/2014/main" id="{99286AE9-4629-44CF-BA5D-6F657434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867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Adapters prepare model inputs</a:t>
            </a:r>
          </a:p>
          <a:p xmlns:a="http://schemas.openxmlformats.org/drawingml/2006/main">
            <a:pPr>
              <a:defRPr sz="187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and validate returned outputs.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8556B-B17B-495E-9E5F-D47A2F4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15000"/>
            <a:ext cx="67627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0">
            <a:noFill/>
          </a:ln>
        </p:spPr>
      </p:sp>
      <p:sp>
        <p:nvSpPr>
          <p:cNvPr id="20" name="label-19">
            <a:extLst xmlns:a="http://schemas.openxmlformats.org/drawingml/2006/main">
              <a:ext uri="{FF2B5EF4-FFF2-40B4-BE49-F238E27FC236}">
                <a16:creationId xmlns:a16="http://schemas.microsoft.com/office/drawing/2014/main" id="{9DCFE32E-3E29-4D8F-BC6E-7C2909EE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436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Fixed computational stages</a:t>
            </a:r>
          </a:p>
        </p:txBody>
      </p:sp>
      <p:sp>
        <p:nvSpPr>
          <p:cNvPr id="21" name="label-20">
            <a:extLst xmlns:a="http://schemas.openxmlformats.org/drawingml/2006/main">
              <a:ext uri="{FF2B5EF4-FFF2-40B4-BE49-F238E27FC236}">
                <a16:creationId xmlns:a16="http://schemas.microsoft.com/office/drawing/2014/main" id="{52A54A66-61E0-4D25-AEBA-E3BEDA4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34150"/>
            <a:ext cx="628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VESM library construction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87588-C850-478E-9646-F5782EC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962775"/>
            <a:ext cx="180975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sp>
        <p:nvSpPr>
          <p:cNvPr id="23" name="label-22">
            <a:extLst xmlns:a="http://schemas.openxmlformats.org/drawingml/2006/main">
              <a:ext uri="{FF2B5EF4-FFF2-40B4-BE49-F238E27FC236}">
                <a16:creationId xmlns:a16="http://schemas.microsoft.com/office/drawing/2014/main" id="{DA969F22-AE8C-455C-A90E-F88F32F5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048500"/>
            <a:ext cx="5524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Phenom, EpHod and UniStab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6F0FE-B824-42D8-97CC-30263D4A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477125"/>
            <a:ext cx="180975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E91C8"/>
          </a:solidFill>
          <a:ln xmlns:a="http://schemas.openxmlformats.org/drawingml/2006/main" w="0">
            <a:noFill/>
          </a:ln>
        </p:spPr>
      </p:sp>
      <p:sp>
        <p:nvSpPr>
          <p:cNvPr id="25" name="label-24">
            <a:extLst xmlns:a="http://schemas.openxmlformats.org/drawingml/2006/main">
              <a:ext uri="{FF2B5EF4-FFF2-40B4-BE49-F238E27FC236}">
                <a16:creationId xmlns:a16="http://schemas.microsoft.com/office/drawing/2014/main" id="{CE71897B-3B5E-41E7-8B0B-B40027C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00950"/>
            <a:ext cx="5524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Scoring, Top-K, UMAP and reporting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4CA51-577F-43F4-9DE1-12ED3AA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1911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E91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ECF82-D5B3-4059-9887-985283E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77325"/>
            <a:ext cx="1419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7"/>
          </a:solidFill>
          <a:ln xmlns:a="http://schemas.openxmlformats.org/drawingml/2006/main" w="0">
            <a:noFill/>
          </a:ln>
        </p:spPr>
      </p:sp>
      <p:sp>
        <p:nvSpPr>
          <p:cNvPr id="28" name="label-27">
            <a:extLst xmlns:a="http://schemas.openxmlformats.org/drawingml/2006/main">
              <a:ext uri="{FF2B5EF4-FFF2-40B4-BE49-F238E27FC236}">
                <a16:creationId xmlns:a16="http://schemas.microsoft.com/office/drawing/2014/main" id="{68857DB2-6FD8-44C6-A14E-0E893952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58300"/>
            <a:ext cx="136207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3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33D"/>
                </a:solidFill>
                <a:latin typeface="Arial"/>
                <a:ea typeface="Arial"/>
                <a:cs typeface="Arial"/>
              </a:rPr>
              <a:t>Shared model weights stay separate from each run. Temporary graphs and logits are cleared after completion.</a:t>
            </a:r>
          </a:p>
        </p:txBody>
      </p:sp>
      <p:sp>
        <p:nvSpPr>
          <p:cNvPr id="29" name="label-28">
            <a:extLst xmlns:a="http://schemas.openxmlformats.org/drawingml/2006/main">
              <a:ext uri="{FF2B5EF4-FFF2-40B4-BE49-F238E27FC236}">
                <a16:creationId xmlns:a16="http://schemas.microsoft.com/office/drawing/2014/main" id="{4BCE446C-C5D5-4628-B833-3565641B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77450"/>
            <a:ext cx="14192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B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B606D"/>
                </a:solidFill>
                <a:latin typeface="Arial"/>
                <a:ea typeface="Arial"/>
                <a:cs typeface="Arial"/>
              </a:rPr>
              <a:t>MiniMax requests tools through a bounded interface. The API validates parameters before changing a run.</a:t>
            </a:r>
          </a:p>
        </p:txBody>
      </p:sp>
    </p:spTree>
    <p:extLst>
      <p:ext uri="{BB962C8B-B14F-4D97-AF65-F5344CB8AC3E}">
        <p14:creationId xmlns:p14="http://schemas.microsoft.com/office/powerpoint/2010/main" val="834967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2026-10-16T10:37:06.9840000Z</dcterms:created>
  <dcterms:modified xsi:type="dcterms:W3CDTF">2026-10-16T10:37:06.9840000Z</dcterms:modified>
</coreProperties>
</file>