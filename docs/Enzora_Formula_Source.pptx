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4AD2718-18C4-40E4-BA38-587B2E20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812B85D-652D-4386-9EA3-C3B1F825A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0387706-7433-47D5-B78C-06E55213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3608560-0B80-40DD-A196-166E424F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9C62039-D47A-4E94-A46F-A1EA6837B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8A31B97-B067-467F-B3BF-882E4DAA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9434C53-A29B-4D9B-9FFF-046C65644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8B51AD7-6130-49B7-9D05-38763C572F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A938A4-9CD1-4022-AD8E-A68A093F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6472E6A-664B-4312-8FC4-53B2FB3DB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markup-compatibility/2006" xmlns:ns4="http://schemas.microsoft.com/office/drawing/2010/main" xmlns:ns5="http://schemas.openxmlformats.org/officeDocument/2006/math" xmlns:ns6="http://schemas.openxmlformats.org/officeDocument/2006/relationships" xmlns:ns7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>
            <ns1:extLst>
              <ns1:ext uri="{FF2B5EF4-FFF2-40B4-BE49-F238E27FC236}">
                <ns2:creationId id="{454E818F-3395-40CD-A5DA-2DD0DD32D53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81000"/>
            <ns1:ext cx="109537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700" b="1">
                <ns1:solidFill>
                  <ns1:srgbClr val="20252D"/>
                </ns1:solidFill>
              </ns1:defRPr>
            </ns1:defPPr>
          </ns1:lstStyle>
          <ns1:p>
            <ns1:pPr>
              <ns1:defRPr sz="2700" b="1">
                <ns1:solidFill>
                  <ns1:srgbClr val="20252D"/>
                </ns1:solidFill>
              </ns1:defRPr>
            </ns1:pPr>
            <ns1:r>
              <ns1:rPr sz="2700" b="1">
                <ns1:solidFill>
                  <ns1:srgbClr val="20252D"/>
                </ns1:solidFill>
              </ns1:rPr>
              <ns1:t>Effective model weights</ns1:t>
            </ns1:r>
          </ns1:p>
        </ns0:txBody>
      </ns0:sp>
      <ns3:AlternateContent>
        <ns3:Choice Requires="ns4">
          <ns0:sp>
            <ns0:nvSpPr>
              <ns0:cNvPr id="3" name="文本框 2">
                <ns1:extLst>
                  <ns1:ext uri="{FF2B5EF4-FFF2-40B4-BE49-F238E27FC236}">
                    <ns2:creationId id="{B87ECEC4-1337-81E4-0050-2A8132E15501}"/>
                  </ns1:ext>
                </ns1:extLst>
              </ns0:cNvPr>
              <ns0:cNvSpPr txBox="1"/>
              <ns0:nvPr/>
            </ns0:nvSpPr>
            <ns0:spPr>
              <ns1:xfrm>
                <ns1:off x="3649946" y="2600000"/>
                <ns1:ext cx="4892108" cy="1910075"/>
              </ns1:xfrm>
              <ns1:prstGeom prst="rect">
                <ns1:avLst/>
              </ns1:prstGeom>
              <ns1:noFill/>
            </ns0:spPr>
            <ns0:txBody>
              <ns1:bodyPr wrap="none" lIns="0" tIns="0" rIns="0" bIns="0" rtlCol="0">
                <ns1:spAutoFit/>
              </ns1:bodyPr>
              <ns1:lstStyle/>
              <ns1:p>
                <ns4:m>
                  <ns5:oMathPara>
                    <ns5:oMath>
                      <ns5:sSub>
                        <ns5:sSubPr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sSubPr>
                        <ns5:e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𝑾</ns5:t>
                          </ns5:r>
                        </ns5:e>
                        <ns5:sub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𝒊</ns5:t>
                          </ns5:r>
                        </ns5:sub>
                      </ns5:sSub>
                      <ns5:r>
                        <ns1:rPr kumimoji="1" lang="zh-CN" altLang="en-US" sz="5400" b="1" i="1" smtClean="0">
                          <ns1:latin typeface="Cambria Math" panose="02040503050406030204" pitchFamily="18" charset="0"/>
                        </ns1:rPr>
                        <ns5:t>=</ns5:t>
                      </ns5:r>
                      <ns5:f>
                        <ns5:fPr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fPr>
                        <ns5:num>
                          <ns5:sSub>
                            <ns5:sSubPr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sSubPr>
                            <ns5:e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𝑷</ns5:t>
                              </ns5:r>
                            </ns5:e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𝒊</ns5:t>
                              </ns5:r>
                            </ns5:sub>
                          </ns5:sSub>
                          <ns5:sSub>
                            <ns5:sSubPr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sSubPr>
                            <ns5:e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𝑪</ns5:t>
                              </ns5:r>
                            </ns5:e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𝒊</ns5:t>
                              </ns5:r>
                            </ns5:sub>
                          </ns5:sSub>
                        </ns5:num>
                        <ns5:den>
                          <ns5:nary>
                            <ns5:naryPr>
                              <ns5:chr ns5:val="∑"/>
                              <ns5:limLoc ns5:val="undOvr"/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naryPr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𝒋</ns5:t>
                              </ns5:r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=</ns5:t>
                              </ns5:r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𝟏</ns5:t>
                              </ns5:r>
                            </ns5:sub>
                            <ns5:sup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𝟑</ns5:t>
                              </ns5:r>
                            </ns5:sup>
                            <ns5:e>
                              <ns5:sSub>
                                <ns5:sSubPr>
                                  <ns5:ctrlPr>
                                    <ns1:rPr kumimoji="1" lang="zh-CN" altLang="en-US" sz="5400" b="1" i="1" smtClean="0">
                                      <ns1:latin typeface="Cambria Math" panose="02040503050406030204" pitchFamily="18" charset="0"/>
                                    </ns1:rPr>
                                  </ns5:ctrlPr>
                                </ns5:sSubPr>
                                <ns5:e>
                                  <ns5:r>
                                    <ns1:rPr kumimoji="1" lang="zh-CN" altLang="en-US" sz="5400" b="1" i="1" smtClean="0">
                                      <ns1:latin typeface="Cambria Math" panose="02040503050406030204" pitchFamily="18" charset="0"/>
                                    </ns1:rPr>
                                    <ns5:t>𝑷</ns5:t>
                                  </ns5:r>
                                </ns5:e>
                                <ns5:sub>
                                  <ns5:r>
                                    <ns1:rPr kumimoji="1" lang="zh-CN" altLang="en-US" sz="5400" b="1" i="1" smtClean="0">
                                      <ns1:latin typeface="Cambria Math" panose="02040503050406030204" pitchFamily="18" charset="0"/>
                                    </ns1:rPr>
                                    <ns5:t>𝒋</ns5:t>
                                  </ns5:r>
                                </ns5:sub>
                              </ns5:sSub>
                            </ns5:e>
                          </ns5:nary>
                          <ns5:sSub>
                            <ns5:sSubPr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sSubPr>
                            <ns5:e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𝑪</ns5:t>
                              </ns5:r>
                            </ns5:e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𝒋</ns5:t>
                              </ns5:r>
                            </ns5:sub>
                          </ns5:sSub>
                        </ns5:den>
                      </ns5:f>
                    </ns5:oMath>
                  </ns5:oMathPara>
                </ns4:m>
                <ns1:endParaRPr kumimoji="1" lang="zh-CN" altLang="en-US" sz="5400" b="1" dirty="0"/>
              </ns1:p>
            </ns0:txBody>
          </ns0:sp>
        </ns3:Choice>
        <ns3:Fallback>
          <ns0:sp>
            <ns0:nvSpPr>
              <ns0:cNvPr id="3" name="文本框 2">
                <ns1:extLst>
                  <ns1:ext uri="{FF2B5EF4-FFF2-40B4-BE49-F238E27FC236}">
                    <ns2:creationId id="{B87ECEC4-1337-81E4-0050-2A8132E15501}"/>
                  </ns1:ext>
                </ns1:extLst>
              </ns0:cNvPr>
              <ns0:cNvSpPr txBox="1">
                <ns1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ns1:xfrm>
                <ns1:off x="5640572" y="2971800"/>
                <ns1:ext cx="4892108" cy="1910075"/>
              </ns1:xfrm>
              <ns1:prstGeom prst="rect">
                <ns1:avLst/>
              </ns1:prstGeom>
              <ns1:blipFill>
                <ns1:blip ns6:embed="rId3"/>
                <ns1:stretch>
                  <ns1:fillRect l="-2850" t="-25166" r="-2073" b="-103311"/>
                </ns1:stretch>
              </ns1:blipFill>
            </ns0:spPr>
            <ns0:txBody>
              <ns1:bodyPr/>
              <ns1:lstStyle/>
              <ns1:p>
                <ns1:r>
                  <ns1:rPr lang="zh-CN" altLang="en-US">
                    <ns1:noFill/>
                  </ns1:rPr>
                  <ns1:t> </ns1:t>
                </ns1:r>
              </ns1:p>
            </ns0:txBody>
          </ns0:sp>
        </ns3:Fallback>
      </ns3:AlternateContent>
    </ns0:spTree>
    <ns0:extLst>
      <ns0:ext uri="{BB962C8B-B14F-4D97-AF65-F5344CB8AC3E}">
        <ns7:creationId val="1277433324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markup-compatibility/2006" xmlns:ns4="http://schemas.microsoft.com/office/drawing/2010/main" xmlns:ns5="http://schemas.openxmlformats.org/officeDocument/2006/math" xmlns:ns6="http://schemas.openxmlformats.org/officeDocument/2006/relationships" xmlns:ns7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>
            <ns1:extLst>
              <ns1:ext uri="{FF2B5EF4-FFF2-40B4-BE49-F238E27FC236}">
                <ns2:creationId id="{E2A80B28-7E38-4E0D-AA05-A5C43E26B815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81000"/>
            <ns1:ext cx="109537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700" b="1">
                <ns1:solidFill>
                  <ns1:srgbClr val="20252D"/>
                </ns1:solidFill>
              </ns1:defRPr>
            </ns1:defPPr>
          </ns1:lstStyle>
          <ns1:p>
            <ns1:pPr>
              <ns1:defRPr sz="2700" b="1">
                <ns1:solidFill>
                  <ns1:srgbClr val="20252D"/>
                </ns1:solidFill>
              </ns1:defRPr>
            </ns1:pPr>
            <ns1:r>
              <ns1:rPr sz="2700" b="1">
                <ns1:solidFill>
                  <ns1:srgbClr val="20252D"/>
                </ns1:solidFill>
              </ns1:rPr>
              <ns1:t>Composite candidate score</ns1:t>
            </ns1:r>
          </ns1:p>
        </ns0:txBody>
      </ns0:sp>
      <ns3:AlternateContent>
        <ns3:Choice Requires="ns4">
          <ns0:sp>
            <ns0:nvSpPr>
              <ns0:cNvPr id="3" name="文本框 2">
                <ns1:extLst>
                  <ns1:ext uri="{FF2B5EF4-FFF2-40B4-BE49-F238E27FC236}">
                    <ns2:creationId id="{66817A91-2204-6E6F-2676-50E0EFF871F4}"/>
                  </ns1:ext>
                </ns1:extLst>
              </ns0:cNvPr>
              <ns0:cNvSpPr txBox="1"/>
              <ns0:nvPr/>
            </ns0:nvSpPr>
            <ns0:spPr>
              <ns1:xfrm>
                <ns1:off x="3641450" y="2600000"/>
                <ns1:ext cx="4909100" cy="2356735"/>
              </ns1:xfrm>
              <ns1:prstGeom prst="rect">
                <ns1:avLst/>
              </ns1:prstGeom>
              <ns1:noFill/>
            </ns0:spPr>
            <ns0:txBody>
              <ns1:bodyPr wrap="none" lIns="0" tIns="0" rIns="0" bIns="0" rtlCol="0">
                <ns1:spAutoFit/>
              </ns1:bodyPr>
              <ns1:lstStyle/>
              <ns1:p>
                <ns4:m>
                  <ns5:oMathPara>
                    <ns5:oMath>
                      <ns5:sSub>
                        <ns5:sSubPr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sSubPr>
                        <ns5:e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𝑺</ns5:t>
                          </ns5:r>
                        </ns5:e>
                        <ns5:sub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𝒌</ns5:t>
                          </ns5:r>
                        </ns5:sub>
                      </ns5:sSub>
                      <ns5:r>
                        <ns1:rPr kumimoji="1" lang="zh-CN" altLang="en-US" sz="5400" b="1" i="1" smtClean="0">
                          <ns1:latin typeface="Cambria Math" panose="02040503050406030204" pitchFamily="18" charset="0"/>
                        </ns1:rPr>
                        <ns5:t>=</ns5:t>
                      </ns5:r>
                      <ns5:nary>
                        <ns5:naryPr>
                          <ns5:chr ns5:val="∑"/>
                          <ns5:limLoc ns5:val="undOvr"/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naryPr>
                        <ns5:sub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𝒊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=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𝟏</ns5:t>
                          </ns5:r>
                        </ns5:sub>
                        <ns5:sup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𝟑</ns5:t>
                          </ns5:r>
                        </ns5:sup>
                        <ns5:e>
                          <ns5:sSub>
                            <ns5:sSubPr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sSubPr>
                            <ns5:e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𝑾</ns5:t>
                              </ns5:r>
                            </ns5:e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𝒊</ns5:t>
                              </ns5:r>
                            </ns5:sub>
                          </ns5:sSub>
                        </ns5:e>
                      </ns5:nary>
                      <ns5:sSub>
                        <ns5:sSubPr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sSubPr>
                        <ns5:e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𝑨</ns5:t>
                          </ns5:r>
                        </ns5:e>
                        <ns5:sub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𝒌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,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𝒊</ns5:t>
                          </ns5:r>
                        </ns5:sub>
                      </ns5:sSub>
                    </ns5:oMath>
                  </ns5:oMathPara>
                </ns4:m>
                <ns1:endParaRPr kumimoji="1" lang="zh-CN" altLang="en-US" sz="5400" b="1" dirty="0"/>
              </ns1:p>
            </ns0:txBody>
          </ns0:sp>
        </ns3:Choice>
        <ns3:Fallback>
          <ns0:sp>
            <ns0:nvSpPr>
              <ns0:cNvPr id="3" name="文本框 2">
                <ns1:extLst>
                  <ns1:ext uri="{FF2B5EF4-FFF2-40B4-BE49-F238E27FC236}">
                    <ns2:creationId id="{66817A91-2204-6E6F-2676-50E0EFF871F4}"/>
                  </ns1:ext>
                </ns1:extLst>
              </ns0:cNvPr>
              <ns0:cNvSpPr txBox="1">
                <ns1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ns1:xfrm>
                <ns1:off x="5640572" y="2971800"/>
                <ns1:ext cx="4909100" cy="2356735"/>
              </ns1:xfrm>
              <ns1:prstGeom prst="rect">
                <ns1:avLst/>
              </ns1:prstGeom>
              <ns1:blipFill>
                <ns1:blip ns6:embed="rId3"/>
                <ns1:stretch>
                  <ns1:fillRect l="-18605" t="-112903" r="-1034" b="-175806"/>
                </ns1:stretch>
              </ns1:blipFill>
            </ns0:spPr>
            <ns0:txBody>
              <ns1:bodyPr/>
              <ns1:lstStyle/>
              <ns1:p>
                <ns1:r>
                  <ns1:rPr lang="zh-CN" altLang="en-US">
                    <ns1:noFill/>
                  </ns1:rPr>
                  <ns1:t> </ns1:t>
                </ns1:r>
              </ns1:p>
            </ns0:txBody>
          </ns0:sp>
        </ns3:Fallback>
      </ns3:AlternateContent>
    </ns0:spTree>
    <ns0:extLst>
      <ns0:ext uri="{BB962C8B-B14F-4D97-AF65-F5344CB8AC3E}">
        <ns7:creationId val="1439983062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markup-compatibility/2006" xmlns:ns4="http://schemas.microsoft.com/office/drawing/2010/main" xmlns:ns5="http://schemas.openxmlformats.org/officeDocument/2006/math" xmlns:ns6="http://schemas.openxmlformats.org/officeDocument/2006/relationships" xmlns:ns7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>
            <ns1:extLst>
              <ns1:ext uri="{FF2B5EF4-FFF2-40B4-BE49-F238E27FC236}">
                <ns2:creationId id="{79446203-DD14-40FB-96FD-0F8A2AA579C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81000"/>
            <ns1:ext cx="109537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700" b="1">
                <ns1:solidFill>
                  <ns1:srgbClr val="20252D"/>
                </ns1:solidFill>
              </ns1:defRPr>
            </ns1:defPPr>
          </ns1:lstStyle>
          <ns1:p>
            <ns1:pPr>
              <ns1:defRPr sz="2700" b="1">
                <ns1:solidFill>
                  <ns1:srgbClr val="20252D"/>
                </ns1:solidFill>
              </ns1:defRPr>
            </ns1:pPr>
            <ns1:r>
              <ns1:rPr sz="2700" b="1">
                <ns1:solidFill>
                  <ns1:srgbClr val="20252D"/>
                </ns1:solidFill>
              </ns1:rPr>
              <ns1:t>Uncertainty shrinkage</ns1:t>
            </ns1:r>
          </ns1:p>
        </ns0:txBody>
      </ns0:sp>
      <ns3:AlternateContent>
        <ns3:Choice Requires="ns4">
          <ns0:sp>
            <ns0:nvSpPr>
              <ns0:cNvPr id="3" name="文本框 2">
                <ns1:extLst>
                  <ns1:ext uri="{FF2B5EF4-FFF2-40B4-BE49-F238E27FC236}">
                    <ns2:creationId id="{B5DFBF75-F09B-AE07-DCD5-8C79F368AAF9}"/>
                  </ns1:ext>
                </ns1:extLst>
              </ns0:cNvPr>
              <ns0:cNvSpPr txBox="1"/>
              <ns0:nvPr/>
            </ns0:nvSpPr>
            <ns0:spPr>
              <ns1:xfrm>
                <ns1:off x="3460855" y="2600000"/>
                <ns1:ext cx="5270289" cy="1765291"/>
              </ns1:xfrm>
              <ns1:prstGeom prst="rect">
                <ns1:avLst/>
              </ns1:prstGeom>
              <ns1:noFill/>
            </ns0:spPr>
            <ns0:txBody>
              <ns1:bodyPr wrap="none" lIns="0" tIns="0" rIns="0" bIns="0" rtlCol="0">
                <ns1:spAutoFit/>
              </ns1:bodyPr>
              <ns1:lstStyle/>
              <ns1:p>
                <ns4:m>
                  <ns5:oMathPara>
                    <ns5:oMath>
                      <ns5:sSub>
                        <ns5:sSubPr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sSubPr>
                        <ns5:e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𝒓</ns5:t>
                          </ns5:r>
                        </ns5:e>
                        <ns5:sub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𝒌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,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𝒊</ns5:t>
                          </ns5:r>
                        </ns5:sub>
                      </ns5:sSub>
                      <ns5:r>
                        <ns1:rPr kumimoji="1" lang="zh-CN" altLang="en-US" sz="5400" b="1" i="1" smtClean="0">
                          <ns1:latin typeface="Cambria Math" panose="02040503050406030204" pitchFamily="18" charset="0"/>
                        </ns1:rPr>
                        <ns5:t>=</ns5:t>
                      </ns5:r>
                      <ns5:f>
                        <ns5:fPr>
                          <ns5:ctrlP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</ns5:ctrlPr>
                        </ns5:fPr>
                        <ns5:num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𝟏</ns5:t>
                          </ns5:r>
                        </ns5:num>
                        <ns5:den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𝟏</ns5:t>
                          </ns5:r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+</ns5:t>
                          </ns5:r>
                          <ns5:sSub>
                            <ns5:sSubPr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sSubPr>
                            <ns5:e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𝒖</ns5:t>
                              </ns5:r>
                            </ns5:e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𝒌</ns5:t>
                              </ns5:r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,</ns5:t>
                              </ns5:r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𝒊</ns5:t>
                              </ns5:r>
                            </ns5:sub>
                          </ns5:sSub>
                          <ns5:r>
                            <ns1:rPr kumimoji="1" lang="zh-CN" altLang="en-US" sz="5400" b="1" i="1" smtClean="0">
                              <ns1:latin typeface="Cambria Math" panose="02040503050406030204" pitchFamily="18" charset="0"/>
                            </ns1:rPr>
                            <ns5:t>/</ns5:t>
                          </ns5:r>
                          <ns5:sSub>
                            <ns5:sSubPr>
                              <ns5:ctrlP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sSubPr>
                            <ns5:e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𝝉</ns5:t>
                              </ns5:r>
                            </ns5:e>
                            <ns5:sub>
                              <ns5:r>
                                <ns1:rPr kumimoji="1" lang="zh-CN" altLang="en-US" sz="5400" b="1" i="1" smtClean="0">
                                  <ns1:latin typeface="Cambria Math" panose="02040503050406030204" pitchFamily="18" charset="0"/>
                                </ns1:rPr>
                                <ns5:t>𝒊</ns5:t>
                              </ns5:r>
                            </ns5:sub>
                          </ns5:sSub>
                        </ns5:den>
                      </ns5:f>
                    </ns5:oMath>
                  </ns5:oMathPara>
                </ns4:m>
                <ns1:endParaRPr kumimoji="1" lang="zh-CN" altLang="en-US" sz="5400" b="1" dirty="0"/>
              </ns1:p>
            </ns0:txBody>
          </ns0:sp>
        </ns3:Choice>
        <ns3:Fallback>
          <ns0:sp>
            <ns0:nvSpPr>
              <ns0:cNvPr id="3" name="文本框 2">
                <ns1:extLst>
                  <ns1:ext uri="{FF2B5EF4-FFF2-40B4-BE49-F238E27FC236}">
                    <ns2:creationId id="{B5DFBF75-F09B-AE07-DCD5-8C79F368AAF9}"/>
                  </ns1:ext>
                </ns1:extLst>
              </ns0:cNvPr>
              <ns0:cNvSpPr txBox="1">
                <ns1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ns1:xfrm>
                <ns1:off x="5640572" y="2971800"/>
                <ns1:ext cx="5270289" cy="1765291"/>
              </ns1:xfrm>
              <ns1:prstGeom prst="rect">
                <ns1:avLst/>
              </ns1:prstGeom>
              <ns1:blipFill>
                <ns1:blip ns6:embed="rId3"/>
                <ns1:stretch>
                  <ns1:fillRect l="-1683" t="-2158" r="-962" b="-12950"/>
                </ns1:stretch>
              </ns1:blipFill>
            </ns0:spPr>
            <ns0:txBody>
              <ns1:bodyPr/>
              <ns1:lstStyle/>
              <ns1:p>
                <ns1:r>
                  <ns1:rPr lang="zh-CN" altLang="en-US">
                    <ns1:noFill/>
                  </ns1:rPr>
                  <ns1:t> </ns1:t>
                </ns1:r>
              </ns1:p>
            </ns0:txBody>
          </ns0:sp>
        </ns3:Fallback>
      </ns3:AlternateContent>
    </ns0:spTree>
    <ns0:extLst>
      <ns0:ext uri="{BB962C8B-B14F-4D97-AF65-F5344CB8AC3E}">
        <ns7:creationId val="307833879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markup-compatibility/2006" xmlns:ns4="http://schemas.microsoft.com/office/drawing/2010/main" xmlns:ns5="http://schemas.openxmlformats.org/officeDocument/2006/math" xmlns:ns6="http://schemas.openxmlformats.org/officeDocument/2006/relationships" xmlns:ns7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>
            <ns1:extLst>
              <ns1:ext uri="{FF2B5EF4-FFF2-40B4-BE49-F238E27FC236}">
                <ns2:creationId id="{999C9F58-FB93-4145-88A6-3E1D15C8ACE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81000"/>
            <ns1:ext cx="109537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700" b="1">
                <ns1:solidFill>
                  <ns1:srgbClr val="20252D"/>
                </ns1:solidFill>
              </ns1:defRPr>
            </ns1:defPPr>
          </ns1:lstStyle>
          <ns1:p>
            <ns1:pPr>
              <ns1:defRPr sz="2700" b="1">
                <ns1:solidFill>
                  <ns1:srgbClr val="20252D"/>
                </ns1:solidFill>
              </ns1:defRPr>
            </ns1:pPr>
            <ns1:r>
              <ns1:rPr sz="2700" b="1">
                <ns1:solidFill>
                  <ns1:srgbClr val="20252D"/>
                </ns1:solidFill>
              </ns1:rPr>
              <ns1:t>WT-reference component</ns1:t>
            </ns1:r>
          </ns1:p>
        </ns0:txBody>
      </ns0:sp>
      <ns3:AlternateContent>
        <ns3:Choice Requires="ns4">
          <ns0:sp>
            <ns0:nvSpPr>
              <ns0:cNvPr id="3" name="文本框 2">
                <ns1:extLst>
                  <ns1:ext uri="{FF2B5EF4-FFF2-40B4-BE49-F238E27FC236}">
                    <ns2:creationId id="{7C3CFE2D-2FC9-5D60-915D-2B20548833B7}"/>
                  </ns1:ext>
                </ns1:extLst>
              </ns0:cNvPr>
              <ns0:cNvSpPr txBox="1"/>
              <ns0:nvPr/>
            </ns0:nvSpPr>
            <ns0:spPr>
              <ns1:xfrm>
                <ns1:off x="1667833" y="2600000"/>
                <ns1:ext cx="8856334" cy="1437830"/>
              </ns1:xfrm>
              <ns1:prstGeom prst="rect">
                <ns1:avLst/>
              </ns1:prstGeom>
              <ns1:noFill/>
            </ns0:spPr>
            <ns0:txBody>
              <ns1:bodyPr wrap="none" lIns="0" tIns="0" rIns="0" bIns="0" rtlCol="0">
                <ns1:spAutoFit/>
              </ns1:bodyPr>
              <ns1:lstStyle/>
              <ns1:p>
                <ns4:m>
                  <ns5:oMathPara>
                    <ns5:oMath>
                      <ns5:sSub>
                        <ns5:sSubPr>
                          <ns5:ctrlP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</ns5:ctrlPr>
                        </ns5:sSubPr>
                        <ns5:e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𝑨</ns5:t>
                          </ns5:r>
                        </ns5:e>
                        <ns5:sub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𝒌</ns5:t>
                          </ns5:r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,</ns5:t>
                          </ns5:r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𝒊</ns5:t>
                          </ns5:r>
                        </ns5:sub>
                      </ns5:sSub>
                      <ns5:r>
                        <ns1:rPr kumimoji="1" lang="zh-CN" altLang="en-US" sz="4800" b="1" i="1" smtClean="0">
                          <ns1:latin typeface="Cambria Math" panose="02040503050406030204" pitchFamily="18" charset="0"/>
                        </ns1:rPr>
                        <ns5:t>=</ns5:t>
                      </ns5:r>
                      <ns5:f>
                        <ns5:fPr>
                          <ns5:ctrlP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</ns5:ctrlPr>
                        </ns5:fPr>
                        <ns5:num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𝟏</ns5:t>
                          </ns5:r>
                        </ns5:num>
                        <ns5:den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𝟐</ns5:t>
                          </ns5:r>
                        </ns5:den>
                      </ns5:f>
                      <ns5:r>
                        <ns1:rPr kumimoji="1" lang="zh-CN" altLang="en-US" sz="4800" b="1" i="1" smtClean="0">
                          <ns1:latin typeface="Cambria Math" panose="02040503050406030204" pitchFamily="18" charset="0"/>
                        </ns1:rPr>
                        <ns5:t>+</ns5:t>
                      </ns5:r>
                      <ns5:sSub>
                        <ns5:sSubPr>
                          <ns5:ctrlP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</ns5:ctrlPr>
                        </ns5:sSubPr>
                        <ns5:e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𝒓</ns5:t>
                          </ns5:r>
                        </ns5:e>
                        <ns5:sub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𝒌</ns5:t>
                          </ns5:r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,</ns5:t>
                          </ns5:r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𝒊</ns5:t>
                          </ns5:r>
                        </ns5:sub>
                      </ns5:sSub>
                      <ns5:d>
                        <ns5:dPr>
                          <ns5:ctrlP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</ns5:ctrlPr>
                        </ns5:dPr>
                        <ns5:e>
                          <ns5:f>
                            <ns5:fPr>
                              <ns5:ctrlP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fPr>
                            <ns5:num>
                              <ns5: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  <ns5:t>𝟏</ns5:t>
                              </ns5:r>
                            </ns5:num>
                            <ns5:den>
                              <ns5: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  <ns5:t>𝟏</ns5:t>
                              </ns5:r>
                              <ns5: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  <ns5:t>+</ns5:t>
                              </ns5:r>
                              <ns5:sSup>
                                <ns5:sSupPr>
                                  <ns5:ctrlPr>
                                    <ns1:rPr kumimoji="1" lang="zh-CN" altLang="en-US" sz="4800" b="1" i="1" smtClean="0">
                                      <ns1:latin typeface="Cambria Math" panose="02040503050406030204" pitchFamily="18" charset="0"/>
                                    </ns1:rPr>
                                  </ns5:ctrlPr>
                                </ns5:sSupPr>
                                <ns5:e>
                                  <ns5:r>
                                    <ns1:rPr kumimoji="1" lang="zh-CN" altLang="en-US" sz="4800" b="1" i="1" smtClean="0">
                                      <ns1:latin typeface="Cambria Math" panose="02040503050406030204" pitchFamily="18" charset="0"/>
                                    </ns1:rPr>
                                    <ns5:t>𝒆</ns5:t>
                                  </ns5:r>
                                </ns5:e>
                                <ns5:sup>
                                  <ns5:r>
                                    <ns1:rPr kumimoji="1" lang="zh-CN" altLang="en-US" sz="4800" b="1" i="1" smtClean="0">
                                      <ns1:latin typeface="Cambria Math" panose="02040503050406030204" pitchFamily="18" charset="0"/>
                                    </ns1:rPr>
                                    <ns5:t>−</ns5:t>
                                  </ns5:r>
                                  <ns5:sSub>
                                    <ns5:sSubPr>
                                      <ns5:ctrlP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</ns5:ctrlPr>
                                    </ns5:sSubPr>
                                    <ns5:e>
                                      <ns5: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  <ns5:t>𝒈</ns5:t>
                                      </ns5:r>
                                    </ns5:e>
                                    <ns5:sub>
                                      <ns5: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  <ns5:t>𝒌</ns5:t>
                                      </ns5:r>
                                      <ns5: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  <ns5:t>,</ns5:t>
                                      </ns5:r>
                                      <ns5: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  <ns5:t>𝒊</ns5:t>
                                      </ns5:r>
                                    </ns5:sub>
                                  </ns5:sSub>
                                  <ns5:r>
                                    <ns1:rPr kumimoji="1" lang="zh-CN" altLang="en-US" sz="4800" b="1" i="1" smtClean="0">
                                      <ns1:latin typeface="Cambria Math" panose="02040503050406030204" pitchFamily="18" charset="0"/>
                                    </ns1:rPr>
                                    <ns5:t>/</ns5:t>
                                  </ns5:r>
                                  <ns5:sSub>
                                    <ns5:sSubPr>
                                      <ns5:ctrlP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</ns5:ctrlPr>
                                    </ns5:sSubPr>
                                    <ns5:e>
                                      <ns5: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  <ns5:t>𝒔</ns5:t>
                                      </ns5:r>
                                    </ns5:e>
                                    <ns5:sub>
                                      <ns5:r>
                                        <ns1:rPr kumimoji="1" lang="zh-CN" altLang="en-US" sz="4800" b="1" i="1" smtClean="0">
                                          <ns1:latin typeface="Cambria Math" panose="02040503050406030204" pitchFamily="18" charset="0"/>
                                        </ns1:rPr>
                                        <ns5:t>𝒊</ns5:t>
                                      </ns5:r>
                                    </ns5:sub>
                                  </ns5:sSub>
                                </ns5:sup>
                              </ns5:sSup>
                            </ns5:den>
                          </ns5:f>
                          <ns5:r>
                            <ns1:rPr kumimoji="1" lang="zh-CN" altLang="en-US" sz="4800" b="1" i="1" smtClean="0">
                              <ns1:latin typeface="Cambria Math" panose="02040503050406030204" pitchFamily="18" charset="0"/>
                            </ns1:rPr>
                            <ns5:t>−</ns5:t>
                          </ns5:r>
                          <ns5:f>
                            <ns5:fPr>
                              <ns5:ctrlP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</ns5:ctrlPr>
                            </ns5:fPr>
                            <ns5:num>
                              <ns5: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  <ns5:t>𝟏</ns5:t>
                              </ns5:r>
                            </ns5:num>
                            <ns5:den>
                              <ns5:r>
                                <ns1:rPr kumimoji="1" lang="zh-CN" altLang="en-US" sz="4800" b="1" i="1" smtClean="0">
                                  <ns1:latin typeface="Cambria Math" panose="02040503050406030204" pitchFamily="18" charset="0"/>
                                </ns1:rPr>
                                <ns5:t>𝟐</ns5:t>
                              </ns5:r>
                            </ns5:den>
                          </ns5:f>
                        </ns5:e>
                      </ns5:d>
                    </ns5:oMath>
                  </ns5:oMathPara>
                </ns4:m>
                <ns1:endParaRPr kumimoji="1" lang="zh-CN" altLang="en-US" sz="4800" b="1" dirty="0"/>
              </ns1:p>
            </ns0:txBody>
          </ns0:sp>
        </ns3:Choice>
        <ns3:Fallback>
          <ns0:sp>
            <ns0:nvSpPr>
              <ns0:cNvPr id="3" name="文本框 2">
                <ns1:extLst>
                  <ns1:ext uri="{FF2B5EF4-FFF2-40B4-BE49-F238E27FC236}">
                    <ns2:creationId id="{7C3CFE2D-2FC9-5D60-915D-2B20548833B7}"/>
                  </ns1:ext>
                </ns1:extLst>
              </ns0:cNvPr>
              <ns0:cNvSpPr txBox="1">
                <ns1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ns1:xfrm>
                <ns1:off x="5640572" y="2971800"/>
                <ns1:ext cx="8856334" cy="1437830"/>
              </ns1:xfrm>
              <ns1:prstGeom prst="rect">
                <ns1:avLst/>
              </ns1:prstGeom>
              <ns1:blipFill>
                <ns1:blip ns6:embed="rId3"/>
                <ns1:stretch>
                  <ns1:fillRect l="-1146" t="-877" b="-12281"/>
                </ns1:stretch>
              </ns1:blipFill>
            </ns0:spPr>
            <ns0:txBody>
              <ns1:bodyPr/>
              <ns1:lstStyle/>
              <ns1:p>
                <ns1:r>
                  <ns1:rPr lang="zh-CN" altLang="en-US">
                    <ns1:noFill/>
                  </ns1:rPr>
                  <ns1:t> </ns1:t>
                </ns1:r>
              </ns1:p>
            </ns0:txBody>
          </ns0:sp>
        </ns3:Fallback>
      </ns3:AlternateContent>
    </ns0:spTree>
    <ns0:extLst>
      <ns0:ext uri="{BB962C8B-B14F-4D97-AF65-F5344CB8AC3E}">
        <ns7:creationId val="44842634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</Words>
  <Application>Microsoft Macintosh PowerPoint</Application>
  <DocSecurity>0</DocSecurity>
  <PresentationFormat>宽屏</PresentationFormat>
  <Paragraphs>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Aptos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玉章 李</cp:lastModifiedBy>
  <cp:revision>6</cp:revision>
  <dcterms:created xsi:type="dcterms:W3CDTF">2026-10-16T10:11:41Z</dcterms:created>
  <dcterms:modified xsi:type="dcterms:W3CDTF">2026-10-16T10:19:52Z</dcterms:modified>
</cp:coreProperties>
</file>